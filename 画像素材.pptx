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98" r:id="rId2"/>
    <p:sldId id="461" r:id="rId3"/>
    <p:sldId id="1181" r:id="rId4"/>
    <p:sldId id="401" r:id="rId5"/>
    <p:sldId id="359" r:id="rId6"/>
    <p:sldId id="361" r:id="rId7"/>
    <p:sldId id="366" r:id="rId8"/>
    <p:sldId id="371" r:id="rId9"/>
    <p:sldId id="372" r:id="rId10"/>
    <p:sldId id="337" r:id="rId11"/>
    <p:sldId id="373" r:id="rId12"/>
    <p:sldId id="375" r:id="rId13"/>
    <p:sldId id="340" r:id="rId14"/>
    <p:sldId id="376" r:id="rId15"/>
    <p:sldId id="378" r:id="rId16"/>
    <p:sldId id="384" r:id="rId17"/>
    <p:sldId id="387" r:id="rId18"/>
    <p:sldId id="382" r:id="rId19"/>
    <p:sldId id="389" r:id="rId20"/>
    <p:sldId id="392" r:id="rId21"/>
    <p:sldId id="394" r:id="rId22"/>
    <p:sldId id="404" r:id="rId23"/>
    <p:sldId id="390" r:id="rId24"/>
    <p:sldId id="402" r:id="rId25"/>
    <p:sldId id="377" r:id="rId26"/>
    <p:sldId id="380" r:id="rId27"/>
    <p:sldId id="403" r:id="rId28"/>
    <p:sldId id="1236" r:id="rId29"/>
    <p:sldId id="465" r:id="rId30"/>
    <p:sldId id="399" r:id="rId31"/>
    <p:sldId id="466" r:id="rId3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2A3129-BE50-4C02-ACA3-241ABDFA0B0C}" type="doc">
      <dgm:prSet loTypeId="urn:microsoft.com/office/officeart/2005/8/layout/hChevron3" loCatId="process" qsTypeId="urn:microsoft.com/office/officeart/2005/8/quickstyle/simple1" qsCatId="simple" csTypeId="urn:microsoft.com/office/officeart/2005/8/colors/colorful5" csCatId="colorful"/>
      <dgm:spPr/>
      <dgm:t>
        <a:bodyPr/>
        <a:lstStyle/>
        <a:p>
          <a:endParaRPr kumimoji="1" lang="ja-JP" altLang="en-US"/>
        </a:p>
      </dgm:t>
    </dgm:pt>
    <dgm:pt modelId="{EBBDCC13-3497-427A-9B65-D73C94A8691B}">
      <dgm:prSet/>
      <dgm:spPr/>
      <dgm:t>
        <a:bodyPr/>
        <a:lstStyle/>
        <a:p>
          <a:r>
            <a:rPr kumimoji="1" lang="ja-JP"/>
            <a:t>学習</a:t>
          </a:r>
          <a:endParaRPr lang="ja-JP"/>
        </a:p>
      </dgm:t>
    </dgm:pt>
    <dgm:pt modelId="{9A6B73F4-F738-4431-BF13-97906DDD5B7C}" type="parTrans" cxnId="{DE57CA70-FF38-42CF-A60A-B84DEA91AE30}">
      <dgm:prSet/>
      <dgm:spPr/>
      <dgm:t>
        <a:bodyPr/>
        <a:lstStyle/>
        <a:p>
          <a:endParaRPr kumimoji="1" lang="ja-JP" altLang="en-US"/>
        </a:p>
      </dgm:t>
    </dgm:pt>
    <dgm:pt modelId="{969B20AC-3320-4D67-A8BC-B17D1364FD54}" type="sibTrans" cxnId="{DE57CA70-FF38-42CF-A60A-B84DEA91AE30}">
      <dgm:prSet/>
      <dgm:spPr/>
      <dgm:t>
        <a:bodyPr/>
        <a:lstStyle/>
        <a:p>
          <a:endParaRPr kumimoji="1" lang="ja-JP" altLang="en-US"/>
        </a:p>
      </dgm:t>
    </dgm:pt>
    <dgm:pt modelId="{794846D3-1B3B-4C05-826B-A34404009A7A}">
      <dgm:prSet/>
      <dgm:spPr/>
      <dgm:t>
        <a:bodyPr/>
        <a:lstStyle/>
        <a:p>
          <a:r>
            <a:rPr kumimoji="1" lang="ja-JP" dirty="0"/>
            <a:t>分類</a:t>
          </a:r>
          <a:r>
            <a:rPr kumimoji="1" lang="en-US" dirty="0"/>
            <a:t>/</a:t>
          </a:r>
          <a:r>
            <a:rPr kumimoji="1" lang="ja-JP" dirty="0"/>
            <a:t>予測</a:t>
          </a:r>
          <a:endParaRPr lang="ja-JP" dirty="0"/>
        </a:p>
      </dgm:t>
    </dgm:pt>
    <dgm:pt modelId="{D77BCC7F-7DB9-4C6A-9AAE-106FC5BC3E0D}" type="parTrans" cxnId="{03766C05-7296-4B91-9047-30962DC75518}">
      <dgm:prSet/>
      <dgm:spPr/>
      <dgm:t>
        <a:bodyPr/>
        <a:lstStyle/>
        <a:p>
          <a:endParaRPr kumimoji="1" lang="ja-JP" altLang="en-US"/>
        </a:p>
      </dgm:t>
    </dgm:pt>
    <dgm:pt modelId="{8E1E47AF-9E8C-411E-B641-EDFB868FD7F0}" type="sibTrans" cxnId="{03766C05-7296-4B91-9047-30962DC75518}">
      <dgm:prSet/>
      <dgm:spPr/>
      <dgm:t>
        <a:bodyPr/>
        <a:lstStyle/>
        <a:p>
          <a:endParaRPr kumimoji="1" lang="ja-JP" altLang="en-US"/>
        </a:p>
      </dgm:t>
    </dgm:pt>
    <dgm:pt modelId="{A7140E7A-F7C5-445D-A63D-95E7EA4F2B2C}" type="pres">
      <dgm:prSet presAssocID="{D22A3129-BE50-4C02-ACA3-241ABDFA0B0C}" presName="Name0" presStyleCnt="0">
        <dgm:presLayoutVars>
          <dgm:dir/>
          <dgm:resizeHandles val="exact"/>
        </dgm:presLayoutVars>
      </dgm:prSet>
      <dgm:spPr/>
    </dgm:pt>
    <dgm:pt modelId="{8C543277-1F2B-476F-A36E-322E765317B8}" type="pres">
      <dgm:prSet presAssocID="{EBBDCC13-3497-427A-9B65-D73C94A8691B}" presName="parTxOnly" presStyleLbl="node1" presStyleIdx="0" presStyleCnt="2">
        <dgm:presLayoutVars>
          <dgm:bulletEnabled val="1"/>
        </dgm:presLayoutVars>
      </dgm:prSet>
      <dgm:spPr/>
    </dgm:pt>
    <dgm:pt modelId="{3C6A27BD-E5D1-4E5D-88A9-E58512A017B8}" type="pres">
      <dgm:prSet presAssocID="{969B20AC-3320-4D67-A8BC-B17D1364FD54}" presName="parSpace" presStyleCnt="0"/>
      <dgm:spPr/>
    </dgm:pt>
    <dgm:pt modelId="{D45D537F-AA06-49B5-B1E2-D1ECF653590D}" type="pres">
      <dgm:prSet presAssocID="{794846D3-1B3B-4C05-826B-A34404009A7A}" presName="parTxOnly" presStyleLbl="node1" presStyleIdx="1" presStyleCnt="2">
        <dgm:presLayoutVars>
          <dgm:bulletEnabled val="1"/>
        </dgm:presLayoutVars>
      </dgm:prSet>
      <dgm:spPr/>
    </dgm:pt>
  </dgm:ptLst>
  <dgm:cxnLst>
    <dgm:cxn modelId="{03766C05-7296-4B91-9047-30962DC75518}" srcId="{D22A3129-BE50-4C02-ACA3-241ABDFA0B0C}" destId="{794846D3-1B3B-4C05-826B-A34404009A7A}" srcOrd="1" destOrd="0" parTransId="{D77BCC7F-7DB9-4C6A-9AAE-106FC5BC3E0D}" sibTransId="{8E1E47AF-9E8C-411E-B641-EDFB868FD7F0}"/>
    <dgm:cxn modelId="{8B15AE2C-F0CD-40B0-A4BD-7901302C14BF}" type="presOf" srcId="{794846D3-1B3B-4C05-826B-A34404009A7A}" destId="{D45D537F-AA06-49B5-B1E2-D1ECF653590D}" srcOrd="0" destOrd="0" presId="urn:microsoft.com/office/officeart/2005/8/layout/hChevron3"/>
    <dgm:cxn modelId="{DE57CA70-FF38-42CF-A60A-B84DEA91AE30}" srcId="{D22A3129-BE50-4C02-ACA3-241ABDFA0B0C}" destId="{EBBDCC13-3497-427A-9B65-D73C94A8691B}" srcOrd="0" destOrd="0" parTransId="{9A6B73F4-F738-4431-BF13-97906DDD5B7C}" sibTransId="{969B20AC-3320-4D67-A8BC-B17D1364FD54}"/>
    <dgm:cxn modelId="{581FBC87-C241-4034-A4D2-500C5D344F99}" type="presOf" srcId="{D22A3129-BE50-4C02-ACA3-241ABDFA0B0C}" destId="{A7140E7A-F7C5-445D-A63D-95E7EA4F2B2C}" srcOrd="0" destOrd="0" presId="urn:microsoft.com/office/officeart/2005/8/layout/hChevron3"/>
    <dgm:cxn modelId="{1692229D-34F1-4269-8B6F-1E0FF7EC4BF6}" type="presOf" srcId="{EBBDCC13-3497-427A-9B65-D73C94A8691B}" destId="{8C543277-1F2B-476F-A36E-322E765317B8}" srcOrd="0" destOrd="0" presId="urn:microsoft.com/office/officeart/2005/8/layout/hChevron3"/>
    <dgm:cxn modelId="{DCE8C953-9804-4672-A0C3-129A9CE9C14E}" type="presParOf" srcId="{A7140E7A-F7C5-445D-A63D-95E7EA4F2B2C}" destId="{8C543277-1F2B-476F-A36E-322E765317B8}" srcOrd="0" destOrd="0" presId="urn:microsoft.com/office/officeart/2005/8/layout/hChevron3"/>
    <dgm:cxn modelId="{200ED11C-1429-47B0-9395-08D3917861AD}" type="presParOf" srcId="{A7140E7A-F7C5-445D-A63D-95E7EA4F2B2C}" destId="{3C6A27BD-E5D1-4E5D-88A9-E58512A017B8}" srcOrd="1" destOrd="0" presId="urn:microsoft.com/office/officeart/2005/8/layout/hChevron3"/>
    <dgm:cxn modelId="{B563C6A0-9E4B-4FC9-AFD1-1395D1769954}" type="presParOf" srcId="{A7140E7A-F7C5-445D-A63D-95E7EA4F2B2C}" destId="{D45D537F-AA06-49B5-B1E2-D1ECF653590D}" srcOrd="2"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2A3129-BE50-4C02-ACA3-241ABDFA0B0C}" type="doc">
      <dgm:prSet loTypeId="urn:microsoft.com/office/officeart/2005/8/layout/hChevron3" loCatId="process" qsTypeId="urn:microsoft.com/office/officeart/2005/8/quickstyle/simple1" qsCatId="simple" csTypeId="urn:microsoft.com/office/officeart/2005/8/colors/colorful5" csCatId="colorful"/>
      <dgm:spPr/>
      <dgm:t>
        <a:bodyPr/>
        <a:lstStyle/>
        <a:p>
          <a:endParaRPr kumimoji="1" lang="ja-JP" altLang="en-US"/>
        </a:p>
      </dgm:t>
    </dgm:pt>
    <dgm:pt modelId="{EBBDCC13-3497-427A-9B65-D73C94A8691B}">
      <dgm:prSet/>
      <dgm:spPr/>
      <dgm:t>
        <a:bodyPr/>
        <a:lstStyle/>
        <a:p>
          <a:r>
            <a:rPr kumimoji="1" lang="ja-JP"/>
            <a:t>学習</a:t>
          </a:r>
          <a:endParaRPr lang="ja-JP"/>
        </a:p>
      </dgm:t>
    </dgm:pt>
    <dgm:pt modelId="{9A6B73F4-F738-4431-BF13-97906DDD5B7C}" type="parTrans" cxnId="{DE57CA70-FF38-42CF-A60A-B84DEA91AE30}">
      <dgm:prSet/>
      <dgm:spPr/>
      <dgm:t>
        <a:bodyPr/>
        <a:lstStyle/>
        <a:p>
          <a:endParaRPr kumimoji="1" lang="ja-JP" altLang="en-US"/>
        </a:p>
      </dgm:t>
    </dgm:pt>
    <dgm:pt modelId="{969B20AC-3320-4D67-A8BC-B17D1364FD54}" type="sibTrans" cxnId="{DE57CA70-FF38-42CF-A60A-B84DEA91AE30}">
      <dgm:prSet/>
      <dgm:spPr/>
      <dgm:t>
        <a:bodyPr/>
        <a:lstStyle/>
        <a:p>
          <a:endParaRPr kumimoji="1" lang="ja-JP" altLang="en-US"/>
        </a:p>
      </dgm:t>
    </dgm:pt>
    <dgm:pt modelId="{794846D3-1B3B-4C05-826B-A34404009A7A}">
      <dgm:prSet/>
      <dgm:spPr/>
      <dgm:t>
        <a:bodyPr/>
        <a:lstStyle/>
        <a:p>
          <a:r>
            <a:rPr kumimoji="1" lang="ja-JP" dirty="0"/>
            <a:t>分類</a:t>
          </a:r>
          <a:r>
            <a:rPr kumimoji="1" lang="en-US" dirty="0"/>
            <a:t>/</a:t>
          </a:r>
          <a:r>
            <a:rPr kumimoji="1" lang="ja-JP" dirty="0"/>
            <a:t>予測</a:t>
          </a:r>
          <a:endParaRPr lang="ja-JP" dirty="0"/>
        </a:p>
      </dgm:t>
    </dgm:pt>
    <dgm:pt modelId="{D77BCC7F-7DB9-4C6A-9AAE-106FC5BC3E0D}" type="parTrans" cxnId="{03766C05-7296-4B91-9047-30962DC75518}">
      <dgm:prSet/>
      <dgm:spPr/>
      <dgm:t>
        <a:bodyPr/>
        <a:lstStyle/>
        <a:p>
          <a:endParaRPr kumimoji="1" lang="ja-JP" altLang="en-US"/>
        </a:p>
      </dgm:t>
    </dgm:pt>
    <dgm:pt modelId="{8E1E47AF-9E8C-411E-B641-EDFB868FD7F0}" type="sibTrans" cxnId="{03766C05-7296-4B91-9047-30962DC75518}">
      <dgm:prSet/>
      <dgm:spPr/>
      <dgm:t>
        <a:bodyPr/>
        <a:lstStyle/>
        <a:p>
          <a:endParaRPr kumimoji="1" lang="ja-JP" altLang="en-US"/>
        </a:p>
      </dgm:t>
    </dgm:pt>
    <dgm:pt modelId="{A7140E7A-F7C5-445D-A63D-95E7EA4F2B2C}" type="pres">
      <dgm:prSet presAssocID="{D22A3129-BE50-4C02-ACA3-241ABDFA0B0C}" presName="Name0" presStyleCnt="0">
        <dgm:presLayoutVars>
          <dgm:dir/>
          <dgm:resizeHandles val="exact"/>
        </dgm:presLayoutVars>
      </dgm:prSet>
      <dgm:spPr/>
    </dgm:pt>
    <dgm:pt modelId="{8C543277-1F2B-476F-A36E-322E765317B8}" type="pres">
      <dgm:prSet presAssocID="{EBBDCC13-3497-427A-9B65-D73C94A8691B}" presName="parTxOnly" presStyleLbl="node1" presStyleIdx="0" presStyleCnt="2">
        <dgm:presLayoutVars>
          <dgm:bulletEnabled val="1"/>
        </dgm:presLayoutVars>
      </dgm:prSet>
      <dgm:spPr/>
    </dgm:pt>
    <dgm:pt modelId="{3C6A27BD-E5D1-4E5D-88A9-E58512A017B8}" type="pres">
      <dgm:prSet presAssocID="{969B20AC-3320-4D67-A8BC-B17D1364FD54}" presName="parSpace" presStyleCnt="0"/>
      <dgm:spPr/>
    </dgm:pt>
    <dgm:pt modelId="{D45D537F-AA06-49B5-B1E2-D1ECF653590D}" type="pres">
      <dgm:prSet presAssocID="{794846D3-1B3B-4C05-826B-A34404009A7A}" presName="parTxOnly" presStyleLbl="node1" presStyleIdx="1" presStyleCnt="2">
        <dgm:presLayoutVars>
          <dgm:bulletEnabled val="1"/>
        </dgm:presLayoutVars>
      </dgm:prSet>
      <dgm:spPr/>
    </dgm:pt>
  </dgm:ptLst>
  <dgm:cxnLst>
    <dgm:cxn modelId="{03766C05-7296-4B91-9047-30962DC75518}" srcId="{D22A3129-BE50-4C02-ACA3-241ABDFA0B0C}" destId="{794846D3-1B3B-4C05-826B-A34404009A7A}" srcOrd="1" destOrd="0" parTransId="{D77BCC7F-7DB9-4C6A-9AAE-106FC5BC3E0D}" sibTransId="{8E1E47AF-9E8C-411E-B641-EDFB868FD7F0}"/>
    <dgm:cxn modelId="{8B15AE2C-F0CD-40B0-A4BD-7901302C14BF}" type="presOf" srcId="{794846D3-1B3B-4C05-826B-A34404009A7A}" destId="{D45D537F-AA06-49B5-B1E2-D1ECF653590D}" srcOrd="0" destOrd="0" presId="urn:microsoft.com/office/officeart/2005/8/layout/hChevron3"/>
    <dgm:cxn modelId="{DE57CA70-FF38-42CF-A60A-B84DEA91AE30}" srcId="{D22A3129-BE50-4C02-ACA3-241ABDFA0B0C}" destId="{EBBDCC13-3497-427A-9B65-D73C94A8691B}" srcOrd="0" destOrd="0" parTransId="{9A6B73F4-F738-4431-BF13-97906DDD5B7C}" sibTransId="{969B20AC-3320-4D67-A8BC-B17D1364FD54}"/>
    <dgm:cxn modelId="{581FBC87-C241-4034-A4D2-500C5D344F99}" type="presOf" srcId="{D22A3129-BE50-4C02-ACA3-241ABDFA0B0C}" destId="{A7140E7A-F7C5-445D-A63D-95E7EA4F2B2C}" srcOrd="0" destOrd="0" presId="urn:microsoft.com/office/officeart/2005/8/layout/hChevron3"/>
    <dgm:cxn modelId="{1692229D-34F1-4269-8B6F-1E0FF7EC4BF6}" type="presOf" srcId="{EBBDCC13-3497-427A-9B65-D73C94A8691B}" destId="{8C543277-1F2B-476F-A36E-322E765317B8}" srcOrd="0" destOrd="0" presId="urn:microsoft.com/office/officeart/2005/8/layout/hChevron3"/>
    <dgm:cxn modelId="{DCE8C953-9804-4672-A0C3-129A9CE9C14E}" type="presParOf" srcId="{A7140E7A-F7C5-445D-A63D-95E7EA4F2B2C}" destId="{8C543277-1F2B-476F-A36E-322E765317B8}" srcOrd="0" destOrd="0" presId="urn:microsoft.com/office/officeart/2005/8/layout/hChevron3"/>
    <dgm:cxn modelId="{200ED11C-1429-47B0-9395-08D3917861AD}" type="presParOf" srcId="{A7140E7A-F7C5-445D-A63D-95E7EA4F2B2C}" destId="{3C6A27BD-E5D1-4E5D-88A9-E58512A017B8}" srcOrd="1" destOrd="0" presId="urn:microsoft.com/office/officeart/2005/8/layout/hChevron3"/>
    <dgm:cxn modelId="{B563C6A0-9E4B-4FC9-AFD1-1395D1769954}" type="presParOf" srcId="{A7140E7A-F7C5-445D-A63D-95E7EA4F2B2C}" destId="{D45D537F-AA06-49B5-B1E2-D1ECF653590D}" srcOrd="2"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543277-1F2B-476F-A36E-322E765317B8}">
      <dsp:nvSpPr>
        <dsp:cNvPr id="0" name=""/>
        <dsp:cNvSpPr/>
      </dsp:nvSpPr>
      <dsp:spPr>
        <a:xfrm>
          <a:off x="3984" y="222983"/>
          <a:ext cx="2829110" cy="1131644"/>
        </a:xfrm>
        <a:prstGeom prst="homePlat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018" tIns="72009" rIns="36005" bIns="72009" numCol="1" spcCol="1270" anchor="ctr" anchorCtr="0">
          <a:noAutofit/>
        </a:bodyPr>
        <a:lstStyle/>
        <a:p>
          <a:pPr marL="0" lvl="0" indent="0" algn="ctr" defTabSz="1200150">
            <a:lnSpc>
              <a:spcPct val="90000"/>
            </a:lnSpc>
            <a:spcBef>
              <a:spcPct val="0"/>
            </a:spcBef>
            <a:spcAft>
              <a:spcPct val="35000"/>
            </a:spcAft>
            <a:buNone/>
          </a:pPr>
          <a:r>
            <a:rPr kumimoji="1" lang="ja-JP" sz="2700" kern="1200"/>
            <a:t>学習</a:t>
          </a:r>
          <a:endParaRPr lang="ja-JP" sz="2700" kern="1200"/>
        </a:p>
      </dsp:txBody>
      <dsp:txXfrm>
        <a:off x="3984" y="222983"/>
        <a:ext cx="2546199" cy="1131644"/>
      </dsp:txXfrm>
    </dsp:sp>
    <dsp:sp modelId="{D45D537F-AA06-49B5-B1E2-D1ECF653590D}">
      <dsp:nvSpPr>
        <dsp:cNvPr id="0" name=""/>
        <dsp:cNvSpPr/>
      </dsp:nvSpPr>
      <dsp:spPr>
        <a:xfrm>
          <a:off x="2267272" y="222983"/>
          <a:ext cx="2829110" cy="1131644"/>
        </a:xfrm>
        <a:prstGeom prst="chevron">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014" tIns="72009" rIns="36005" bIns="72009" numCol="1" spcCol="1270" anchor="ctr" anchorCtr="0">
          <a:noAutofit/>
        </a:bodyPr>
        <a:lstStyle/>
        <a:p>
          <a:pPr marL="0" lvl="0" indent="0" algn="ctr" defTabSz="1200150">
            <a:lnSpc>
              <a:spcPct val="90000"/>
            </a:lnSpc>
            <a:spcBef>
              <a:spcPct val="0"/>
            </a:spcBef>
            <a:spcAft>
              <a:spcPct val="35000"/>
            </a:spcAft>
            <a:buNone/>
          </a:pPr>
          <a:r>
            <a:rPr kumimoji="1" lang="ja-JP" sz="2700" kern="1200" dirty="0"/>
            <a:t>分類</a:t>
          </a:r>
          <a:r>
            <a:rPr kumimoji="1" lang="en-US" sz="2700" kern="1200" dirty="0"/>
            <a:t>/</a:t>
          </a:r>
          <a:r>
            <a:rPr kumimoji="1" lang="ja-JP" sz="2700" kern="1200" dirty="0"/>
            <a:t>予測</a:t>
          </a:r>
          <a:endParaRPr lang="ja-JP" sz="2700" kern="1200" dirty="0"/>
        </a:p>
      </dsp:txBody>
      <dsp:txXfrm>
        <a:off x="2833094" y="222983"/>
        <a:ext cx="1697466" cy="11316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543277-1F2B-476F-A36E-322E765317B8}">
      <dsp:nvSpPr>
        <dsp:cNvPr id="0" name=""/>
        <dsp:cNvSpPr/>
      </dsp:nvSpPr>
      <dsp:spPr>
        <a:xfrm>
          <a:off x="3984" y="222983"/>
          <a:ext cx="2829110" cy="1131644"/>
        </a:xfrm>
        <a:prstGeom prst="homePlat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018" tIns="72009" rIns="36005" bIns="72009" numCol="1" spcCol="1270" anchor="ctr" anchorCtr="0">
          <a:noAutofit/>
        </a:bodyPr>
        <a:lstStyle/>
        <a:p>
          <a:pPr marL="0" lvl="0" indent="0" algn="ctr" defTabSz="1200150">
            <a:lnSpc>
              <a:spcPct val="90000"/>
            </a:lnSpc>
            <a:spcBef>
              <a:spcPct val="0"/>
            </a:spcBef>
            <a:spcAft>
              <a:spcPct val="35000"/>
            </a:spcAft>
            <a:buNone/>
          </a:pPr>
          <a:r>
            <a:rPr kumimoji="1" lang="ja-JP" sz="2700" kern="1200"/>
            <a:t>学習</a:t>
          </a:r>
          <a:endParaRPr lang="ja-JP" sz="2700" kern="1200"/>
        </a:p>
      </dsp:txBody>
      <dsp:txXfrm>
        <a:off x="3984" y="222983"/>
        <a:ext cx="2546199" cy="1131644"/>
      </dsp:txXfrm>
    </dsp:sp>
    <dsp:sp modelId="{D45D537F-AA06-49B5-B1E2-D1ECF653590D}">
      <dsp:nvSpPr>
        <dsp:cNvPr id="0" name=""/>
        <dsp:cNvSpPr/>
      </dsp:nvSpPr>
      <dsp:spPr>
        <a:xfrm>
          <a:off x="2267272" y="222983"/>
          <a:ext cx="2829110" cy="1131644"/>
        </a:xfrm>
        <a:prstGeom prst="chevron">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014" tIns="72009" rIns="36005" bIns="72009" numCol="1" spcCol="1270" anchor="ctr" anchorCtr="0">
          <a:noAutofit/>
        </a:bodyPr>
        <a:lstStyle/>
        <a:p>
          <a:pPr marL="0" lvl="0" indent="0" algn="ctr" defTabSz="1200150">
            <a:lnSpc>
              <a:spcPct val="90000"/>
            </a:lnSpc>
            <a:spcBef>
              <a:spcPct val="0"/>
            </a:spcBef>
            <a:spcAft>
              <a:spcPct val="35000"/>
            </a:spcAft>
            <a:buNone/>
          </a:pPr>
          <a:r>
            <a:rPr kumimoji="1" lang="ja-JP" sz="2700" kern="1200" dirty="0"/>
            <a:t>分類</a:t>
          </a:r>
          <a:r>
            <a:rPr kumimoji="1" lang="en-US" sz="2700" kern="1200" dirty="0"/>
            <a:t>/</a:t>
          </a:r>
          <a:r>
            <a:rPr kumimoji="1" lang="ja-JP" sz="2700" kern="1200" dirty="0"/>
            <a:t>予測</a:t>
          </a:r>
          <a:endParaRPr lang="ja-JP" sz="2700" kern="1200" dirty="0"/>
        </a:p>
      </dsp:txBody>
      <dsp:txXfrm>
        <a:off x="2833094" y="222983"/>
        <a:ext cx="1697466" cy="1131644"/>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ECEF14-D784-DF4A-5662-1BF427F06B10}"/>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A8CDD2F-5A48-A2C0-2DDF-E2ACBFC694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66C158B1-8DF4-15CE-5DE6-7955727C231A}"/>
              </a:ext>
            </a:extLst>
          </p:cNvPr>
          <p:cNvSpPr>
            <a:spLocks noGrp="1"/>
          </p:cNvSpPr>
          <p:nvPr>
            <p:ph type="dt" sz="half" idx="10"/>
          </p:nvPr>
        </p:nvSpPr>
        <p:spPr/>
        <p:txBody>
          <a:bodyPr/>
          <a:lstStyle/>
          <a:p>
            <a:fld id="{2B8AF090-3FFE-4B1D-9627-87CE59E7EC1F}" type="datetimeFigureOut">
              <a:rPr kumimoji="1" lang="ja-JP" altLang="en-US" smtClean="0"/>
              <a:t>2026/10/6</a:t>
            </a:fld>
            <a:endParaRPr kumimoji="1" lang="ja-JP" altLang="en-US"/>
          </a:p>
        </p:txBody>
      </p:sp>
      <p:sp>
        <p:nvSpPr>
          <p:cNvPr id="5" name="フッター プレースホルダー 4">
            <a:extLst>
              <a:ext uri="{FF2B5EF4-FFF2-40B4-BE49-F238E27FC236}">
                <a16:creationId xmlns:a16="http://schemas.microsoft.com/office/drawing/2014/main" id="{282665F0-B901-FC48-A4AA-61B54B1CE9C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F0F6DA3-FBCC-63FB-5EC2-AB6B7D66EBD1}"/>
              </a:ext>
            </a:extLst>
          </p:cNvPr>
          <p:cNvSpPr>
            <a:spLocks noGrp="1"/>
          </p:cNvSpPr>
          <p:nvPr>
            <p:ph type="sldNum" sz="quarter" idx="12"/>
          </p:nvPr>
        </p:nvSpPr>
        <p:spPr/>
        <p:txBody>
          <a:bodyPr/>
          <a:lstStyle/>
          <a:p>
            <a:fld id="{DC73EBDF-8EB8-4A64-B520-40D21BF3DD3C}" type="slidenum">
              <a:rPr kumimoji="1" lang="ja-JP" altLang="en-US" smtClean="0"/>
              <a:t>‹#›</a:t>
            </a:fld>
            <a:endParaRPr kumimoji="1" lang="ja-JP" altLang="en-US"/>
          </a:p>
        </p:txBody>
      </p:sp>
    </p:spTree>
    <p:extLst>
      <p:ext uri="{BB962C8B-B14F-4D97-AF65-F5344CB8AC3E}">
        <p14:creationId xmlns:p14="http://schemas.microsoft.com/office/powerpoint/2010/main" val="2860676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EC34B0-B01E-964C-249D-E4F3FC20C1C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E5A727D-1BE2-E172-7705-A3CDDB0EABB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D6564E8-E1E4-10F6-B567-712EBE531D97}"/>
              </a:ext>
            </a:extLst>
          </p:cNvPr>
          <p:cNvSpPr>
            <a:spLocks noGrp="1"/>
          </p:cNvSpPr>
          <p:nvPr>
            <p:ph type="dt" sz="half" idx="10"/>
          </p:nvPr>
        </p:nvSpPr>
        <p:spPr/>
        <p:txBody>
          <a:bodyPr/>
          <a:lstStyle/>
          <a:p>
            <a:fld id="{2B8AF090-3FFE-4B1D-9627-87CE59E7EC1F}" type="datetimeFigureOut">
              <a:rPr kumimoji="1" lang="ja-JP" altLang="en-US" smtClean="0"/>
              <a:t>2026/10/6</a:t>
            </a:fld>
            <a:endParaRPr kumimoji="1" lang="ja-JP" altLang="en-US"/>
          </a:p>
        </p:txBody>
      </p:sp>
      <p:sp>
        <p:nvSpPr>
          <p:cNvPr id="5" name="フッター プレースホルダー 4">
            <a:extLst>
              <a:ext uri="{FF2B5EF4-FFF2-40B4-BE49-F238E27FC236}">
                <a16:creationId xmlns:a16="http://schemas.microsoft.com/office/drawing/2014/main" id="{4A5128B5-D713-1376-B241-A102469B5E1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CA5597A-54FD-64EB-6FDC-0E7BD8C7805E}"/>
              </a:ext>
            </a:extLst>
          </p:cNvPr>
          <p:cNvSpPr>
            <a:spLocks noGrp="1"/>
          </p:cNvSpPr>
          <p:nvPr>
            <p:ph type="sldNum" sz="quarter" idx="12"/>
          </p:nvPr>
        </p:nvSpPr>
        <p:spPr/>
        <p:txBody>
          <a:bodyPr/>
          <a:lstStyle/>
          <a:p>
            <a:fld id="{DC73EBDF-8EB8-4A64-B520-40D21BF3DD3C}" type="slidenum">
              <a:rPr kumimoji="1" lang="ja-JP" altLang="en-US" smtClean="0"/>
              <a:t>‹#›</a:t>
            </a:fld>
            <a:endParaRPr kumimoji="1" lang="ja-JP" altLang="en-US"/>
          </a:p>
        </p:txBody>
      </p:sp>
    </p:spTree>
    <p:extLst>
      <p:ext uri="{BB962C8B-B14F-4D97-AF65-F5344CB8AC3E}">
        <p14:creationId xmlns:p14="http://schemas.microsoft.com/office/powerpoint/2010/main" val="411400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5A9D14-9791-3059-28E0-5AD29BBF3F0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5759E19-31DF-DC2C-FFF8-891163C0F85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376C76C3-3264-842E-7429-E1584D017CC5}"/>
              </a:ext>
            </a:extLst>
          </p:cNvPr>
          <p:cNvSpPr>
            <a:spLocks noGrp="1"/>
          </p:cNvSpPr>
          <p:nvPr>
            <p:ph type="dt" sz="half" idx="10"/>
          </p:nvPr>
        </p:nvSpPr>
        <p:spPr/>
        <p:txBody>
          <a:bodyPr/>
          <a:lstStyle/>
          <a:p>
            <a:fld id="{2B8AF090-3FFE-4B1D-9627-87CE59E7EC1F}" type="datetimeFigureOut">
              <a:rPr kumimoji="1" lang="ja-JP" altLang="en-US" smtClean="0"/>
              <a:t>2026/10/6</a:t>
            </a:fld>
            <a:endParaRPr kumimoji="1" lang="ja-JP" altLang="en-US"/>
          </a:p>
        </p:txBody>
      </p:sp>
      <p:sp>
        <p:nvSpPr>
          <p:cNvPr id="5" name="フッター プレースホルダー 4">
            <a:extLst>
              <a:ext uri="{FF2B5EF4-FFF2-40B4-BE49-F238E27FC236}">
                <a16:creationId xmlns:a16="http://schemas.microsoft.com/office/drawing/2014/main" id="{0F586F59-6EC5-1BD6-385F-BC38F0EC5C0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35D704B-17F1-B213-9AB9-DCA9C6407714}"/>
              </a:ext>
            </a:extLst>
          </p:cNvPr>
          <p:cNvSpPr>
            <a:spLocks noGrp="1"/>
          </p:cNvSpPr>
          <p:nvPr>
            <p:ph type="sldNum" sz="quarter" idx="12"/>
          </p:nvPr>
        </p:nvSpPr>
        <p:spPr/>
        <p:txBody>
          <a:bodyPr/>
          <a:lstStyle/>
          <a:p>
            <a:fld id="{DC73EBDF-8EB8-4A64-B520-40D21BF3DD3C}" type="slidenum">
              <a:rPr kumimoji="1" lang="ja-JP" altLang="en-US" smtClean="0"/>
              <a:t>‹#›</a:t>
            </a:fld>
            <a:endParaRPr kumimoji="1" lang="ja-JP" altLang="en-US"/>
          </a:p>
        </p:txBody>
      </p:sp>
    </p:spTree>
    <p:extLst>
      <p:ext uri="{BB962C8B-B14F-4D97-AF65-F5344CB8AC3E}">
        <p14:creationId xmlns:p14="http://schemas.microsoft.com/office/powerpoint/2010/main" val="4135179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02F615-0178-BCB8-2E39-0A980856F7B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EDCDC02-F96F-051C-D37E-3049505351C2}"/>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AE81E661-55FF-F451-3C6E-8B802194723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723FDDD8-CD69-C0B9-B2DB-F7DDD7F43FB9}"/>
              </a:ext>
            </a:extLst>
          </p:cNvPr>
          <p:cNvSpPr>
            <a:spLocks noGrp="1"/>
          </p:cNvSpPr>
          <p:nvPr>
            <p:ph type="dt" sz="half" idx="10"/>
          </p:nvPr>
        </p:nvSpPr>
        <p:spPr/>
        <p:txBody>
          <a:bodyPr/>
          <a:lstStyle/>
          <a:p>
            <a:fld id="{2B8AF090-3FFE-4B1D-9627-87CE59E7EC1F}" type="datetimeFigureOut">
              <a:rPr kumimoji="1" lang="ja-JP" altLang="en-US" smtClean="0"/>
              <a:t>2026/10/6</a:t>
            </a:fld>
            <a:endParaRPr kumimoji="1" lang="ja-JP" altLang="en-US"/>
          </a:p>
        </p:txBody>
      </p:sp>
      <p:sp>
        <p:nvSpPr>
          <p:cNvPr id="6" name="フッター プレースホルダー 5">
            <a:extLst>
              <a:ext uri="{FF2B5EF4-FFF2-40B4-BE49-F238E27FC236}">
                <a16:creationId xmlns:a16="http://schemas.microsoft.com/office/drawing/2014/main" id="{134763ED-C581-FDF9-806B-B76A2AE1FB9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903143B-1374-9D4E-38E2-1E5E73EB3CC1}"/>
              </a:ext>
            </a:extLst>
          </p:cNvPr>
          <p:cNvSpPr>
            <a:spLocks noGrp="1"/>
          </p:cNvSpPr>
          <p:nvPr>
            <p:ph type="sldNum" sz="quarter" idx="12"/>
          </p:nvPr>
        </p:nvSpPr>
        <p:spPr/>
        <p:txBody>
          <a:bodyPr/>
          <a:lstStyle/>
          <a:p>
            <a:fld id="{DC73EBDF-8EB8-4A64-B520-40D21BF3DD3C}" type="slidenum">
              <a:rPr kumimoji="1" lang="ja-JP" altLang="en-US" smtClean="0"/>
              <a:t>‹#›</a:t>
            </a:fld>
            <a:endParaRPr kumimoji="1" lang="ja-JP" altLang="en-US"/>
          </a:p>
        </p:txBody>
      </p:sp>
    </p:spTree>
    <p:extLst>
      <p:ext uri="{BB962C8B-B14F-4D97-AF65-F5344CB8AC3E}">
        <p14:creationId xmlns:p14="http://schemas.microsoft.com/office/powerpoint/2010/main" val="1810665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1F9B27-5881-F010-35CF-57F57737C99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A92857B-9F3C-E330-9C8E-D8B116B396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2B3F7B7-B48C-641F-703B-B91D1B26EAC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3FEAA2B-C4B7-49CF-2958-320EF00BCC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733CE4C-7009-570F-B147-521634D6825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E329412-DD43-BB74-91AC-9675D131FA4A}"/>
              </a:ext>
            </a:extLst>
          </p:cNvPr>
          <p:cNvSpPr>
            <a:spLocks noGrp="1"/>
          </p:cNvSpPr>
          <p:nvPr>
            <p:ph type="dt" sz="half" idx="10"/>
          </p:nvPr>
        </p:nvSpPr>
        <p:spPr/>
        <p:txBody>
          <a:bodyPr/>
          <a:lstStyle/>
          <a:p>
            <a:fld id="{2B8AF090-3FFE-4B1D-9627-87CE59E7EC1F}" type="datetimeFigureOut">
              <a:rPr kumimoji="1" lang="ja-JP" altLang="en-US" smtClean="0"/>
              <a:t>2026/10/6</a:t>
            </a:fld>
            <a:endParaRPr kumimoji="1" lang="ja-JP" altLang="en-US"/>
          </a:p>
        </p:txBody>
      </p:sp>
      <p:sp>
        <p:nvSpPr>
          <p:cNvPr id="8" name="フッター プレースホルダー 7">
            <a:extLst>
              <a:ext uri="{FF2B5EF4-FFF2-40B4-BE49-F238E27FC236}">
                <a16:creationId xmlns:a16="http://schemas.microsoft.com/office/drawing/2014/main" id="{8CA0EEDE-E5CD-6D7D-685D-2895F104C48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F2DA2D6C-9D3B-46B7-DB33-CCBD724A95DB}"/>
              </a:ext>
            </a:extLst>
          </p:cNvPr>
          <p:cNvSpPr>
            <a:spLocks noGrp="1"/>
          </p:cNvSpPr>
          <p:nvPr>
            <p:ph type="sldNum" sz="quarter" idx="12"/>
          </p:nvPr>
        </p:nvSpPr>
        <p:spPr/>
        <p:txBody>
          <a:bodyPr/>
          <a:lstStyle/>
          <a:p>
            <a:fld id="{DC73EBDF-8EB8-4A64-B520-40D21BF3DD3C}" type="slidenum">
              <a:rPr kumimoji="1" lang="ja-JP" altLang="en-US" smtClean="0"/>
              <a:t>‹#›</a:t>
            </a:fld>
            <a:endParaRPr kumimoji="1" lang="ja-JP" altLang="en-US"/>
          </a:p>
        </p:txBody>
      </p:sp>
    </p:spTree>
    <p:extLst>
      <p:ext uri="{BB962C8B-B14F-4D97-AF65-F5344CB8AC3E}">
        <p14:creationId xmlns:p14="http://schemas.microsoft.com/office/powerpoint/2010/main" val="160715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E7234E-D253-484F-538C-65A5CE5EB620}"/>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238B774-B0C9-615A-6D39-9A3046460531}"/>
              </a:ext>
            </a:extLst>
          </p:cNvPr>
          <p:cNvSpPr>
            <a:spLocks noGrp="1"/>
          </p:cNvSpPr>
          <p:nvPr>
            <p:ph type="dt" sz="half" idx="10"/>
          </p:nvPr>
        </p:nvSpPr>
        <p:spPr/>
        <p:txBody>
          <a:bodyPr/>
          <a:lstStyle/>
          <a:p>
            <a:fld id="{2B8AF090-3FFE-4B1D-9627-87CE59E7EC1F}" type="datetimeFigureOut">
              <a:rPr kumimoji="1" lang="ja-JP" altLang="en-US" smtClean="0"/>
              <a:t>2026/10/6</a:t>
            </a:fld>
            <a:endParaRPr kumimoji="1" lang="ja-JP" altLang="en-US"/>
          </a:p>
        </p:txBody>
      </p:sp>
      <p:sp>
        <p:nvSpPr>
          <p:cNvPr id="4" name="フッター プレースホルダー 3">
            <a:extLst>
              <a:ext uri="{FF2B5EF4-FFF2-40B4-BE49-F238E27FC236}">
                <a16:creationId xmlns:a16="http://schemas.microsoft.com/office/drawing/2014/main" id="{3F68E57B-6FA2-2E16-4213-F13F7DB6D547}"/>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7EC21ABB-B1C0-CD96-546A-D6BA392894DD}"/>
              </a:ext>
            </a:extLst>
          </p:cNvPr>
          <p:cNvSpPr>
            <a:spLocks noGrp="1"/>
          </p:cNvSpPr>
          <p:nvPr>
            <p:ph type="sldNum" sz="quarter" idx="12"/>
          </p:nvPr>
        </p:nvSpPr>
        <p:spPr/>
        <p:txBody>
          <a:bodyPr/>
          <a:lstStyle/>
          <a:p>
            <a:fld id="{DC73EBDF-8EB8-4A64-B520-40D21BF3DD3C}" type="slidenum">
              <a:rPr kumimoji="1" lang="ja-JP" altLang="en-US" smtClean="0"/>
              <a:t>‹#›</a:t>
            </a:fld>
            <a:endParaRPr kumimoji="1" lang="ja-JP" altLang="en-US"/>
          </a:p>
        </p:txBody>
      </p:sp>
    </p:spTree>
    <p:extLst>
      <p:ext uri="{BB962C8B-B14F-4D97-AF65-F5344CB8AC3E}">
        <p14:creationId xmlns:p14="http://schemas.microsoft.com/office/powerpoint/2010/main" val="1694414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CC8DD998-1BE3-97A4-326D-DE21E99CD230}"/>
              </a:ext>
            </a:extLst>
          </p:cNvPr>
          <p:cNvSpPr>
            <a:spLocks noGrp="1"/>
          </p:cNvSpPr>
          <p:nvPr>
            <p:ph type="dt" sz="half" idx="10"/>
          </p:nvPr>
        </p:nvSpPr>
        <p:spPr/>
        <p:txBody>
          <a:bodyPr/>
          <a:lstStyle/>
          <a:p>
            <a:fld id="{2B8AF090-3FFE-4B1D-9627-87CE59E7EC1F}" type="datetimeFigureOut">
              <a:rPr kumimoji="1" lang="ja-JP" altLang="en-US" smtClean="0"/>
              <a:t>2026/10/6</a:t>
            </a:fld>
            <a:endParaRPr kumimoji="1" lang="ja-JP" altLang="en-US"/>
          </a:p>
        </p:txBody>
      </p:sp>
      <p:sp>
        <p:nvSpPr>
          <p:cNvPr id="3" name="フッター プレースホルダー 2">
            <a:extLst>
              <a:ext uri="{FF2B5EF4-FFF2-40B4-BE49-F238E27FC236}">
                <a16:creationId xmlns:a16="http://schemas.microsoft.com/office/drawing/2014/main" id="{E967E2BF-ECE0-7573-B78E-839DEC4016F0}"/>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B88A179-A3FA-A12C-C87A-3D75E24486FD}"/>
              </a:ext>
            </a:extLst>
          </p:cNvPr>
          <p:cNvSpPr>
            <a:spLocks noGrp="1"/>
          </p:cNvSpPr>
          <p:nvPr>
            <p:ph type="sldNum" sz="quarter" idx="12"/>
          </p:nvPr>
        </p:nvSpPr>
        <p:spPr/>
        <p:txBody>
          <a:bodyPr/>
          <a:lstStyle/>
          <a:p>
            <a:fld id="{DC73EBDF-8EB8-4A64-B520-40D21BF3DD3C}" type="slidenum">
              <a:rPr kumimoji="1" lang="ja-JP" altLang="en-US" smtClean="0"/>
              <a:t>‹#›</a:t>
            </a:fld>
            <a:endParaRPr kumimoji="1" lang="ja-JP" altLang="en-US"/>
          </a:p>
        </p:txBody>
      </p:sp>
    </p:spTree>
    <p:extLst>
      <p:ext uri="{BB962C8B-B14F-4D97-AF65-F5344CB8AC3E}">
        <p14:creationId xmlns:p14="http://schemas.microsoft.com/office/powerpoint/2010/main" val="104848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16C20-7430-3A4A-778D-138DCFD4FC0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FD27EE1-52CB-433F-3D47-5341DDB72B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B1CA4C5-074A-B726-3514-DA28F02C3A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0DF3DCE-3FB4-2032-3C00-3FC84F20E4C8}"/>
              </a:ext>
            </a:extLst>
          </p:cNvPr>
          <p:cNvSpPr>
            <a:spLocks noGrp="1"/>
          </p:cNvSpPr>
          <p:nvPr>
            <p:ph type="dt" sz="half" idx="10"/>
          </p:nvPr>
        </p:nvSpPr>
        <p:spPr/>
        <p:txBody>
          <a:bodyPr/>
          <a:lstStyle/>
          <a:p>
            <a:fld id="{2B8AF090-3FFE-4B1D-9627-87CE59E7EC1F}" type="datetimeFigureOut">
              <a:rPr kumimoji="1" lang="ja-JP" altLang="en-US" smtClean="0"/>
              <a:t>2026/10/6</a:t>
            </a:fld>
            <a:endParaRPr kumimoji="1" lang="ja-JP" altLang="en-US"/>
          </a:p>
        </p:txBody>
      </p:sp>
      <p:sp>
        <p:nvSpPr>
          <p:cNvPr id="6" name="フッター プレースホルダー 5">
            <a:extLst>
              <a:ext uri="{FF2B5EF4-FFF2-40B4-BE49-F238E27FC236}">
                <a16:creationId xmlns:a16="http://schemas.microsoft.com/office/drawing/2014/main" id="{5BDE4221-62B5-6824-74CC-DB05D6D9050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8B4B4DF-BD97-E9EA-A0F2-A8953CAC5621}"/>
              </a:ext>
            </a:extLst>
          </p:cNvPr>
          <p:cNvSpPr>
            <a:spLocks noGrp="1"/>
          </p:cNvSpPr>
          <p:nvPr>
            <p:ph type="sldNum" sz="quarter" idx="12"/>
          </p:nvPr>
        </p:nvSpPr>
        <p:spPr/>
        <p:txBody>
          <a:bodyPr/>
          <a:lstStyle/>
          <a:p>
            <a:fld id="{DC73EBDF-8EB8-4A64-B520-40D21BF3DD3C}" type="slidenum">
              <a:rPr kumimoji="1" lang="ja-JP" altLang="en-US" smtClean="0"/>
              <a:t>‹#›</a:t>
            </a:fld>
            <a:endParaRPr kumimoji="1" lang="ja-JP" altLang="en-US"/>
          </a:p>
        </p:txBody>
      </p:sp>
    </p:spTree>
    <p:extLst>
      <p:ext uri="{BB962C8B-B14F-4D97-AF65-F5344CB8AC3E}">
        <p14:creationId xmlns:p14="http://schemas.microsoft.com/office/powerpoint/2010/main" val="64974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A6E33D-A00C-273D-8424-C3F08C59AA6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5770AE6-EED1-271B-6174-896F8DD2E81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2234D32-6455-C355-7E78-550D5EB8BF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225F81C-2B2C-B683-0B3A-FF3AED84BA5D}"/>
              </a:ext>
            </a:extLst>
          </p:cNvPr>
          <p:cNvSpPr>
            <a:spLocks noGrp="1"/>
          </p:cNvSpPr>
          <p:nvPr>
            <p:ph type="dt" sz="half" idx="10"/>
          </p:nvPr>
        </p:nvSpPr>
        <p:spPr/>
        <p:txBody>
          <a:bodyPr/>
          <a:lstStyle/>
          <a:p>
            <a:fld id="{2B8AF090-3FFE-4B1D-9627-87CE59E7EC1F}" type="datetimeFigureOut">
              <a:rPr kumimoji="1" lang="ja-JP" altLang="en-US" smtClean="0"/>
              <a:t>2026/10/6</a:t>
            </a:fld>
            <a:endParaRPr kumimoji="1" lang="ja-JP" altLang="en-US"/>
          </a:p>
        </p:txBody>
      </p:sp>
      <p:sp>
        <p:nvSpPr>
          <p:cNvPr id="6" name="フッター プレースホルダー 5">
            <a:extLst>
              <a:ext uri="{FF2B5EF4-FFF2-40B4-BE49-F238E27FC236}">
                <a16:creationId xmlns:a16="http://schemas.microsoft.com/office/drawing/2014/main" id="{391705CA-C996-5500-CC41-815E2FD6869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21DD446-64FE-A1CC-2938-A0E7ED9B85C6}"/>
              </a:ext>
            </a:extLst>
          </p:cNvPr>
          <p:cNvSpPr>
            <a:spLocks noGrp="1"/>
          </p:cNvSpPr>
          <p:nvPr>
            <p:ph type="sldNum" sz="quarter" idx="12"/>
          </p:nvPr>
        </p:nvSpPr>
        <p:spPr/>
        <p:txBody>
          <a:bodyPr/>
          <a:lstStyle/>
          <a:p>
            <a:fld id="{DC73EBDF-8EB8-4A64-B520-40D21BF3DD3C}" type="slidenum">
              <a:rPr kumimoji="1" lang="ja-JP" altLang="en-US" smtClean="0"/>
              <a:t>‹#›</a:t>
            </a:fld>
            <a:endParaRPr kumimoji="1" lang="ja-JP" altLang="en-US"/>
          </a:p>
        </p:txBody>
      </p:sp>
    </p:spTree>
    <p:extLst>
      <p:ext uri="{BB962C8B-B14F-4D97-AF65-F5344CB8AC3E}">
        <p14:creationId xmlns:p14="http://schemas.microsoft.com/office/powerpoint/2010/main" val="2964732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CF17AD-2825-F223-782B-BE45E3F7B92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6B32E56-D2E7-9A52-D351-61B17CDCEA1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D070650-30E9-5FE6-D741-0CFAE1031469}"/>
              </a:ext>
            </a:extLst>
          </p:cNvPr>
          <p:cNvSpPr>
            <a:spLocks noGrp="1"/>
          </p:cNvSpPr>
          <p:nvPr>
            <p:ph type="dt" sz="half" idx="10"/>
          </p:nvPr>
        </p:nvSpPr>
        <p:spPr/>
        <p:txBody>
          <a:bodyPr/>
          <a:lstStyle/>
          <a:p>
            <a:fld id="{2B8AF090-3FFE-4B1D-9627-87CE59E7EC1F}" type="datetimeFigureOut">
              <a:rPr kumimoji="1" lang="ja-JP" altLang="en-US" smtClean="0"/>
              <a:t>2026/10/6</a:t>
            </a:fld>
            <a:endParaRPr kumimoji="1" lang="ja-JP" altLang="en-US"/>
          </a:p>
        </p:txBody>
      </p:sp>
      <p:sp>
        <p:nvSpPr>
          <p:cNvPr id="5" name="フッター プレースホルダー 4">
            <a:extLst>
              <a:ext uri="{FF2B5EF4-FFF2-40B4-BE49-F238E27FC236}">
                <a16:creationId xmlns:a16="http://schemas.microsoft.com/office/drawing/2014/main" id="{064089C6-834B-032C-C702-6E96DE56547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C9EF66A-703D-4554-22D1-17466FCA9897}"/>
              </a:ext>
            </a:extLst>
          </p:cNvPr>
          <p:cNvSpPr>
            <a:spLocks noGrp="1"/>
          </p:cNvSpPr>
          <p:nvPr>
            <p:ph type="sldNum" sz="quarter" idx="12"/>
          </p:nvPr>
        </p:nvSpPr>
        <p:spPr/>
        <p:txBody>
          <a:bodyPr/>
          <a:lstStyle/>
          <a:p>
            <a:fld id="{DC73EBDF-8EB8-4A64-B520-40D21BF3DD3C}" type="slidenum">
              <a:rPr kumimoji="1" lang="ja-JP" altLang="en-US" smtClean="0"/>
              <a:t>‹#›</a:t>
            </a:fld>
            <a:endParaRPr kumimoji="1" lang="ja-JP" altLang="en-US"/>
          </a:p>
        </p:txBody>
      </p:sp>
    </p:spTree>
    <p:extLst>
      <p:ext uri="{BB962C8B-B14F-4D97-AF65-F5344CB8AC3E}">
        <p14:creationId xmlns:p14="http://schemas.microsoft.com/office/powerpoint/2010/main" val="1224693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BEAF7E0-EB6A-114B-0D2F-18177B4A1A9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AD7DEC1-F076-B3AB-8F84-52F050E0F1F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94C92F3-D300-F965-9028-940CCD06756D}"/>
              </a:ext>
            </a:extLst>
          </p:cNvPr>
          <p:cNvSpPr>
            <a:spLocks noGrp="1"/>
          </p:cNvSpPr>
          <p:nvPr>
            <p:ph type="dt" sz="half" idx="10"/>
          </p:nvPr>
        </p:nvSpPr>
        <p:spPr/>
        <p:txBody>
          <a:bodyPr/>
          <a:lstStyle/>
          <a:p>
            <a:fld id="{2B8AF090-3FFE-4B1D-9627-87CE59E7EC1F}" type="datetimeFigureOut">
              <a:rPr kumimoji="1" lang="ja-JP" altLang="en-US" smtClean="0"/>
              <a:t>2026/10/6</a:t>
            </a:fld>
            <a:endParaRPr kumimoji="1" lang="ja-JP" altLang="en-US"/>
          </a:p>
        </p:txBody>
      </p:sp>
      <p:sp>
        <p:nvSpPr>
          <p:cNvPr id="5" name="フッター プレースホルダー 4">
            <a:extLst>
              <a:ext uri="{FF2B5EF4-FFF2-40B4-BE49-F238E27FC236}">
                <a16:creationId xmlns:a16="http://schemas.microsoft.com/office/drawing/2014/main" id="{7883D828-AE03-21CD-7275-CDE9D1F62B9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9D48D32-C5A8-A231-135D-44B9363349AD}"/>
              </a:ext>
            </a:extLst>
          </p:cNvPr>
          <p:cNvSpPr>
            <a:spLocks noGrp="1"/>
          </p:cNvSpPr>
          <p:nvPr>
            <p:ph type="sldNum" sz="quarter" idx="12"/>
          </p:nvPr>
        </p:nvSpPr>
        <p:spPr/>
        <p:txBody>
          <a:bodyPr/>
          <a:lstStyle/>
          <a:p>
            <a:fld id="{DC73EBDF-8EB8-4A64-B520-40D21BF3DD3C}" type="slidenum">
              <a:rPr kumimoji="1" lang="ja-JP" altLang="en-US" smtClean="0"/>
              <a:t>‹#›</a:t>
            </a:fld>
            <a:endParaRPr kumimoji="1" lang="ja-JP" altLang="en-US"/>
          </a:p>
        </p:txBody>
      </p:sp>
    </p:spTree>
    <p:extLst>
      <p:ext uri="{BB962C8B-B14F-4D97-AF65-F5344CB8AC3E}">
        <p14:creationId xmlns:p14="http://schemas.microsoft.com/office/powerpoint/2010/main" val="2705204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9778B95E-5A24-0D38-BAE7-31C2F868DC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408C833-F37A-6CD8-70AC-38A6BB047E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CD0EA5A-4B6C-82B6-1F5F-97B019B1D2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8AF090-3FFE-4B1D-9627-87CE59E7EC1F}" type="datetimeFigureOut">
              <a:rPr kumimoji="1" lang="ja-JP" altLang="en-US" smtClean="0"/>
              <a:t>2026/10/6</a:t>
            </a:fld>
            <a:endParaRPr kumimoji="1" lang="ja-JP" altLang="en-US"/>
          </a:p>
        </p:txBody>
      </p:sp>
      <p:sp>
        <p:nvSpPr>
          <p:cNvPr id="5" name="フッター プレースホルダー 4">
            <a:extLst>
              <a:ext uri="{FF2B5EF4-FFF2-40B4-BE49-F238E27FC236}">
                <a16:creationId xmlns:a16="http://schemas.microsoft.com/office/drawing/2014/main" id="{4703A64F-EA44-5B29-7865-3740D8C670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AC653360-C73D-1BDD-D54A-B9A5DADA54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C73EBDF-8EB8-4A64-B520-40D21BF3DD3C}" type="slidenum">
              <a:rPr kumimoji="1" lang="ja-JP" altLang="en-US" smtClean="0"/>
              <a:t>‹#›</a:t>
            </a:fld>
            <a:endParaRPr kumimoji="1" lang="ja-JP" altLang="en-US"/>
          </a:p>
        </p:txBody>
      </p:sp>
    </p:spTree>
    <p:extLst>
      <p:ext uri="{BB962C8B-B14F-4D97-AF65-F5344CB8AC3E}">
        <p14:creationId xmlns:p14="http://schemas.microsoft.com/office/powerpoint/2010/main" val="22423071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hyperlink" Target="https://www.mghassany.com/courses/MLcourse/pw-6.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CA4BAB50-C9F7-3B06-3E84-2418CE99B320}"/>
              </a:ext>
            </a:extLst>
          </p:cNvPr>
          <p:cNvSpPr txBox="1"/>
          <p:nvPr/>
        </p:nvSpPr>
        <p:spPr>
          <a:xfrm>
            <a:off x="2230015" y="2929812"/>
            <a:ext cx="8385629"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Iris Dataset </a:t>
            </a:r>
            <a:r>
              <a:rPr kumimoji="1" lang="ja-JP" altLang="en-US" sz="3200" dirty="0">
                <a:latin typeface="メイリオ" panose="020B0604030504040204" pitchFamily="50" charset="-128"/>
                <a:ea typeface="メイリオ" panose="020B0604030504040204" pitchFamily="50" charset="-128"/>
              </a:rPr>
              <a:t>と </a:t>
            </a:r>
            <a:r>
              <a:rPr kumimoji="1" lang="en-US" altLang="ja-JP" sz="3200" dirty="0">
                <a:latin typeface="メイリオ" panose="020B0604030504040204" pitchFamily="50" charset="-128"/>
                <a:ea typeface="メイリオ" panose="020B0604030504040204" pitchFamily="50" charset="-128"/>
              </a:rPr>
              <a:t>K nearest neighbor (KNN)</a:t>
            </a:r>
            <a:endParaRPr kumimoji="1" lang="ja-JP" altLang="en-US" sz="3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14203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E181451F-BE8F-47C2-9EB4-42EEB2CD2A8D}"/>
              </a:ext>
            </a:extLst>
          </p:cNvPr>
          <p:cNvGraphicFramePr>
            <a:graphicFrameLocks noGrp="1"/>
          </p:cNvGraphicFramePr>
          <p:nvPr/>
        </p:nvGraphicFramePr>
        <p:xfrm>
          <a:off x="5468249" y="1946794"/>
          <a:ext cx="4656650" cy="2308504"/>
        </p:xfrm>
        <a:graphic>
          <a:graphicData uri="http://schemas.openxmlformats.org/drawingml/2006/table">
            <a:tbl>
              <a:tblPr firstRow="1" bandRow="1">
                <a:tableStyleId>{5940675A-B579-460E-94D1-54222C63F5DA}</a:tableStyleId>
              </a:tblPr>
              <a:tblGrid>
                <a:gridCol w="1086049">
                  <a:extLst>
                    <a:ext uri="{9D8B030D-6E8A-4147-A177-3AD203B41FA5}">
                      <a16:colId xmlns:a16="http://schemas.microsoft.com/office/drawing/2014/main" val="1956025745"/>
                    </a:ext>
                  </a:extLst>
                </a:gridCol>
                <a:gridCol w="1352196">
                  <a:extLst>
                    <a:ext uri="{9D8B030D-6E8A-4147-A177-3AD203B41FA5}">
                      <a16:colId xmlns:a16="http://schemas.microsoft.com/office/drawing/2014/main" val="3203398356"/>
                    </a:ext>
                  </a:extLst>
                </a:gridCol>
                <a:gridCol w="1103271">
                  <a:extLst>
                    <a:ext uri="{9D8B030D-6E8A-4147-A177-3AD203B41FA5}">
                      <a16:colId xmlns:a16="http://schemas.microsoft.com/office/drawing/2014/main" val="1446089183"/>
                    </a:ext>
                  </a:extLst>
                </a:gridCol>
                <a:gridCol w="1115134">
                  <a:extLst>
                    <a:ext uri="{9D8B030D-6E8A-4147-A177-3AD203B41FA5}">
                      <a16:colId xmlns:a16="http://schemas.microsoft.com/office/drawing/2014/main" val="709289782"/>
                    </a:ext>
                  </a:extLst>
                </a:gridCol>
              </a:tblGrid>
              <a:tr h="693632">
                <a:tc>
                  <a:txBody>
                    <a:bodyPr/>
                    <a:lstStyle/>
                    <a:p>
                      <a:r>
                        <a:rPr kumimoji="1" lang="en-US" altLang="ja-JP" sz="2000" dirty="0">
                          <a:latin typeface="メイリオ" panose="020B0604030504040204" pitchFamily="50" charset="-128"/>
                          <a:ea typeface="メイリオ" panose="020B0604030504040204" pitchFamily="50" charset="-128"/>
                        </a:rPr>
                        <a:t>Sepal</a:t>
                      </a:r>
                    </a:p>
                    <a:p>
                      <a:r>
                        <a:rPr kumimoji="1" lang="en-US" altLang="ja-JP" sz="2000" dirty="0">
                          <a:latin typeface="メイリオ" panose="020B0604030504040204" pitchFamily="50" charset="-128"/>
                          <a:ea typeface="メイリオ" panose="020B0604030504040204" pitchFamily="50" charset="-128"/>
                        </a:rPr>
                        <a:t>length</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r>
                        <a:rPr kumimoji="1" lang="en-US" altLang="ja-JP" sz="2000" dirty="0">
                          <a:latin typeface="メイリオ" panose="020B0604030504040204" pitchFamily="50" charset="-128"/>
                          <a:ea typeface="メイリオ" panose="020B0604030504040204" pitchFamily="50" charset="-128"/>
                        </a:rPr>
                        <a:t>Sepal </a:t>
                      </a:r>
                    </a:p>
                    <a:p>
                      <a:r>
                        <a:rPr kumimoji="1" lang="en-US" altLang="ja-JP" sz="2000" dirty="0">
                          <a:latin typeface="メイリオ" panose="020B0604030504040204" pitchFamily="50" charset="-128"/>
                          <a:ea typeface="メイリオ" panose="020B0604030504040204" pitchFamily="50" charset="-128"/>
                        </a:rPr>
                        <a:t>width</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r>
                        <a:rPr kumimoji="1" lang="en-US" altLang="ja-JP" sz="2000" dirty="0">
                          <a:latin typeface="メイリオ" panose="020B0604030504040204" pitchFamily="50" charset="-128"/>
                          <a:ea typeface="メイリオ" panose="020B0604030504040204" pitchFamily="50" charset="-128"/>
                        </a:rPr>
                        <a:t>Petal </a:t>
                      </a:r>
                    </a:p>
                    <a:p>
                      <a:r>
                        <a:rPr kumimoji="1" lang="en-US" altLang="ja-JP" sz="2000" dirty="0">
                          <a:latin typeface="メイリオ" panose="020B0604030504040204" pitchFamily="50" charset="-128"/>
                          <a:ea typeface="メイリオ" panose="020B0604030504040204" pitchFamily="50" charset="-128"/>
                        </a:rPr>
                        <a:t>length</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r>
                        <a:rPr kumimoji="1" lang="en-US" altLang="ja-JP" sz="2000" dirty="0">
                          <a:latin typeface="メイリオ" panose="020B0604030504040204" pitchFamily="50" charset="-128"/>
                          <a:ea typeface="メイリオ" panose="020B0604030504040204" pitchFamily="50" charset="-128"/>
                        </a:rPr>
                        <a:t>Petal</a:t>
                      </a:r>
                    </a:p>
                    <a:p>
                      <a:r>
                        <a:rPr kumimoji="1" lang="en-US" altLang="ja-JP" sz="2000" dirty="0">
                          <a:latin typeface="メイリオ" panose="020B0604030504040204" pitchFamily="50" charset="-128"/>
                          <a:ea typeface="メイリオ" panose="020B0604030504040204" pitchFamily="50" charset="-128"/>
                        </a:rPr>
                        <a:t>width</a:t>
                      </a:r>
                      <a:endParaRPr kumimoji="1" lang="ja-JP" altLang="en-US"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754640250"/>
                  </a:ext>
                </a:extLst>
              </a:tr>
              <a:tr h="401866">
                <a:tc>
                  <a:txBody>
                    <a:bodyPr/>
                    <a:lstStyle/>
                    <a:p>
                      <a:pPr algn="r"/>
                      <a:r>
                        <a:rPr kumimoji="1" lang="en-US" altLang="ja-JP" sz="2000" dirty="0">
                          <a:latin typeface="メイリオ" panose="020B0604030504040204" pitchFamily="50" charset="-128"/>
                          <a:ea typeface="メイリオ" panose="020B0604030504040204" pitchFamily="50" charset="-128"/>
                        </a:rPr>
                        <a:t>5.1</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pPr algn="r"/>
                      <a:r>
                        <a:rPr kumimoji="1" lang="en-US" altLang="ja-JP" sz="2000" dirty="0">
                          <a:latin typeface="メイリオ" panose="020B0604030504040204" pitchFamily="50" charset="-128"/>
                          <a:ea typeface="メイリオ" panose="020B0604030504040204" pitchFamily="50" charset="-128"/>
                        </a:rPr>
                        <a:t>3.5</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pPr algn="r"/>
                      <a:r>
                        <a:rPr kumimoji="1" lang="en-US" altLang="ja-JP" sz="2000" dirty="0">
                          <a:latin typeface="メイリオ" panose="020B0604030504040204" pitchFamily="50" charset="-128"/>
                          <a:ea typeface="メイリオ" panose="020B0604030504040204" pitchFamily="50" charset="-128"/>
                        </a:rPr>
                        <a:t>1.4</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pPr algn="r"/>
                      <a:r>
                        <a:rPr kumimoji="1" lang="en-US" altLang="ja-JP" sz="2000" dirty="0">
                          <a:latin typeface="メイリオ" panose="020B0604030504040204" pitchFamily="50" charset="-128"/>
                          <a:ea typeface="メイリオ" panose="020B0604030504040204" pitchFamily="50" charset="-128"/>
                        </a:rPr>
                        <a:t>0.2</a:t>
                      </a:r>
                      <a:endParaRPr kumimoji="1" lang="ja-JP" altLang="en-US"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4085924178"/>
                  </a:ext>
                </a:extLst>
              </a:tr>
              <a:tr h="401866">
                <a:tc>
                  <a:txBody>
                    <a:bodyPr/>
                    <a:lstStyle/>
                    <a:p>
                      <a:pPr algn="r"/>
                      <a:r>
                        <a:rPr kumimoji="1" lang="en-US" altLang="ja-JP" sz="2000" dirty="0">
                          <a:latin typeface="メイリオ" panose="020B0604030504040204" pitchFamily="50" charset="-128"/>
                          <a:ea typeface="メイリオ" panose="020B0604030504040204" pitchFamily="50" charset="-128"/>
                        </a:rPr>
                        <a:t>4.9</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pPr algn="r"/>
                      <a:r>
                        <a:rPr kumimoji="1" lang="en-US" altLang="ja-JP" sz="2000" dirty="0">
                          <a:latin typeface="メイリオ" panose="020B0604030504040204" pitchFamily="50" charset="-128"/>
                          <a:ea typeface="メイリオ" panose="020B0604030504040204" pitchFamily="50" charset="-128"/>
                        </a:rPr>
                        <a:t>3</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pPr algn="r"/>
                      <a:r>
                        <a:rPr kumimoji="1" lang="en-US" altLang="ja-JP" sz="2000" dirty="0">
                          <a:latin typeface="メイリオ" panose="020B0604030504040204" pitchFamily="50" charset="-128"/>
                          <a:ea typeface="メイリオ" panose="020B0604030504040204" pitchFamily="50" charset="-128"/>
                        </a:rPr>
                        <a:t>1.4</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pPr algn="r"/>
                      <a:r>
                        <a:rPr kumimoji="1" lang="en-US" altLang="ja-JP" sz="2000" dirty="0">
                          <a:latin typeface="メイリオ" panose="020B0604030504040204" pitchFamily="50" charset="-128"/>
                          <a:ea typeface="メイリオ" panose="020B0604030504040204" pitchFamily="50" charset="-128"/>
                        </a:rPr>
                        <a:t>0.2</a:t>
                      </a:r>
                      <a:endParaRPr kumimoji="1" lang="ja-JP" altLang="en-US"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285687201"/>
                  </a:ext>
                </a:extLst>
              </a:tr>
              <a:tr h="401866">
                <a:tc>
                  <a:txBody>
                    <a:bodyPr/>
                    <a:lstStyle/>
                    <a:p>
                      <a:pPr algn="r"/>
                      <a:r>
                        <a:rPr kumimoji="1" lang="en-US" altLang="ja-JP" sz="2000" dirty="0">
                          <a:latin typeface="メイリオ" panose="020B0604030504040204" pitchFamily="50" charset="-128"/>
                          <a:ea typeface="メイリオ" panose="020B0604030504040204" pitchFamily="50" charset="-128"/>
                        </a:rPr>
                        <a:t>4.7</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pPr algn="r"/>
                      <a:r>
                        <a:rPr kumimoji="1" lang="en-US" altLang="ja-JP" sz="2000" dirty="0">
                          <a:latin typeface="メイリオ" panose="020B0604030504040204" pitchFamily="50" charset="-128"/>
                          <a:ea typeface="メイリオ" panose="020B0604030504040204" pitchFamily="50" charset="-128"/>
                        </a:rPr>
                        <a:t>3.2</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pPr algn="r"/>
                      <a:r>
                        <a:rPr kumimoji="1" lang="en-US" altLang="ja-JP" sz="2000" dirty="0">
                          <a:latin typeface="メイリオ" panose="020B0604030504040204" pitchFamily="50" charset="-128"/>
                          <a:ea typeface="メイリオ" panose="020B0604030504040204" pitchFamily="50" charset="-128"/>
                        </a:rPr>
                        <a:t>1.3</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pPr algn="r"/>
                      <a:r>
                        <a:rPr kumimoji="1" lang="en-US" altLang="ja-JP" sz="2000" dirty="0">
                          <a:latin typeface="メイリオ" panose="020B0604030504040204" pitchFamily="50" charset="-128"/>
                          <a:ea typeface="メイリオ" panose="020B0604030504040204" pitchFamily="50" charset="-128"/>
                        </a:rPr>
                        <a:t>0.2</a:t>
                      </a:r>
                      <a:endParaRPr kumimoji="1" lang="ja-JP" altLang="en-US"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499958160"/>
                  </a:ext>
                </a:extLst>
              </a:tr>
              <a:tr h="401866">
                <a:tc>
                  <a:txBody>
                    <a:bodyPr/>
                    <a:lstStyle/>
                    <a:p>
                      <a:pPr algn="r"/>
                      <a:r>
                        <a:rPr kumimoji="1" lang="en-US" altLang="ja-JP" sz="2000" dirty="0">
                          <a:latin typeface="メイリオ" panose="020B0604030504040204" pitchFamily="50" charset="-128"/>
                          <a:ea typeface="メイリオ" panose="020B0604030504040204" pitchFamily="50" charset="-128"/>
                        </a:rPr>
                        <a:t>4.6</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pPr algn="r"/>
                      <a:r>
                        <a:rPr kumimoji="1" lang="en-US" altLang="ja-JP" sz="2000" dirty="0">
                          <a:latin typeface="メイリオ" panose="020B0604030504040204" pitchFamily="50" charset="-128"/>
                          <a:ea typeface="メイリオ" panose="020B0604030504040204" pitchFamily="50" charset="-128"/>
                        </a:rPr>
                        <a:t>3.1</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pPr algn="r"/>
                      <a:r>
                        <a:rPr kumimoji="1" lang="en-US" altLang="ja-JP" sz="2000" dirty="0">
                          <a:latin typeface="メイリオ" panose="020B0604030504040204" pitchFamily="50" charset="-128"/>
                          <a:ea typeface="メイリオ" panose="020B0604030504040204" pitchFamily="50" charset="-128"/>
                        </a:rPr>
                        <a:t>1.5</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pPr algn="r"/>
                      <a:r>
                        <a:rPr kumimoji="1" lang="en-US" altLang="ja-JP" sz="2000" dirty="0">
                          <a:latin typeface="メイリオ" panose="020B0604030504040204" pitchFamily="50" charset="-128"/>
                          <a:ea typeface="メイリオ" panose="020B0604030504040204" pitchFamily="50" charset="-128"/>
                        </a:rPr>
                        <a:t>0.2</a:t>
                      </a:r>
                      <a:endParaRPr kumimoji="1" lang="ja-JP" altLang="en-US"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4258993518"/>
                  </a:ext>
                </a:extLst>
              </a:tr>
            </a:tbl>
          </a:graphicData>
        </a:graphic>
      </p:graphicFrame>
      <p:graphicFrame>
        <p:nvGraphicFramePr>
          <p:cNvPr id="4" name="表 3">
            <a:extLst>
              <a:ext uri="{FF2B5EF4-FFF2-40B4-BE49-F238E27FC236}">
                <a16:creationId xmlns:a16="http://schemas.microsoft.com/office/drawing/2014/main" id="{A09CE077-F681-4802-8B75-8E8240F388AD}"/>
              </a:ext>
            </a:extLst>
          </p:cNvPr>
          <p:cNvGraphicFramePr>
            <a:graphicFrameLocks noGrp="1"/>
          </p:cNvGraphicFramePr>
          <p:nvPr/>
        </p:nvGraphicFramePr>
        <p:xfrm>
          <a:off x="3750599" y="2223443"/>
          <a:ext cx="1605715" cy="2031855"/>
        </p:xfrm>
        <a:graphic>
          <a:graphicData uri="http://schemas.openxmlformats.org/drawingml/2006/table">
            <a:tbl>
              <a:tblPr firstRow="1" bandRow="1">
                <a:tableStyleId>{5940675A-B579-460E-94D1-54222C63F5DA}</a:tableStyleId>
              </a:tblPr>
              <a:tblGrid>
                <a:gridCol w="1605715">
                  <a:extLst>
                    <a:ext uri="{9D8B030D-6E8A-4147-A177-3AD203B41FA5}">
                      <a16:colId xmlns:a16="http://schemas.microsoft.com/office/drawing/2014/main" val="136106727"/>
                    </a:ext>
                  </a:extLst>
                </a:gridCol>
              </a:tblGrid>
              <a:tr h="406371">
                <a:tc>
                  <a:txBody>
                    <a:bodyPr/>
                    <a:lstStyle/>
                    <a:p>
                      <a:pPr algn="ctr"/>
                      <a:r>
                        <a:rPr kumimoji="1" lang="ja-JP" altLang="en-US" sz="2000" dirty="0">
                          <a:latin typeface="メイリオ" panose="020B0604030504040204" pitchFamily="50" charset="-128"/>
                          <a:ea typeface="メイリオ" panose="020B0604030504040204" pitchFamily="50" charset="-128"/>
                        </a:rPr>
                        <a:t>品種ラベル</a:t>
                      </a:r>
                    </a:p>
                  </a:txBody>
                  <a:tcPr/>
                </a:tc>
                <a:extLst>
                  <a:ext uri="{0D108BD9-81ED-4DB2-BD59-A6C34878D82A}">
                    <a16:rowId xmlns:a16="http://schemas.microsoft.com/office/drawing/2014/main" val="1312683392"/>
                  </a:ext>
                </a:extLst>
              </a:tr>
              <a:tr h="406371">
                <a:tc>
                  <a:txBody>
                    <a:bodyPr/>
                    <a:lstStyle/>
                    <a:p>
                      <a:pPr algn="ctr"/>
                      <a:r>
                        <a:rPr kumimoji="1" lang="en-US" altLang="ja-JP" sz="2000" dirty="0">
                          <a:latin typeface="メイリオ" panose="020B0604030504040204" pitchFamily="50" charset="-128"/>
                          <a:ea typeface="メイリオ" panose="020B0604030504040204" pitchFamily="50" charset="-128"/>
                        </a:rPr>
                        <a:t>0</a:t>
                      </a:r>
                      <a:endParaRPr kumimoji="1" lang="ja-JP" altLang="en-US"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736312713"/>
                  </a:ext>
                </a:extLst>
              </a:tr>
              <a:tr h="406371">
                <a:tc>
                  <a:txBody>
                    <a:bodyPr/>
                    <a:lstStyle/>
                    <a:p>
                      <a:pPr algn="ctr"/>
                      <a:r>
                        <a:rPr kumimoji="1" lang="en-US" altLang="ja-JP" sz="2000" dirty="0">
                          <a:latin typeface="メイリオ" panose="020B0604030504040204" pitchFamily="50" charset="-128"/>
                          <a:ea typeface="メイリオ" panose="020B0604030504040204" pitchFamily="50" charset="-128"/>
                        </a:rPr>
                        <a:t>0</a:t>
                      </a:r>
                      <a:endParaRPr kumimoji="1" lang="ja-JP" altLang="en-US"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575363969"/>
                  </a:ext>
                </a:extLst>
              </a:tr>
              <a:tr h="406371">
                <a:tc>
                  <a:txBody>
                    <a:bodyPr/>
                    <a:lstStyle/>
                    <a:p>
                      <a:pPr algn="ctr"/>
                      <a:r>
                        <a:rPr kumimoji="1" lang="en-US" altLang="ja-JP" sz="2000" dirty="0">
                          <a:latin typeface="メイリオ" panose="020B0604030504040204" pitchFamily="50" charset="-128"/>
                          <a:ea typeface="メイリオ" panose="020B0604030504040204" pitchFamily="50" charset="-128"/>
                        </a:rPr>
                        <a:t>2</a:t>
                      </a:r>
                      <a:endParaRPr kumimoji="1" lang="ja-JP" altLang="en-US"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277393644"/>
                  </a:ext>
                </a:extLst>
              </a:tr>
              <a:tr h="406371">
                <a:tc>
                  <a:txBody>
                    <a:bodyPr/>
                    <a:lstStyle/>
                    <a:p>
                      <a:pPr algn="ctr"/>
                      <a:r>
                        <a:rPr kumimoji="1" lang="en-US" altLang="ja-JP" sz="2000" dirty="0">
                          <a:latin typeface="メイリオ" panose="020B0604030504040204" pitchFamily="50" charset="-128"/>
                          <a:ea typeface="メイリオ" panose="020B0604030504040204" pitchFamily="50" charset="-128"/>
                        </a:rPr>
                        <a:t>1</a:t>
                      </a:r>
                      <a:endParaRPr kumimoji="1" lang="ja-JP" altLang="en-US"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575396391"/>
                  </a:ext>
                </a:extLst>
              </a:tr>
            </a:tbl>
          </a:graphicData>
        </a:graphic>
      </p:graphicFrame>
      <p:pic>
        <p:nvPicPr>
          <p:cNvPr id="6" name="Picture 2" descr="「load_iris python virginica」の画像検索結果">
            <a:extLst>
              <a:ext uri="{FF2B5EF4-FFF2-40B4-BE49-F238E27FC236}">
                <a16:creationId xmlns:a16="http://schemas.microsoft.com/office/drawing/2014/main" id="{B8C37B04-2414-4DED-8DC7-44757FA741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9500" y="4595035"/>
            <a:ext cx="5989983" cy="1999157"/>
          </a:xfrm>
          <a:prstGeom prst="rect">
            <a:avLst/>
          </a:prstGeom>
          <a:noFill/>
          <a:extLst>
            <a:ext uri="{909E8E84-426E-40DD-AFC4-6F175D3DCCD1}">
              <a14:hiddenFill xmlns:a14="http://schemas.microsoft.com/office/drawing/2010/main">
                <a:solidFill>
                  <a:srgbClr val="FFFFFF"/>
                </a:solidFill>
              </a14:hiddenFill>
            </a:ext>
          </a:extLst>
        </p:spPr>
      </p:pic>
      <p:sp>
        <p:nvSpPr>
          <p:cNvPr id="7" name="テキスト ボックス 6">
            <a:extLst>
              <a:ext uri="{FF2B5EF4-FFF2-40B4-BE49-F238E27FC236}">
                <a16:creationId xmlns:a16="http://schemas.microsoft.com/office/drawing/2014/main" id="{9E06B3AB-DAB0-4447-A3B6-88389F843C82}"/>
              </a:ext>
            </a:extLst>
          </p:cNvPr>
          <p:cNvSpPr txBox="1"/>
          <p:nvPr/>
        </p:nvSpPr>
        <p:spPr>
          <a:xfrm>
            <a:off x="10063797" y="2098590"/>
            <a:ext cx="2401373" cy="707886"/>
          </a:xfrm>
          <a:prstGeom prst="rect">
            <a:avLst/>
          </a:prstGeom>
          <a:noFill/>
        </p:spPr>
        <p:txBody>
          <a:bodyPr wrap="square" rtlCol="0">
            <a:spAutoFit/>
          </a:bodyPr>
          <a:lstStyle/>
          <a:p>
            <a:pPr algn="l"/>
            <a:r>
              <a:rPr kumimoji="1" lang="en-US" altLang="ja-JP" sz="2000" dirty="0">
                <a:latin typeface="メイリオ" panose="020B0604030504040204" pitchFamily="50" charset="-128"/>
                <a:ea typeface="メイリオ" panose="020B0604030504040204" pitchFamily="50" charset="-128"/>
              </a:rPr>
              <a:t>Sepal : </a:t>
            </a:r>
            <a:r>
              <a:rPr kumimoji="1" lang="ja-JP" altLang="en-US" sz="2000" dirty="0">
                <a:latin typeface="メイリオ" panose="020B0604030504040204" pitchFamily="50" charset="-128"/>
                <a:ea typeface="メイリオ" panose="020B0604030504040204" pitchFamily="50" charset="-128"/>
              </a:rPr>
              <a:t>ガク　</a:t>
            </a:r>
            <a:r>
              <a:rPr kumimoji="1" lang="en-US" altLang="ja-JP" sz="2000" dirty="0">
                <a:latin typeface="メイリオ" panose="020B0604030504040204" pitchFamily="50" charset="-128"/>
                <a:ea typeface="メイリオ" panose="020B0604030504040204" pitchFamily="50" charset="-128"/>
              </a:rPr>
              <a:t>Petal : </a:t>
            </a:r>
            <a:r>
              <a:rPr kumimoji="1" lang="ja-JP" altLang="en-US" sz="2000" dirty="0">
                <a:latin typeface="メイリオ" panose="020B0604030504040204" pitchFamily="50" charset="-128"/>
                <a:ea typeface="メイリオ" panose="020B0604030504040204" pitchFamily="50" charset="-128"/>
              </a:rPr>
              <a:t>花びら</a:t>
            </a:r>
          </a:p>
        </p:txBody>
      </p:sp>
      <p:sp>
        <p:nvSpPr>
          <p:cNvPr id="8" name="矢印: 右カーブ 7">
            <a:extLst>
              <a:ext uri="{FF2B5EF4-FFF2-40B4-BE49-F238E27FC236}">
                <a16:creationId xmlns:a16="http://schemas.microsoft.com/office/drawing/2014/main" id="{C234FA17-1448-4BA1-B656-28498F529736}"/>
              </a:ext>
            </a:extLst>
          </p:cNvPr>
          <p:cNvSpPr/>
          <p:nvPr/>
        </p:nvSpPr>
        <p:spPr>
          <a:xfrm rot="1420037">
            <a:off x="2532465" y="2998021"/>
            <a:ext cx="864705" cy="2499737"/>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9" name="テキスト ボックス 8">
            <a:extLst>
              <a:ext uri="{FF2B5EF4-FFF2-40B4-BE49-F238E27FC236}">
                <a16:creationId xmlns:a16="http://schemas.microsoft.com/office/drawing/2014/main" id="{AB9B6D56-A451-4BB0-906B-F797D62B62CE}"/>
              </a:ext>
            </a:extLst>
          </p:cNvPr>
          <p:cNvSpPr txBox="1"/>
          <p:nvPr/>
        </p:nvSpPr>
        <p:spPr>
          <a:xfrm>
            <a:off x="1995161" y="2216036"/>
            <a:ext cx="2007704" cy="923330"/>
          </a:xfrm>
          <a:prstGeom prst="rect">
            <a:avLst/>
          </a:prstGeom>
          <a:noFill/>
        </p:spPr>
        <p:txBody>
          <a:bodyPr wrap="square" rtlCol="0">
            <a:spAutoFit/>
          </a:bodyPr>
          <a:lstStyle/>
          <a:p>
            <a:pPr algn="l"/>
            <a:r>
              <a:rPr kumimoji="1" lang="ja-JP" altLang="en-US" dirty="0">
                <a:latin typeface="メイリオ" panose="020B0604030504040204" pitchFamily="50" charset="-128"/>
                <a:ea typeface="メイリオ" panose="020B0604030504040204" pitchFamily="50" charset="-128"/>
              </a:rPr>
              <a:t>花びらとガクのサイズで品種が異なる</a:t>
            </a:r>
          </a:p>
        </p:txBody>
      </p:sp>
      <p:sp>
        <p:nvSpPr>
          <p:cNvPr id="10" name="テキスト ボックス 9">
            <a:extLst>
              <a:ext uri="{FF2B5EF4-FFF2-40B4-BE49-F238E27FC236}">
                <a16:creationId xmlns:a16="http://schemas.microsoft.com/office/drawing/2014/main" id="{EE30FBF9-EEB0-46F5-989D-DF22A2B868D4}"/>
              </a:ext>
            </a:extLst>
          </p:cNvPr>
          <p:cNvSpPr txBox="1"/>
          <p:nvPr/>
        </p:nvSpPr>
        <p:spPr>
          <a:xfrm>
            <a:off x="1692856" y="486860"/>
            <a:ext cx="3775393" cy="523220"/>
          </a:xfrm>
          <a:prstGeom prst="rect">
            <a:avLst/>
          </a:prstGeom>
          <a:noFill/>
        </p:spPr>
        <p:txBody>
          <a:bodyPr wrap="none" rtlCol="0">
            <a:spAutoFit/>
          </a:bodyPr>
          <a:lstStyle/>
          <a:p>
            <a:pPr algn="l"/>
            <a:r>
              <a:rPr kumimoji="1" lang="ja-JP" altLang="en-US" sz="2800" b="1" dirty="0">
                <a:latin typeface="メイリオ" panose="020B0604030504040204" pitchFamily="50" charset="-128"/>
                <a:ea typeface="メイリオ" panose="020B0604030504040204" pitchFamily="50" charset="-128"/>
              </a:rPr>
              <a:t>アイリスデータセット</a:t>
            </a:r>
          </a:p>
        </p:txBody>
      </p:sp>
      <p:sp>
        <p:nvSpPr>
          <p:cNvPr id="2" name="テキスト ボックス 1">
            <a:extLst>
              <a:ext uri="{FF2B5EF4-FFF2-40B4-BE49-F238E27FC236}">
                <a16:creationId xmlns:a16="http://schemas.microsoft.com/office/drawing/2014/main" id="{6E88FBF7-9519-4F88-0CE3-8AB087F4A660}"/>
              </a:ext>
            </a:extLst>
          </p:cNvPr>
          <p:cNvSpPr txBox="1"/>
          <p:nvPr/>
        </p:nvSpPr>
        <p:spPr>
          <a:xfrm>
            <a:off x="1995161" y="1070590"/>
            <a:ext cx="2950040" cy="830997"/>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教師ラベル（品種）は数値で表す</a:t>
            </a:r>
          </a:p>
        </p:txBody>
      </p:sp>
      <p:cxnSp>
        <p:nvCxnSpPr>
          <p:cNvPr id="12" name="直線矢印コネクタ 11">
            <a:extLst>
              <a:ext uri="{FF2B5EF4-FFF2-40B4-BE49-F238E27FC236}">
                <a16:creationId xmlns:a16="http://schemas.microsoft.com/office/drawing/2014/main" id="{DC344491-6C3D-2D5C-789A-C323B4E27BCA}"/>
              </a:ext>
            </a:extLst>
          </p:cNvPr>
          <p:cNvCxnSpPr>
            <a:cxnSpLocks/>
          </p:cNvCxnSpPr>
          <p:nvPr/>
        </p:nvCxnSpPr>
        <p:spPr>
          <a:xfrm>
            <a:off x="4002865" y="1714831"/>
            <a:ext cx="111935" cy="50120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左中かっこ 13">
            <a:extLst>
              <a:ext uri="{FF2B5EF4-FFF2-40B4-BE49-F238E27FC236}">
                <a16:creationId xmlns:a16="http://schemas.microsoft.com/office/drawing/2014/main" id="{81CB5067-17B5-1859-F759-F016C7E2F851}"/>
              </a:ext>
            </a:extLst>
          </p:cNvPr>
          <p:cNvSpPr/>
          <p:nvPr/>
        </p:nvSpPr>
        <p:spPr>
          <a:xfrm rot="5400000">
            <a:off x="7525872" y="-667029"/>
            <a:ext cx="480302" cy="4595548"/>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890C0648-5427-9D44-9B4B-8B075F99EE8D}"/>
              </a:ext>
            </a:extLst>
          </p:cNvPr>
          <p:cNvSpPr txBox="1"/>
          <p:nvPr/>
        </p:nvSpPr>
        <p:spPr>
          <a:xfrm>
            <a:off x="7212025" y="1001280"/>
            <a:ext cx="110799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特徴量</a:t>
            </a:r>
          </a:p>
        </p:txBody>
      </p:sp>
    </p:spTree>
    <p:extLst>
      <p:ext uri="{BB962C8B-B14F-4D97-AF65-F5344CB8AC3E}">
        <p14:creationId xmlns:p14="http://schemas.microsoft.com/office/powerpoint/2010/main" val="361778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22A1210-05BE-70C7-CD9C-59F10B1CB6CB}"/>
              </a:ext>
            </a:extLst>
          </p:cNvPr>
          <p:cNvSpPr txBox="1"/>
          <p:nvPr/>
        </p:nvSpPr>
        <p:spPr>
          <a:xfrm>
            <a:off x="530352" y="594360"/>
            <a:ext cx="7518405"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Index : </a:t>
            </a:r>
            <a:r>
              <a:rPr kumimoji="1" lang="ja-JP" altLang="en-US" sz="3200" dirty="0">
                <a:latin typeface="メイリオ" panose="020B0604030504040204" pitchFamily="50" charset="-128"/>
                <a:ea typeface="メイリオ" panose="020B0604030504040204" pitchFamily="50" charset="-128"/>
              </a:rPr>
              <a:t>データセットの行番号と列番号</a:t>
            </a:r>
          </a:p>
        </p:txBody>
      </p:sp>
      <p:graphicFrame>
        <p:nvGraphicFramePr>
          <p:cNvPr id="3" name="表 2">
            <a:extLst>
              <a:ext uri="{FF2B5EF4-FFF2-40B4-BE49-F238E27FC236}">
                <a16:creationId xmlns:a16="http://schemas.microsoft.com/office/drawing/2014/main" id="{7A4CD713-A07B-2C9E-021D-51E6B2AF6E1E}"/>
              </a:ext>
            </a:extLst>
          </p:cNvPr>
          <p:cNvGraphicFramePr>
            <a:graphicFrameLocks noGrp="1"/>
          </p:cNvGraphicFramePr>
          <p:nvPr/>
        </p:nvGraphicFramePr>
        <p:xfrm>
          <a:off x="3849761" y="2495434"/>
          <a:ext cx="4656650" cy="2301096"/>
        </p:xfrm>
        <a:graphic>
          <a:graphicData uri="http://schemas.openxmlformats.org/drawingml/2006/table">
            <a:tbl>
              <a:tblPr firstRow="1" bandRow="1">
                <a:tableStyleId>{5940675A-B579-460E-94D1-54222C63F5DA}</a:tableStyleId>
              </a:tblPr>
              <a:tblGrid>
                <a:gridCol w="1086049">
                  <a:extLst>
                    <a:ext uri="{9D8B030D-6E8A-4147-A177-3AD203B41FA5}">
                      <a16:colId xmlns:a16="http://schemas.microsoft.com/office/drawing/2014/main" val="1956025745"/>
                    </a:ext>
                  </a:extLst>
                </a:gridCol>
                <a:gridCol w="1352196">
                  <a:extLst>
                    <a:ext uri="{9D8B030D-6E8A-4147-A177-3AD203B41FA5}">
                      <a16:colId xmlns:a16="http://schemas.microsoft.com/office/drawing/2014/main" val="3203398356"/>
                    </a:ext>
                  </a:extLst>
                </a:gridCol>
                <a:gridCol w="1103271">
                  <a:extLst>
                    <a:ext uri="{9D8B030D-6E8A-4147-A177-3AD203B41FA5}">
                      <a16:colId xmlns:a16="http://schemas.microsoft.com/office/drawing/2014/main" val="1446089183"/>
                    </a:ext>
                  </a:extLst>
                </a:gridCol>
                <a:gridCol w="1115134">
                  <a:extLst>
                    <a:ext uri="{9D8B030D-6E8A-4147-A177-3AD203B41FA5}">
                      <a16:colId xmlns:a16="http://schemas.microsoft.com/office/drawing/2014/main" val="709289782"/>
                    </a:ext>
                  </a:extLst>
                </a:gridCol>
              </a:tblGrid>
              <a:tr h="693632">
                <a:tc>
                  <a:txBody>
                    <a:bodyPr/>
                    <a:lstStyle/>
                    <a:p>
                      <a:r>
                        <a:rPr kumimoji="1" lang="en-US" altLang="ja-JP" dirty="0"/>
                        <a:t>Sepal</a:t>
                      </a:r>
                    </a:p>
                    <a:p>
                      <a:r>
                        <a:rPr kumimoji="1" lang="en-US" altLang="ja-JP" dirty="0"/>
                        <a:t>length</a:t>
                      </a:r>
                      <a:endParaRPr kumimoji="1" lang="ja-JP" altLang="en-US" dirty="0"/>
                    </a:p>
                  </a:txBody>
                  <a:tcPr/>
                </a:tc>
                <a:tc>
                  <a:txBody>
                    <a:bodyPr/>
                    <a:lstStyle/>
                    <a:p>
                      <a:r>
                        <a:rPr kumimoji="1" lang="en-US" altLang="ja-JP" dirty="0"/>
                        <a:t>Sepal </a:t>
                      </a:r>
                    </a:p>
                    <a:p>
                      <a:r>
                        <a:rPr kumimoji="1" lang="en-US" altLang="ja-JP" dirty="0"/>
                        <a:t>width</a:t>
                      </a:r>
                      <a:endParaRPr kumimoji="1" lang="ja-JP" altLang="en-US" dirty="0"/>
                    </a:p>
                  </a:txBody>
                  <a:tcPr/>
                </a:tc>
                <a:tc>
                  <a:txBody>
                    <a:bodyPr/>
                    <a:lstStyle/>
                    <a:p>
                      <a:r>
                        <a:rPr kumimoji="1" lang="en-US" altLang="ja-JP" dirty="0"/>
                        <a:t>Petal </a:t>
                      </a:r>
                    </a:p>
                    <a:p>
                      <a:r>
                        <a:rPr kumimoji="1" lang="en-US" altLang="ja-JP" dirty="0"/>
                        <a:t>length</a:t>
                      </a:r>
                      <a:endParaRPr kumimoji="1" lang="ja-JP" altLang="en-US" dirty="0"/>
                    </a:p>
                  </a:txBody>
                  <a:tcPr/>
                </a:tc>
                <a:tc>
                  <a:txBody>
                    <a:bodyPr/>
                    <a:lstStyle/>
                    <a:p>
                      <a:r>
                        <a:rPr kumimoji="1" lang="en-US" altLang="ja-JP" dirty="0"/>
                        <a:t>Petal</a:t>
                      </a:r>
                    </a:p>
                    <a:p>
                      <a:r>
                        <a:rPr kumimoji="1" lang="en-US" altLang="ja-JP" dirty="0"/>
                        <a:t>width</a:t>
                      </a:r>
                      <a:endParaRPr kumimoji="1" lang="ja-JP" altLang="en-US" dirty="0"/>
                    </a:p>
                  </a:txBody>
                  <a:tcPr/>
                </a:tc>
                <a:extLst>
                  <a:ext uri="{0D108BD9-81ED-4DB2-BD59-A6C34878D82A}">
                    <a16:rowId xmlns:a16="http://schemas.microsoft.com/office/drawing/2014/main" val="1754640250"/>
                  </a:ext>
                </a:extLst>
              </a:tr>
              <a:tr h="401866">
                <a:tc>
                  <a:txBody>
                    <a:bodyPr/>
                    <a:lstStyle/>
                    <a:p>
                      <a:pPr algn="r"/>
                      <a:r>
                        <a:rPr kumimoji="1" lang="en-US" altLang="ja-JP" dirty="0"/>
                        <a:t>5.1</a:t>
                      </a:r>
                      <a:endParaRPr kumimoji="1" lang="ja-JP" altLang="en-US" dirty="0"/>
                    </a:p>
                  </a:txBody>
                  <a:tcPr/>
                </a:tc>
                <a:tc>
                  <a:txBody>
                    <a:bodyPr/>
                    <a:lstStyle/>
                    <a:p>
                      <a:pPr algn="r"/>
                      <a:r>
                        <a:rPr kumimoji="1" lang="en-US" altLang="ja-JP" dirty="0"/>
                        <a:t>3.5</a:t>
                      </a:r>
                      <a:endParaRPr kumimoji="1" lang="ja-JP" altLang="en-US" dirty="0"/>
                    </a:p>
                  </a:txBody>
                  <a:tcPr/>
                </a:tc>
                <a:tc>
                  <a:txBody>
                    <a:bodyPr/>
                    <a:lstStyle/>
                    <a:p>
                      <a:pPr algn="r"/>
                      <a:r>
                        <a:rPr kumimoji="1" lang="en-US" altLang="ja-JP" dirty="0"/>
                        <a:t>1.4</a:t>
                      </a:r>
                      <a:endParaRPr kumimoji="1" lang="ja-JP" altLang="en-US" dirty="0"/>
                    </a:p>
                  </a:txBody>
                  <a:tcPr/>
                </a:tc>
                <a:tc>
                  <a:txBody>
                    <a:bodyPr/>
                    <a:lstStyle/>
                    <a:p>
                      <a:pPr algn="r"/>
                      <a:r>
                        <a:rPr kumimoji="1" lang="en-US" altLang="ja-JP" dirty="0"/>
                        <a:t>0.2</a:t>
                      </a:r>
                      <a:endParaRPr kumimoji="1" lang="ja-JP" altLang="en-US" dirty="0"/>
                    </a:p>
                  </a:txBody>
                  <a:tcPr/>
                </a:tc>
                <a:extLst>
                  <a:ext uri="{0D108BD9-81ED-4DB2-BD59-A6C34878D82A}">
                    <a16:rowId xmlns:a16="http://schemas.microsoft.com/office/drawing/2014/main" val="4085924178"/>
                  </a:ext>
                </a:extLst>
              </a:tr>
              <a:tr h="401866">
                <a:tc>
                  <a:txBody>
                    <a:bodyPr/>
                    <a:lstStyle/>
                    <a:p>
                      <a:pPr algn="r"/>
                      <a:r>
                        <a:rPr kumimoji="1" lang="en-US" altLang="ja-JP" dirty="0"/>
                        <a:t>4.9</a:t>
                      </a:r>
                      <a:endParaRPr kumimoji="1" lang="ja-JP" altLang="en-US" dirty="0"/>
                    </a:p>
                  </a:txBody>
                  <a:tcPr/>
                </a:tc>
                <a:tc>
                  <a:txBody>
                    <a:bodyPr/>
                    <a:lstStyle/>
                    <a:p>
                      <a:pPr algn="r"/>
                      <a:r>
                        <a:rPr kumimoji="1" lang="en-US" altLang="ja-JP" dirty="0"/>
                        <a:t>3</a:t>
                      </a:r>
                      <a:endParaRPr kumimoji="1" lang="ja-JP" altLang="en-US" dirty="0"/>
                    </a:p>
                  </a:txBody>
                  <a:tcPr/>
                </a:tc>
                <a:tc>
                  <a:txBody>
                    <a:bodyPr/>
                    <a:lstStyle/>
                    <a:p>
                      <a:pPr algn="r"/>
                      <a:r>
                        <a:rPr kumimoji="1" lang="en-US" altLang="ja-JP" dirty="0"/>
                        <a:t>1.4</a:t>
                      </a:r>
                      <a:endParaRPr kumimoji="1" lang="ja-JP" altLang="en-US" dirty="0"/>
                    </a:p>
                  </a:txBody>
                  <a:tcPr/>
                </a:tc>
                <a:tc>
                  <a:txBody>
                    <a:bodyPr/>
                    <a:lstStyle/>
                    <a:p>
                      <a:pPr algn="r"/>
                      <a:r>
                        <a:rPr kumimoji="1" lang="en-US" altLang="ja-JP" dirty="0"/>
                        <a:t>0.2</a:t>
                      </a:r>
                      <a:endParaRPr kumimoji="1" lang="ja-JP" altLang="en-US" dirty="0"/>
                    </a:p>
                  </a:txBody>
                  <a:tcPr/>
                </a:tc>
                <a:extLst>
                  <a:ext uri="{0D108BD9-81ED-4DB2-BD59-A6C34878D82A}">
                    <a16:rowId xmlns:a16="http://schemas.microsoft.com/office/drawing/2014/main" val="1285687201"/>
                  </a:ext>
                </a:extLst>
              </a:tr>
              <a:tr h="401866">
                <a:tc>
                  <a:txBody>
                    <a:bodyPr/>
                    <a:lstStyle/>
                    <a:p>
                      <a:pPr algn="r"/>
                      <a:r>
                        <a:rPr kumimoji="1" lang="en-US" altLang="ja-JP" dirty="0"/>
                        <a:t>4.7</a:t>
                      </a:r>
                      <a:endParaRPr kumimoji="1" lang="ja-JP" altLang="en-US" dirty="0"/>
                    </a:p>
                  </a:txBody>
                  <a:tcPr/>
                </a:tc>
                <a:tc>
                  <a:txBody>
                    <a:bodyPr/>
                    <a:lstStyle/>
                    <a:p>
                      <a:pPr algn="r"/>
                      <a:r>
                        <a:rPr kumimoji="1" lang="en-US" altLang="ja-JP" dirty="0"/>
                        <a:t>3.2</a:t>
                      </a:r>
                      <a:endParaRPr kumimoji="1" lang="ja-JP" altLang="en-US" dirty="0"/>
                    </a:p>
                  </a:txBody>
                  <a:tcPr/>
                </a:tc>
                <a:tc>
                  <a:txBody>
                    <a:bodyPr/>
                    <a:lstStyle/>
                    <a:p>
                      <a:pPr algn="r"/>
                      <a:r>
                        <a:rPr kumimoji="1" lang="en-US" altLang="ja-JP" dirty="0"/>
                        <a:t>1.3</a:t>
                      </a:r>
                      <a:endParaRPr kumimoji="1" lang="ja-JP" altLang="en-US" dirty="0"/>
                    </a:p>
                  </a:txBody>
                  <a:tcPr/>
                </a:tc>
                <a:tc>
                  <a:txBody>
                    <a:bodyPr/>
                    <a:lstStyle/>
                    <a:p>
                      <a:pPr algn="r"/>
                      <a:r>
                        <a:rPr kumimoji="1" lang="en-US" altLang="ja-JP" dirty="0"/>
                        <a:t>0.2</a:t>
                      </a:r>
                      <a:endParaRPr kumimoji="1" lang="ja-JP" altLang="en-US" dirty="0"/>
                    </a:p>
                  </a:txBody>
                  <a:tcPr/>
                </a:tc>
                <a:extLst>
                  <a:ext uri="{0D108BD9-81ED-4DB2-BD59-A6C34878D82A}">
                    <a16:rowId xmlns:a16="http://schemas.microsoft.com/office/drawing/2014/main" val="499958160"/>
                  </a:ext>
                </a:extLst>
              </a:tr>
              <a:tr h="401866">
                <a:tc>
                  <a:txBody>
                    <a:bodyPr/>
                    <a:lstStyle/>
                    <a:p>
                      <a:pPr algn="r"/>
                      <a:r>
                        <a:rPr kumimoji="1" lang="en-US" altLang="ja-JP" dirty="0"/>
                        <a:t>4.6</a:t>
                      </a:r>
                      <a:endParaRPr kumimoji="1" lang="ja-JP" altLang="en-US" dirty="0"/>
                    </a:p>
                  </a:txBody>
                  <a:tcPr/>
                </a:tc>
                <a:tc>
                  <a:txBody>
                    <a:bodyPr/>
                    <a:lstStyle/>
                    <a:p>
                      <a:pPr algn="r"/>
                      <a:r>
                        <a:rPr kumimoji="1" lang="en-US" altLang="ja-JP" dirty="0"/>
                        <a:t>3.1</a:t>
                      </a:r>
                      <a:endParaRPr kumimoji="1" lang="ja-JP" altLang="en-US" dirty="0"/>
                    </a:p>
                  </a:txBody>
                  <a:tcPr/>
                </a:tc>
                <a:tc>
                  <a:txBody>
                    <a:bodyPr/>
                    <a:lstStyle/>
                    <a:p>
                      <a:pPr algn="r"/>
                      <a:r>
                        <a:rPr kumimoji="1" lang="en-US" altLang="ja-JP" dirty="0"/>
                        <a:t>1.5</a:t>
                      </a:r>
                      <a:endParaRPr kumimoji="1" lang="ja-JP" altLang="en-US" dirty="0"/>
                    </a:p>
                  </a:txBody>
                  <a:tcPr/>
                </a:tc>
                <a:tc>
                  <a:txBody>
                    <a:bodyPr/>
                    <a:lstStyle/>
                    <a:p>
                      <a:pPr algn="r"/>
                      <a:r>
                        <a:rPr kumimoji="1" lang="en-US" altLang="ja-JP" dirty="0"/>
                        <a:t>0.2</a:t>
                      </a:r>
                      <a:endParaRPr kumimoji="1" lang="ja-JP" altLang="en-US" dirty="0"/>
                    </a:p>
                  </a:txBody>
                  <a:tcPr/>
                </a:tc>
                <a:extLst>
                  <a:ext uri="{0D108BD9-81ED-4DB2-BD59-A6C34878D82A}">
                    <a16:rowId xmlns:a16="http://schemas.microsoft.com/office/drawing/2014/main" val="4258993518"/>
                  </a:ext>
                </a:extLst>
              </a:tr>
            </a:tbl>
          </a:graphicData>
        </a:graphic>
      </p:graphicFrame>
      <p:graphicFrame>
        <p:nvGraphicFramePr>
          <p:cNvPr id="4" name="表 3">
            <a:extLst>
              <a:ext uri="{FF2B5EF4-FFF2-40B4-BE49-F238E27FC236}">
                <a16:creationId xmlns:a16="http://schemas.microsoft.com/office/drawing/2014/main" id="{A2101820-3BEC-BB5C-6A7B-9576AA41446D}"/>
              </a:ext>
            </a:extLst>
          </p:cNvPr>
          <p:cNvGraphicFramePr>
            <a:graphicFrameLocks noGrp="1"/>
          </p:cNvGraphicFramePr>
          <p:nvPr/>
        </p:nvGraphicFramePr>
        <p:xfrm>
          <a:off x="2384377" y="2764676"/>
          <a:ext cx="1252692" cy="2031855"/>
        </p:xfrm>
        <a:graphic>
          <a:graphicData uri="http://schemas.openxmlformats.org/drawingml/2006/table">
            <a:tbl>
              <a:tblPr firstRow="1" bandRow="1">
                <a:tableStyleId>{5940675A-B579-460E-94D1-54222C63F5DA}</a:tableStyleId>
              </a:tblPr>
              <a:tblGrid>
                <a:gridCol w="1252692">
                  <a:extLst>
                    <a:ext uri="{9D8B030D-6E8A-4147-A177-3AD203B41FA5}">
                      <a16:colId xmlns:a16="http://schemas.microsoft.com/office/drawing/2014/main" val="136106727"/>
                    </a:ext>
                  </a:extLst>
                </a:gridCol>
              </a:tblGrid>
              <a:tr h="406371">
                <a:tc>
                  <a:txBody>
                    <a:bodyPr/>
                    <a:lstStyle/>
                    <a:p>
                      <a:r>
                        <a:rPr kumimoji="1" lang="ja-JP" altLang="en-US" sz="1600" dirty="0"/>
                        <a:t>品種ラベル</a:t>
                      </a:r>
                    </a:p>
                  </a:txBody>
                  <a:tcPr/>
                </a:tc>
                <a:extLst>
                  <a:ext uri="{0D108BD9-81ED-4DB2-BD59-A6C34878D82A}">
                    <a16:rowId xmlns:a16="http://schemas.microsoft.com/office/drawing/2014/main" val="1312683392"/>
                  </a:ext>
                </a:extLst>
              </a:tr>
              <a:tr h="406371">
                <a:tc>
                  <a:txBody>
                    <a:bodyPr/>
                    <a:lstStyle/>
                    <a:p>
                      <a:r>
                        <a:rPr kumimoji="1" lang="en-US" altLang="ja-JP" dirty="0"/>
                        <a:t>0</a:t>
                      </a:r>
                      <a:endParaRPr kumimoji="1" lang="ja-JP" altLang="en-US" dirty="0"/>
                    </a:p>
                  </a:txBody>
                  <a:tcPr/>
                </a:tc>
                <a:extLst>
                  <a:ext uri="{0D108BD9-81ED-4DB2-BD59-A6C34878D82A}">
                    <a16:rowId xmlns:a16="http://schemas.microsoft.com/office/drawing/2014/main" val="3736312713"/>
                  </a:ext>
                </a:extLst>
              </a:tr>
              <a:tr h="406371">
                <a:tc>
                  <a:txBody>
                    <a:bodyPr/>
                    <a:lstStyle/>
                    <a:p>
                      <a:r>
                        <a:rPr kumimoji="1" lang="en-US" altLang="ja-JP" dirty="0"/>
                        <a:t>0</a:t>
                      </a:r>
                      <a:endParaRPr kumimoji="1" lang="ja-JP" altLang="en-US" dirty="0"/>
                    </a:p>
                  </a:txBody>
                  <a:tcPr/>
                </a:tc>
                <a:extLst>
                  <a:ext uri="{0D108BD9-81ED-4DB2-BD59-A6C34878D82A}">
                    <a16:rowId xmlns:a16="http://schemas.microsoft.com/office/drawing/2014/main" val="2575363969"/>
                  </a:ext>
                </a:extLst>
              </a:tr>
              <a:tr h="406371">
                <a:tc>
                  <a:txBody>
                    <a:bodyPr/>
                    <a:lstStyle/>
                    <a:p>
                      <a:r>
                        <a:rPr kumimoji="1" lang="en-US" altLang="ja-JP" dirty="0"/>
                        <a:t>2</a:t>
                      </a:r>
                      <a:endParaRPr kumimoji="1" lang="ja-JP" altLang="en-US" dirty="0"/>
                    </a:p>
                  </a:txBody>
                  <a:tcPr/>
                </a:tc>
                <a:extLst>
                  <a:ext uri="{0D108BD9-81ED-4DB2-BD59-A6C34878D82A}">
                    <a16:rowId xmlns:a16="http://schemas.microsoft.com/office/drawing/2014/main" val="1277393644"/>
                  </a:ext>
                </a:extLst>
              </a:tr>
              <a:tr h="406371">
                <a:tc>
                  <a:txBody>
                    <a:bodyPr/>
                    <a:lstStyle/>
                    <a:p>
                      <a:r>
                        <a:rPr kumimoji="1" lang="en-US" altLang="ja-JP" dirty="0"/>
                        <a:t>1</a:t>
                      </a:r>
                      <a:endParaRPr kumimoji="1" lang="ja-JP" altLang="en-US" dirty="0"/>
                    </a:p>
                  </a:txBody>
                  <a:tcPr/>
                </a:tc>
                <a:extLst>
                  <a:ext uri="{0D108BD9-81ED-4DB2-BD59-A6C34878D82A}">
                    <a16:rowId xmlns:a16="http://schemas.microsoft.com/office/drawing/2014/main" val="3575396391"/>
                  </a:ext>
                </a:extLst>
              </a:tr>
            </a:tbl>
          </a:graphicData>
        </a:graphic>
      </p:graphicFrame>
      <p:sp>
        <p:nvSpPr>
          <p:cNvPr id="5" name="テキスト ボックス 4">
            <a:extLst>
              <a:ext uri="{FF2B5EF4-FFF2-40B4-BE49-F238E27FC236}">
                <a16:creationId xmlns:a16="http://schemas.microsoft.com/office/drawing/2014/main" id="{348D21A3-7A7E-CEEC-8980-927960629688}"/>
              </a:ext>
            </a:extLst>
          </p:cNvPr>
          <p:cNvSpPr txBox="1"/>
          <p:nvPr/>
        </p:nvSpPr>
        <p:spPr>
          <a:xfrm>
            <a:off x="4206240" y="2130552"/>
            <a:ext cx="3760966" cy="461665"/>
          </a:xfrm>
          <a:prstGeom prst="rect">
            <a:avLst/>
          </a:prstGeom>
          <a:noFill/>
        </p:spPr>
        <p:txBody>
          <a:bodyPr wrap="none" rtlCol="0">
            <a:spAutoFit/>
          </a:bodyPr>
          <a:lstStyle/>
          <a:p>
            <a:pPr algn="l"/>
            <a:r>
              <a:rPr lang="en-US" altLang="ja-JP" sz="2400" dirty="0">
                <a:latin typeface="メイリオ" panose="020B0604030504040204" pitchFamily="50" charset="-128"/>
                <a:ea typeface="メイリオ" panose="020B0604030504040204" pitchFamily="50" charset="-128"/>
              </a:rPr>
              <a:t>0         1           2       3</a:t>
            </a:r>
            <a:endParaRPr kumimoji="1" lang="ja-JP" altLang="en-US" sz="24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802C93FE-6C5F-8AFE-969B-4C8474067E56}"/>
              </a:ext>
            </a:extLst>
          </p:cNvPr>
          <p:cNvSpPr txBox="1"/>
          <p:nvPr/>
        </p:nvSpPr>
        <p:spPr>
          <a:xfrm>
            <a:off x="2444662" y="2130552"/>
            <a:ext cx="1298753"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列</a:t>
            </a:r>
            <a:r>
              <a:rPr kumimoji="1" lang="en-US" altLang="ja-JP" sz="2400" dirty="0">
                <a:latin typeface="メイリオ" panose="020B0604030504040204" pitchFamily="50" charset="-128"/>
                <a:ea typeface="メイリオ" panose="020B0604030504040204" pitchFamily="50" charset="-128"/>
              </a:rPr>
              <a:t>index</a:t>
            </a:r>
            <a:endParaRPr kumimoji="1" lang="ja-JP" altLang="en-US" sz="2400"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8FC899A2-F455-4B40-60BD-872ED131C878}"/>
              </a:ext>
            </a:extLst>
          </p:cNvPr>
          <p:cNvSpPr txBox="1"/>
          <p:nvPr/>
        </p:nvSpPr>
        <p:spPr>
          <a:xfrm>
            <a:off x="1950697" y="3093860"/>
            <a:ext cx="327334" cy="2135200"/>
          </a:xfrm>
          <a:prstGeom prst="rect">
            <a:avLst/>
          </a:prstGeom>
          <a:noFill/>
        </p:spPr>
        <p:txBody>
          <a:bodyPr wrap="none" rtlCol="0">
            <a:spAutoFit/>
          </a:bodyPr>
          <a:lstStyle/>
          <a:p>
            <a:pPr algn="l">
              <a:lnSpc>
                <a:spcPct val="150000"/>
              </a:lnSpc>
            </a:pPr>
            <a:r>
              <a:rPr kumimoji="1" lang="en-US" altLang="ja-JP" dirty="0">
                <a:latin typeface="メイリオ" panose="020B0604030504040204" pitchFamily="50" charset="-128"/>
                <a:ea typeface="メイリオ" panose="020B0604030504040204" pitchFamily="50" charset="-128"/>
              </a:rPr>
              <a:t>0</a:t>
            </a:r>
          </a:p>
          <a:p>
            <a:pPr algn="l">
              <a:lnSpc>
                <a:spcPct val="150000"/>
              </a:lnSpc>
            </a:pPr>
            <a:r>
              <a:rPr lang="en-US" altLang="ja-JP" dirty="0">
                <a:latin typeface="メイリオ" panose="020B0604030504040204" pitchFamily="50" charset="-128"/>
                <a:ea typeface="メイリオ" panose="020B0604030504040204" pitchFamily="50" charset="-128"/>
              </a:rPr>
              <a:t>1</a:t>
            </a:r>
          </a:p>
          <a:p>
            <a:pPr algn="l">
              <a:lnSpc>
                <a:spcPct val="150000"/>
              </a:lnSpc>
            </a:pPr>
            <a:r>
              <a:rPr kumimoji="1" lang="en-US" altLang="ja-JP" dirty="0">
                <a:latin typeface="メイリオ" panose="020B0604030504040204" pitchFamily="50" charset="-128"/>
                <a:ea typeface="メイリオ" panose="020B0604030504040204" pitchFamily="50" charset="-128"/>
              </a:rPr>
              <a:t>2</a:t>
            </a:r>
          </a:p>
          <a:p>
            <a:pPr algn="l">
              <a:lnSpc>
                <a:spcPct val="150000"/>
              </a:lnSpc>
            </a:pPr>
            <a:r>
              <a:rPr lang="en-US" altLang="ja-JP" dirty="0">
                <a:latin typeface="メイリオ" panose="020B0604030504040204" pitchFamily="50" charset="-128"/>
                <a:ea typeface="メイリオ" panose="020B0604030504040204" pitchFamily="50" charset="-128"/>
              </a:rPr>
              <a:t>3</a:t>
            </a:r>
          </a:p>
          <a:p>
            <a:pPr algn="l">
              <a:lnSpc>
                <a:spcPct val="150000"/>
              </a:lnSpc>
            </a:pPr>
            <a:endParaRPr kumimoji="1" lang="ja-JP" altLang="en-US"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4A216A58-241D-381F-C6CD-2AC214FB5D6D}"/>
              </a:ext>
            </a:extLst>
          </p:cNvPr>
          <p:cNvSpPr txBox="1"/>
          <p:nvPr/>
        </p:nvSpPr>
        <p:spPr>
          <a:xfrm>
            <a:off x="436248" y="3699795"/>
            <a:ext cx="1298753"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行</a:t>
            </a:r>
            <a:r>
              <a:rPr kumimoji="1" lang="en-US" altLang="ja-JP" sz="2400" dirty="0">
                <a:latin typeface="メイリオ" panose="020B0604030504040204" pitchFamily="50" charset="-128"/>
                <a:ea typeface="メイリオ" panose="020B0604030504040204" pitchFamily="50" charset="-128"/>
              </a:rPr>
              <a:t>index</a:t>
            </a:r>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72728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A7D8C4C-30AA-73B8-B6C6-1CB4CEAACE16}"/>
              </a:ext>
            </a:extLst>
          </p:cNvPr>
          <p:cNvSpPr txBox="1"/>
          <p:nvPr/>
        </p:nvSpPr>
        <p:spPr>
          <a:xfrm>
            <a:off x="522514" y="513184"/>
            <a:ext cx="5675721"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準備：</a:t>
            </a:r>
            <a:r>
              <a:rPr kumimoji="1" lang="en-US" altLang="ja-JP" sz="3200" dirty="0">
                <a:latin typeface="メイリオ" panose="020B0604030504040204" pitchFamily="50" charset="-128"/>
                <a:ea typeface="メイリオ" panose="020B0604030504040204" pitchFamily="50" charset="-128"/>
              </a:rPr>
              <a:t>python</a:t>
            </a:r>
            <a:r>
              <a:rPr kumimoji="1" lang="ja-JP" altLang="en-US" sz="3200" dirty="0">
                <a:latin typeface="メイリオ" panose="020B0604030504040204" pitchFamily="50" charset="-128"/>
                <a:ea typeface="メイリオ" panose="020B0604030504040204" pitchFamily="50" charset="-128"/>
              </a:rPr>
              <a:t>による行列計算</a:t>
            </a:r>
          </a:p>
        </p:txBody>
      </p:sp>
      <p:sp>
        <p:nvSpPr>
          <p:cNvPr id="3" name="テキスト ボックス 2">
            <a:extLst>
              <a:ext uri="{FF2B5EF4-FFF2-40B4-BE49-F238E27FC236}">
                <a16:creationId xmlns:a16="http://schemas.microsoft.com/office/drawing/2014/main" id="{AB077926-5A41-678B-4463-52D8A2CABE0D}"/>
              </a:ext>
            </a:extLst>
          </p:cNvPr>
          <p:cNvSpPr txBox="1"/>
          <p:nvPr/>
        </p:nvSpPr>
        <p:spPr>
          <a:xfrm>
            <a:off x="522514" y="1097959"/>
            <a:ext cx="7381636"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Python</a:t>
            </a:r>
            <a:r>
              <a:rPr kumimoji="1" lang="ja-JP" altLang="en-US" sz="2400" dirty="0">
                <a:latin typeface="メイリオ" panose="020B0604030504040204" pitchFamily="50" charset="-128"/>
                <a:ea typeface="メイリオ" panose="020B0604030504040204" pitchFamily="50" charset="-128"/>
              </a:rPr>
              <a:t>での行列計算は以下の２つのデータ型による</a:t>
            </a:r>
          </a:p>
        </p:txBody>
      </p:sp>
      <p:sp>
        <p:nvSpPr>
          <p:cNvPr id="4" name="テキスト ボックス 3">
            <a:extLst>
              <a:ext uri="{FF2B5EF4-FFF2-40B4-BE49-F238E27FC236}">
                <a16:creationId xmlns:a16="http://schemas.microsoft.com/office/drawing/2014/main" id="{7411E07C-C40F-CC2D-B895-FA5B812EB995}"/>
              </a:ext>
            </a:extLst>
          </p:cNvPr>
          <p:cNvSpPr txBox="1"/>
          <p:nvPr/>
        </p:nvSpPr>
        <p:spPr>
          <a:xfrm>
            <a:off x="995902" y="1929795"/>
            <a:ext cx="3273525" cy="461665"/>
          </a:xfrm>
          <a:prstGeom prst="rect">
            <a:avLst/>
          </a:prstGeom>
          <a:noFill/>
        </p:spPr>
        <p:txBody>
          <a:bodyPr wrap="none" rtlCol="0">
            <a:spAutoFit/>
          </a:bodyPr>
          <a:lstStyle/>
          <a:p>
            <a:pPr algn="l"/>
            <a:r>
              <a:rPr kumimoji="1" lang="en-US" altLang="ja-JP" sz="2400" dirty="0" err="1">
                <a:latin typeface="メイリオ" panose="020B0604030504040204" pitchFamily="50" charset="-128"/>
                <a:ea typeface="メイリオ" panose="020B0604030504040204" pitchFamily="50" charset="-128"/>
              </a:rPr>
              <a:t>DataFrame</a:t>
            </a:r>
            <a:r>
              <a:rPr kumimoji="1" lang="en-US" altLang="ja-JP" sz="2400" dirty="0">
                <a:latin typeface="メイリオ" panose="020B0604030504040204" pitchFamily="50" charset="-128"/>
                <a:ea typeface="メイリオ" panose="020B0604030504040204" pitchFamily="50" charset="-128"/>
              </a:rPr>
              <a:t> (Pandas)</a:t>
            </a:r>
            <a:endParaRPr kumimoji="1" lang="ja-JP" altLang="en-US" sz="2400"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E0DE336-E486-5DA7-7AA5-E0FEDC093A6B}"/>
              </a:ext>
            </a:extLst>
          </p:cNvPr>
          <p:cNvSpPr txBox="1"/>
          <p:nvPr/>
        </p:nvSpPr>
        <p:spPr>
          <a:xfrm>
            <a:off x="995902" y="2437723"/>
            <a:ext cx="4147739" cy="461665"/>
          </a:xfrm>
          <a:prstGeom prst="rect">
            <a:avLst/>
          </a:prstGeom>
          <a:noFill/>
        </p:spPr>
        <p:txBody>
          <a:bodyPr wrap="none" rtlCol="0">
            <a:spAutoFit/>
          </a:bodyPr>
          <a:lstStyle/>
          <a:p>
            <a:pPr algn="l"/>
            <a:r>
              <a:rPr kumimoji="1" lang="en-US" altLang="ja-JP" sz="2400" dirty="0" err="1">
                <a:latin typeface="メイリオ" panose="020B0604030504040204" pitchFamily="50" charset="-128"/>
                <a:ea typeface="メイリオ" panose="020B0604030504040204" pitchFamily="50" charset="-128"/>
              </a:rPr>
              <a:t>Numpy</a:t>
            </a:r>
            <a:r>
              <a:rPr kumimoji="1" lang="en-US" altLang="ja-JP" sz="2400" dirty="0">
                <a:latin typeface="メイリオ" panose="020B0604030504040204" pitchFamily="50" charset="-128"/>
                <a:ea typeface="メイリオ" panose="020B0604030504040204" pitchFamily="50" charset="-128"/>
              </a:rPr>
              <a:t>(numerical python)</a:t>
            </a:r>
            <a:endParaRPr kumimoji="1" lang="ja-JP" altLang="en-US" sz="2400" dirty="0">
              <a:latin typeface="メイリオ" panose="020B0604030504040204" pitchFamily="50" charset="-128"/>
              <a:ea typeface="メイリオ" panose="020B0604030504040204" pitchFamily="50" charset="-128"/>
            </a:endParaRPr>
          </a:p>
        </p:txBody>
      </p:sp>
      <p:pic>
        <p:nvPicPr>
          <p:cNvPr id="6" name="Picture 2" descr="Jupyter Notebookの後継？Jupyter Labをつかってみた - いっきのblog">
            <a:extLst>
              <a:ext uri="{FF2B5EF4-FFF2-40B4-BE49-F238E27FC236}">
                <a16:creationId xmlns:a16="http://schemas.microsoft.com/office/drawing/2014/main" id="{66BAE7C1-2EF3-7447-9C21-0123C69BC6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30691" y="257739"/>
            <a:ext cx="1191086" cy="1301885"/>
          </a:xfrm>
          <a:prstGeom prst="rect">
            <a:avLst/>
          </a:prstGeom>
          <a:noFill/>
          <a:extLst>
            <a:ext uri="{909E8E84-426E-40DD-AFC4-6F175D3DCCD1}">
              <a14:hiddenFill xmlns:a14="http://schemas.microsoft.com/office/drawing/2010/main">
                <a:solidFill>
                  <a:srgbClr val="FFFFFF"/>
                </a:solidFill>
              </a14:hiddenFill>
            </a:ext>
          </a:extLst>
        </p:spPr>
      </p:pic>
      <p:sp>
        <p:nvSpPr>
          <p:cNvPr id="7" name="テキスト ボックス 6">
            <a:extLst>
              <a:ext uri="{FF2B5EF4-FFF2-40B4-BE49-F238E27FC236}">
                <a16:creationId xmlns:a16="http://schemas.microsoft.com/office/drawing/2014/main" id="{807659C7-8F39-0E99-F438-FA9A2B7EB864}"/>
              </a:ext>
            </a:extLst>
          </p:cNvPr>
          <p:cNvSpPr txBox="1"/>
          <p:nvPr/>
        </p:nvSpPr>
        <p:spPr>
          <a:xfrm>
            <a:off x="3191070" y="3546654"/>
            <a:ext cx="4953023" cy="461665"/>
          </a:xfrm>
          <a:prstGeom prst="rect">
            <a:avLst/>
          </a:prstGeom>
          <a:noFill/>
        </p:spPr>
        <p:txBody>
          <a:bodyPr wrap="none" rtlCol="0">
            <a:spAutoFit/>
          </a:bodyPr>
          <a:lstStyle/>
          <a:p>
            <a:pPr algn="l"/>
            <a:r>
              <a:rPr kumimoji="1" lang="en-US" altLang="ja-JP" sz="2400" dirty="0" err="1">
                <a:latin typeface="メイリオ" panose="020B0604030504040204" pitchFamily="50" charset="-128"/>
                <a:ea typeface="メイリオ" panose="020B0604030504040204" pitchFamily="50" charset="-128"/>
              </a:rPr>
              <a:t>Numpy</a:t>
            </a:r>
            <a:r>
              <a:rPr kumimoji="1" lang="ja-JP" altLang="en-US" sz="2400" dirty="0">
                <a:latin typeface="メイリオ" panose="020B0604030504040204" pitchFamily="50" charset="-128"/>
                <a:ea typeface="メイリオ" panose="020B0604030504040204" pitchFamily="50" charset="-128"/>
              </a:rPr>
              <a:t>の行列計算だけ簡単に復習</a:t>
            </a:r>
          </a:p>
        </p:txBody>
      </p:sp>
    </p:spTree>
    <p:extLst>
      <p:ext uri="{BB962C8B-B14F-4D97-AF65-F5344CB8AC3E}">
        <p14:creationId xmlns:p14="http://schemas.microsoft.com/office/powerpoint/2010/main" val="70706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a:extLst>
              <a:ext uri="{FF2B5EF4-FFF2-40B4-BE49-F238E27FC236}">
                <a16:creationId xmlns:a16="http://schemas.microsoft.com/office/drawing/2014/main" id="{6211CE06-2471-EEBA-499F-7FFF97A4F0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1660" y="910144"/>
            <a:ext cx="8083420" cy="606151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7FFB834A-1B6D-318D-96C8-B457C364DC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636" y="1223698"/>
            <a:ext cx="4933562" cy="2205302"/>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ボックス 1">
            <a:extLst>
              <a:ext uri="{FF2B5EF4-FFF2-40B4-BE49-F238E27FC236}">
                <a16:creationId xmlns:a16="http://schemas.microsoft.com/office/drawing/2014/main" id="{350CFE20-1610-4D27-95F3-564CE87F55C0}"/>
              </a:ext>
            </a:extLst>
          </p:cNvPr>
          <p:cNvSpPr txBox="1"/>
          <p:nvPr/>
        </p:nvSpPr>
        <p:spPr>
          <a:xfrm>
            <a:off x="422043" y="325369"/>
            <a:ext cx="4288353"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アイリスデータセット</a:t>
            </a:r>
          </a:p>
        </p:txBody>
      </p:sp>
      <p:sp>
        <p:nvSpPr>
          <p:cNvPr id="6" name="テキスト ボックス 5">
            <a:extLst>
              <a:ext uri="{FF2B5EF4-FFF2-40B4-BE49-F238E27FC236}">
                <a16:creationId xmlns:a16="http://schemas.microsoft.com/office/drawing/2014/main" id="{1E53715B-EA51-3077-C8B4-FB55116C2DAB}"/>
              </a:ext>
            </a:extLst>
          </p:cNvPr>
          <p:cNvSpPr txBox="1"/>
          <p:nvPr/>
        </p:nvSpPr>
        <p:spPr>
          <a:xfrm>
            <a:off x="422043" y="3429000"/>
            <a:ext cx="4429875" cy="923330"/>
          </a:xfrm>
          <a:prstGeom prst="rect">
            <a:avLst/>
          </a:prstGeom>
          <a:noFill/>
        </p:spPr>
        <p:txBody>
          <a:bodyPr wrap="square" rtlCol="0">
            <a:spAutoFit/>
          </a:bodyPr>
          <a:lstStyle/>
          <a:p>
            <a:pPr algn="l"/>
            <a:r>
              <a:rPr kumimoji="1" lang="en-US" altLang="ja-JP" dirty="0">
                <a:latin typeface="メイリオ" panose="020B0604030504040204" pitchFamily="50" charset="-128"/>
                <a:ea typeface="メイリオ" panose="020B0604030504040204" pitchFamily="50" charset="-128"/>
                <a:hlinkClick r:id="rId4"/>
              </a:rPr>
              <a:t>https://www.mghassany.com/courses/MLcourse/pw-6.html</a:t>
            </a:r>
            <a:endParaRPr kumimoji="1" lang="en-US" altLang="ja-JP" dirty="0">
              <a:latin typeface="メイリオ" panose="020B0604030504040204" pitchFamily="50" charset="-128"/>
              <a:ea typeface="メイリオ" panose="020B0604030504040204" pitchFamily="50" charset="-128"/>
            </a:endParaRPr>
          </a:p>
          <a:p>
            <a:pPr algn="l"/>
            <a:endParaRPr kumimoji="1" lang="ja-JP" altLang="en-US" dirty="0">
              <a:latin typeface="メイリオ" panose="020B0604030504040204" pitchFamily="50" charset="-128"/>
              <a:ea typeface="メイリオ" panose="020B0604030504040204" pitchFamily="50" charset="-128"/>
            </a:endParaRPr>
          </a:p>
        </p:txBody>
      </p:sp>
      <p:pic>
        <p:nvPicPr>
          <p:cNvPr id="7" name="Picture 2" descr="Jupyter Notebookの後継？Jupyter Labをつかってみた - いっきのblog">
            <a:extLst>
              <a:ext uri="{FF2B5EF4-FFF2-40B4-BE49-F238E27FC236}">
                <a16:creationId xmlns:a16="http://schemas.microsoft.com/office/drawing/2014/main" id="{92A22008-D866-4E61-14BB-F66EAB699E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30691" y="257739"/>
            <a:ext cx="1191086" cy="1301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9845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 4">
            <a:extLst>
              <a:ext uri="{FF2B5EF4-FFF2-40B4-BE49-F238E27FC236}">
                <a16:creationId xmlns:a16="http://schemas.microsoft.com/office/drawing/2014/main" id="{5A3DBE05-E088-4D4B-BBD2-7EDE9C0AF452}"/>
              </a:ext>
            </a:extLst>
          </p:cNvPr>
          <p:cNvGraphicFramePr>
            <a:graphicFrameLocks noGrp="1"/>
          </p:cNvGraphicFramePr>
          <p:nvPr/>
        </p:nvGraphicFramePr>
        <p:xfrm>
          <a:off x="2984269" y="2630474"/>
          <a:ext cx="4625833" cy="2301096"/>
        </p:xfrm>
        <a:graphic>
          <a:graphicData uri="http://schemas.openxmlformats.org/drawingml/2006/table">
            <a:tbl>
              <a:tblPr firstRow="1" bandRow="1">
                <a:tableStyleId>{5940675A-B579-460E-94D1-54222C63F5DA}</a:tableStyleId>
              </a:tblPr>
              <a:tblGrid>
                <a:gridCol w="1055232">
                  <a:extLst>
                    <a:ext uri="{9D8B030D-6E8A-4147-A177-3AD203B41FA5}">
                      <a16:colId xmlns:a16="http://schemas.microsoft.com/office/drawing/2014/main" val="1956025745"/>
                    </a:ext>
                  </a:extLst>
                </a:gridCol>
                <a:gridCol w="1352196">
                  <a:extLst>
                    <a:ext uri="{9D8B030D-6E8A-4147-A177-3AD203B41FA5}">
                      <a16:colId xmlns:a16="http://schemas.microsoft.com/office/drawing/2014/main" val="3203398356"/>
                    </a:ext>
                  </a:extLst>
                </a:gridCol>
                <a:gridCol w="1103271">
                  <a:extLst>
                    <a:ext uri="{9D8B030D-6E8A-4147-A177-3AD203B41FA5}">
                      <a16:colId xmlns:a16="http://schemas.microsoft.com/office/drawing/2014/main" val="1446089183"/>
                    </a:ext>
                  </a:extLst>
                </a:gridCol>
                <a:gridCol w="1115134">
                  <a:extLst>
                    <a:ext uri="{9D8B030D-6E8A-4147-A177-3AD203B41FA5}">
                      <a16:colId xmlns:a16="http://schemas.microsoft.com/office/drawing/2014/main" val="709289782"/>
                    </a:ext>
                  </a:extLst>
                </a:gridCol>
              </a:tblGrid>
              <a:tr h="693632">
                <a:tc>
                  <a:txBody>
                    <a:bodyPr/>
                    <a:lstStyle/>
                    <a:p>
                      <a:r>
                        <a:rPr kumimoji="1" lang="en-US" altLang="ja-JP" dirty="0"/>
                        <a:t>Sepal</a:t>
                      </a:r>
                    </a:p>
                    <a:p>
                      <a:r>
                        <a:rPr kumimoji="1" lang="en-US" altLang="ja-JP" dirty="0"/>
                        <a:t>length</a:t>
                      </a:r>
                      <a:endParaRPr kumimoji="1" lang="ja-JP" altLang="en-US" dirty="0"/>
                    </a:p>
                  </a:txBody>
                  <a:tcPr/>
                </a:tc>
                <a:tc>
                  <a:txBody>
                    <a:bodyPr/>
                    <a:lstStyle/>
                    <a:p>
                      <a:r>
                        <a:rPr kumimoji="1" lang="en-US" altLang="ja-JP" dirty="0"/>
                        <a:t>Sepal </a:t>
                      </a:r>
                    </a:p>
                    <a:p>
                      <a:r>
                        <a:rPr kumimoji="1" lang="en-US" altLang="ja-JP" dirty="0"/>
                        <a:t>width</a:t>
                      </a:r>
                      <a:endParaRPr kumimoji="1" lang="ja-JP" altLang="en-US" dirty="0"/>
                    </a:p>
                  </a:txBody>
                  <a:tcPr/>
                </a:tc>
                <a:tc>
                  <a:txBody>
                    <a:bodyPr/>
                    <a:lstStyle/>
                    <a:p>
                      <a:r>
                        <a:rPr kumimoji="1" lang="en-US" altLang="ja-JP" dirty="0"/>
                        <a:t>Petal </a:t>
                      </a:r>
                    </a:p>
                    <a:p>
                      <a:r>
                        <a:rPr kumimoji="1" lang="en-US" altLang="ja-JP" dirty="0"/>
                        <a:t>length</a:t>
                      </a:r>
                      <a:endParaRPr kumimoji="1" lang="ja-JP" altLang="en-US" dirty="0"/>
                    </a:p>
                  </a:txBody>
                  <a:tcPr/>
                </a:tc>
                <a:tc>
                  <a:txBody>
                    <a:bodyPr/>
                    <a:lstStyle/>
                    <a:p>
                      <a:r>
                        <a:rPr kumimoji="1" lang="en-US" altLang="ja-JP" dirty="0"/>
                        <a:t>Petal</a:t>
                      </a:r>
                    </a:p>
                    <a:p>
                      <a:r>
                        <a:rPr kumimoji="1" lang="en-US" altLang="ja-JP" dirty="0"/>
                        <a:t>width</a:t>
                      </a:r>
                      <a:endParaRPr kumimoji="1" lang="ja-JP" altLang="en-US" dirty="0"/>
                    </a:p>
                  </a:txBody>
                  <a:tcPr/>
                </a:tc>
                <a:extLst>
                  <a:ext uri="{0D108BD9-81ED-4DB2-BD59-A6C34878D82A}">
                    <a16:rowId xmlns:a16="http://schemas.microsoft.com/office/drawing/2014/main" val="1754640250"/>
                  </a:ext>
                </a:extLst>
              </a:tr>
              <a:tr h="401866">
                <a:tc>
                  <a:txBody>
                    <a:bodyPr/>
                    <a:lstStyle/>
                    <a:p>
                      <a:pPr algn="r"/>
                      <a:r>
                        <a:rPr kumimoji="1" lang="en-US" altLang="ja-JP" dirty="0"/>
                        <a:t>5.1</a:t>
                      </a:r>
                      <a:endParaRPr kumimoji="1" lang="ja-JP" altLang="en-US" dirty="0"/>
                    </a:p>
                  </a:txBody>
                  <a:tcPr/>
                </a:tc>
                <a:tc>
                  <a:txBody>
                    <a:bodyPr/>
                    <a:lstStyle/>
                    <a:p>
                      <a:pPr algn="r"/>
                      <a:r>
                        <a:rPr kumimoji="1" lang="en-US" altLang="ja-JP" dirty="0"/>
                        <a:t>3.5</a:t>
                      </a:r>
                      <a:endParaRPr kumimoji="1" lang="ja-JP" altLang="en-US" dirty="0"/>
                    </a:p>
                  </a:txBody>
                  <a:tcPr/>
                </a:tc>
                <a:tc>
                  <a:txBody>
                    <a:bodyPr/>
                    <a:lstStyle/>
                    <a:p>
                      <a:pPr algn="r"/>
                      <a:r>
                        <a:rPr kumimoji="1" lang="en-US" altLang="ja-JP" dirty="0"/>
                        <a:t>1.4</a:t>
                      </a:r>
                      <a:endParaRPr kumimoji="1" lang="ja-JP" altLang="en-US" dirty="0"/>
                    </a:p>
                  </a:txBody>
                  <a:tcPr/>
                </a:tc>
                <a:tc>
                  <a:txBody>
                    <a:bodyPr/>
                    <a:lstStyle/>
                    <a:p>
                      <a:pPr algn="r"/>
                      <a:r>
                        <a:rPr kumimoji="1" lang="en-US" altLang="ja-JP" dirty="0"/>
                        <a:t>0.2</a:t>
                      </a:r>
                      <a:endParaRPr kumimoji="1" lang="ja-JP" altLang="en-US" dirty="0"/>
                    </a:p>
                  </a:txBody>
                  <a:tcPr/>
                </a:tc>
                <a:extLst>
                  <a:ext uri="{0D108BD9-81ED-4DB2-BD59-A6C34878D82A}">
                    <a16:rowId xmlns:a16="http://schemas.microsoft.com/office/drawing/2014/main" val="4085924178"/>
                  </a:ext>
                </a:extLst>
              </a:tr>
              <a:tr h="401866">
                <a:tc>
                  <a:txBody>
                    <a:bodyPr/>
                    <a:lstStyle/>
                    <a:p>
                      <a:pPr algn="r"/>
                      <a:r>
                        <a:rPr kumimoji="1" lang="en-US" altLang="ja-JP" dirty="0"/>
                        <a:t>4.9</a:t>
                      </a:r>
                      <a:endParaRPr kumimoji="1" lang="ja-JP" altLang="en-US" dirty="0"/>
                    </a:p>
                  </a:txBody>
                  <a:tcPr/>
                </a:tc>
                <a:tc>
                  <a:txBody>
                    <a:bodyPr/>
                    <a:lstStyle/>
                    <a:p>
                      <a:pPr algn="r"/>
                      <a:r>
                        <a:rPr kumimoji="1" lang="en-US" altLang="ja-JP" dirty="0"/>
                        <a:t>3</a:t>
                      </a:r>
                      <a:endParaRPr kumimoji="1" lang="ja-JP" altLang="en-US" dirty="0"/>
                    </a:p>
                  </a:txBody>
                  <a:tcPr/>
                </a:tc>
                <a:tc>
                  <a:txBody>
                    <a:bodyPr/>
                    <a:lstStyle/>
                    <a:p>
                      <a:pPr algn="r"/>
                      <a:r>
                        <a:rPr kumimoji="1" lang="en-US" altLang="ja-JP" dirty="0"/>
                        <a:t>1.4</a:t>
                      </a:r>
                      <a:endParaRPr kumimoji="1" lang="ja-JP" altLang="en-US" dirty="0"/>
                    </a:p>
                  </a:txBody>
                  <a:tcPr/>
                </a:tc>
                <a:tc>
                  <a:txBody>
                    <a:bodyPr/>
                    <a:lstStyle/>
                    <a:p>
                      <a:pPr algn="r"/>
                      <a:r>
                        <a:rPr kumimoji="1" lang="en-US" altLang="ja-JP" dirty="0"/>
                        <a:t>0.2</a:t>
                      </a:r>
                      <a:endParaRPr kumimoji="1" lang="ja-JP" altLang="en-US" dirty="0"/>
                    </a:p>
                  </a:txBody>
                  <a:tcPr/>
                </a:tc>
                <a:extLst>
                  <a:ext uri="{0D108BD9-81ED-4DB2-BD59-A6C34878D82A}">
                    <a16:rowId xmlns:a16="http://schemas.microsoft.com/office/drawing/2014/main" val="1285687201"/>
                  </a:ext>
                </a:extLst>
              </a:tr>
              <a:tr h="401866">
                <a:tc>
                  <a:txBody>
                    <a:bodyPr/>
                    <a:lstStyle/>
                    <a:p>
                      <a:pPr algn="r"/>
                      <a:r>
                        <a:rPr kumimoji="1" lang="en-US" altLang="ja-JP" dirty="0"/>
                        <a:t>4.7</a:t>
                      </a:r>
                      <a:endParaRPr kumimoji="1" lang="ja-JP" altLang="en-US" dirty="0"/>
                    </a:p>
                  </a:txBody>
                  <a:tcPr/>
                </a:tc>
                <a:tc>
                  <a:txBody>
                    <a:bodyPr/>
                    <a:lstStyle/>
                    <a:p>
                      <a:pPr algn="r"/>
                      <a:r>
                        <a:rPr kumimoji="1" lang="en-US" altLang="ja-JP" dirty="0"/>
                        <a:t>3.2</a:t>
                      </a:r>
                      <a:endParaRPr kumimoji="1" lang="ja-JP" altLang="en-US" dirty="0"/>
                    </a:p>
                  </a:txBody>
                  <a:tcPr/>
                </a:tc>
                <a:tc>
                  <a:txBody>
                    <a:bodyPr/>
                    <a:lstStyle/>
                    <a:p>
                      <a:pPr algn="r"/>
                      <a:r>
                        <a:rPr kumimoji="1" lang="en-US" altLang="ja-JP" dirty="0"/>
                        <a:t>1.3</a:t>
                      </a:r>
                      <a:endParaRPr kumimoji="1" lang="ja-JP" altLang="en-US" dirty="0"/>
                    </a:p>
                  </a:txBody>
                  <a:tcPr/>
                </a:tc>
                <a:tc>
                  <a:txBody>
                    <a:bodyPr/>
                    <a:lstStyle/>
                    <a:p>
                      <a:pPr algn="r"/>
                      <a:r>
                        <a:rPr kumimoji="1" lang="en-US" altLang="ja-JP" dirty="0"/>
                        <a:t>0.2</a:t>
                      </a:r>
                      <a:endParaRPr kumimoji="1" lang="ja-JP" altLang="en-US" dirty="0"/>
                    </a:p>
                  </a:txBody>
                  <a:tcPr/>
                </a:tc>
                <a:extLst>
                  <a:ext uri="{0D108BD9-81ED-4DB2-BD59-A6C34878D82A}">
                    <a16:rowId xmlns:a16="http://schemas.microsoft.com/office/drawing/2014/main" val="499958160"/>
                  </a:ext>
                </a:extLst>
              </a:tr>
              <a:tr h="401866">
                <a:tc>
                  <a:txBody>
                    <a:bodyPr/>
                    <a:lstStyle/>
                    <a:p>
                      <a:pPr algn="r"/>
                      <a:r>
                        <a:rPr kumimoji="1" lang="en-US" altLang="ja-JP" dirty="0"/>
                        <a:t>4.6</a:t>
                      </a:r>
                      <a:endParaRPr kumimoji="1" lang="ja-JP" altLang="en-US" dirty="0"/>
                    </a:p>
                  </a:txBody>
                  <a:tcPr/>
                </a:tc>
                <a:tc>
                  <a:txBody>
                    <a:bodyPr/>
                    <a:lstStyle/>
                    <a:p>
                      <a:pPr algn="r"/>
                      <a:r>
                        <a:rPr kumimoji="1" lang="en-US" altLang="ja-JP" dirty="0"/>
                        <a:t>3.1</a:t>
                      </a:r>
                      <a:endParaRPr kumimoji="1" lang="ja-JP" altLang="en-US" dirty="0"/>
                    </a:p>
                  </a:txBody>
                  <a:tcPr/>
                </a:tc>
                <a:tc>
                  <a:txBody>
                    <a:bodyPr/>
                    <a:lstStyle/>
                    <a:p>
                      <a:pPr algn="r"/>
                      <a:r>
                        <a:rPr kumimoji="1" lang="en-US" altLang="ja-JP" dirty="0"/>
                        <a:t>1.5</a:t>
                      </a:r>
                      <a:endParaRPr kumimoji="1" lang="ja-JP" altLang="en-US" dirty="0"/>
                    </a:p>
                  </a:txBody>
                  <a:tcPr/>
                </a:tc>
                <a:tc>
                  <a:txBody>
                    <a:bodyPr/>
                    <a:lstStyle/>
                    <a:p>
                      <a:pPr algn="r"/>
                      <a:r>
                        <a:rPr kumimoji="1" lang="en-US" altLang="ja-JP" dirty="0"/>
                        <a:t>0.2</a:t>
                      </a:r>
                      <a:endParaRPr kumimoji="1" lang="ja-JP" altLang="en-US" dirty="0"/>
                    </a:p>
                  </a:txBody>
                  <a:tcPr/>
                </a:tc>
                <a:extLst>
                  <a:ext uri="{0D108BD9-81ED-4DB2-BD59-A6C34878D82A}">
                    <a16:rowId xmlns:a16="http://schemas.microsoft.com/office/drawing/2014/main" val="4258993518"/>
                  </a:ext>
                </a:extLst>
              </a:tr>
            </a:tbl>
          </a:graphicData>
        </a:graphic>
      </p:graphicFrame>
      <p:graphicFrame>
        <p:nvGraphicFramePr>
          <p:cNvPr id="6" name="表 5">
            <a:extLst>
              <a:ext uri="{FF2B5EF4-FFF2-40B4-BE49-F238E27FC236}">
                <a16:creationId xmlns:a16="http://schemas.microsoft.com/office/drawing/2014/main" id="{DCBAA02B-ED76-4F72-8DFC-A87003CE0A85}"/>
              </a:ext>
            </a:extLst>
          </p:cNvPr>
          <p:cNvGraphicFramePr>
            <a:graphicFrameLocks noGrp="1"/>
          </p:cNvGraphicFramePr>
          <p:nvPr/>
        </p:nvGraphicFramePr>
        <p:xfrm>
          <a:off x="1637155" y="2899715"/>
          <a:ext cx="1252692" cy="2031855"/>
        </p:xfrm>
        <a:graphic>
          <a:graphicData uri="http://schemas.openxmlformats.org/drawingml/2006/table">
            <a:tbl>
              <a:tblPr firstRow="1" bandRow="1">
                <a:tableStyleId>{5940675A-B579-460E-94D1-54222C63F5DA}</a:tableStyleId>
              </a:tblPr>
              <a:tblGrid>
                <a:gridCol w="1252692">
                  <a:extLst>
                    <a:ext uri="{9D8B030D-6E8A-4147-A177-3AD203B41FA5}">
                      <a16:colId xmlns:a16="http://schemas.microsoft.com/office/drawing/2014/main" val="136106727"/>
                    </a:ext>
                  </a:extLst>
                </a:gridCol>
              </a:tblGrid>
              <a:tr h="406371">
                <a:tc>
                  <a:txBody>
                    <a:bodyPr/>
                    <a:lstStyle/>
                    <a:p>
                      <a:r>
                        <a:rPr kumimoji="1" lang="en-US" altLang="ja-JP" dirty="0"/>
                        <a:t>Target</a:t>
                      </a:r>
                      <a:endParaRPr kumimoji="1" lang="ja-JP" altLang="en-US" dirty="0"/>
                    </a:p>
                  </a:txBody>
                  <a:tcPr/>
                </a:tc>
                <a:extLst>
                  <a:ext uri="{0D108BD9-81ED-4DB2-BD59-A6C34878D82A}">
                    <a16:rowId xmlns:a16="http://schemas.microsoft.com/office/drawing/2014/main" val="1312683392"/>
                  </a:ext>
                </a:extLst>
              </a:tr>
              <a:tr h="406371">
                <a:tc>
                  <a:txBody>
                    <a:bodyPr/>
                    <a:lstStyle/>
                    <a:p>
                      <a:r>
                        <a:rPr kumimoji="1" lang="en-US" altLang="ja-JP" dirty="0"/>
                        <a:t>0</a:t>
                      </a:r>
                      <a:endParaRPr kumimoji="1" lang="ja-JP" altLang="en-US" dirty="0"/>
                    </a:p>
                  </a:txBody>
                  <a:tcPr/>
                </a:tc>
                <a:extLst>
                  <a:ext uri="{0D108BD9-81ED-4DB2-BD59-A6C34878D82A}">
                    <a16:rowId xmlns:a16="http://schemas.microsoft.com/office/drawing/2014/main" val="3736312713"/>
                  </a:ext>
                </a:extLst>
              </a:tr>
              <a:tr h="406371">
                <a:tc>
                  <a:txBody>
                    <a:bodyPr/>
                    <a:lstStyle/>
                    <a:p>
                      <a:r>
                        <a:rPr kumimoji="1" lang="en-US" altLang="ja-JP" dirty="0"/>
                        <a:t>0</a:t>
                      </a:r>
                      <a:endParaRPr kumimoji="1" lang="ja-JP" altLang="en-US" dirty="0"/>
                    </a:p>
                  </a:txBody>
                  <a:tcPr/>
                </a:tc>
                <a:extLst>
                  <a:ext uri="{0D108BD9-81ED-4DB2-BD59-A6C34878D82A}">
                    <a16:rowId xmlns:a16="http://schemas.microsoft.com/office/drawing/2014/main" val="2575363969"/>
                  </a:ext>
                </a:extLst>
              </a:tr>
              <a:tr h="406371">
                <a:tc>
                  <a:txBody>
                    <a:bodyPr/>
                    <a:lstStyle/>
                    <a:p>
                      <a:r>
                        <a:rPr kumimoji="1" lang="en-US" altLang="ja-JP" dirty="0"/>
                        <a:t>2</a:t>
                      </a:r>
                      <a:endParaRPr kumimoji="1" lang="ja-JP" altLang="en-US" dirty="0"/>
                    </a:p>
                  </a:txBody>
                  <a:tcPr/>
                </a:tc>
                <a:extLst>
                  <a:ext uri="{0D108BD9-81ED-4DB2-BD59-A6C34878D82A}">
                    <a16:rowId xmlns:a16="http://schemas.microsoft.com/office/drawing/2014/main" val="1277393644"/>
                  </a:ext>
                </a:extLst>
              </a:tr>
              <a:tr h="406371">
                <a:tc>
                  <a:txBody>
                    <a:bodyPr/>
                    <a:lstStyle/>
                    <a:p>
                      <a:r>
                        <a:rPr kumimoji="1" lang="en-US" altLang="ja-JP" dirty="0"/>
                        <a:t>1</a:t>
                      </a:r>
                      <a:endParaRPr kumimoji="1" lang="ja-JP" altLang="en-US" dirty="0"/>
                    </a:p>
                  </a:txBody>
                  <a:tcPr/>
                </a:tc>
                <a:extLst>
                  <a:ext uri="{0D108BD9-81ED-4DB2-BD59-A6C34878D82A}">
                    <a16:rowId xmlns:a16="http://schemas.microsoft.com/office/drawing/2014/main" val="3575396391"/>
                  </a:ext>
                </a:extLst>
              </a:tr>
            </a:tbl>
          </a:graphicData>
        </a:graphic>
      </p:graphicFrame>
      <p:sp>
        <p:nvSpPr>
          <p:cNvPr id="9" name="テキスト ボックス 8">
            <a:extLst>
              <a:ext uri="{FF2B5EF4-FFF2-40B4-BE49-F238E27FC236}">
                <a16:creationId xmlns:a16="http://schemas.microsoft.com/office/drawing/2014/main" id="{E6B552EB-66A1-4D0E-A53A-484B2889518B}"/>
              </a:ext>
            </a:extLst>
          </p:cNvPr>
          <p:cNvSpPr txBox="1"/>
          <p:nvPr/>
        </p:nvSpPr>
        <p:spPr>
          <a:xfrm rot="16200000">
            <a:off x="-679495" y="3556079"/>
            <a:ext cx="3256020" cy="461665"/>
          </a:xfrm>
          <a:prstGeom prst="rect">
            <a:avLst/>
          </a:prstGeom>
          <a:noFill/>
        </p:spPr>
        <p:txBody>
          <a:bodyPr wrap="none" rtlCol="0">
            <a:spAutoFit/>
          </a:bodyPr>
          <a:lstStyle/>
          <a:p>
            <a:pPr algn="l"/>
            <a:r>
              <a:rPr kumimoji="1" lang="en-US" altLang="ja-JP" sz="2400">
                <a:latin typeface="メイリオ" panose="020B0604030504040204" pitchFamily="50" charset="-128"/>
                <a:ea typeface="メイリオ" panose="020B0604030504040204" pitchFamily="50" charset="-128"/>
              </a:rPr>
              <a:t>iris_dataset['target']</a:t>
            </a:r>
            <a:endParaRPr kumimoji="1" lang="ja-JP" altLang="en-US" sz="2400" dirty="0">
              <a:latin typeface="メイリオ" panose="020B0604030504040204" pitchFamily="50" charset="-128"/>
              <a:ea typeface="メイリオ" panose="020B0604030504040204" pitchFamily="50" charset="-128"/>
            </a:endParaRPr>
          </a:p>
        </p:txBody>
      </p:sp>
      <p:sp>
        <p:nvSpPr>
          <p:cNvPr id="10" name="左中かっこ 9">
            <a:extLst>
              <a:ext uri="{FF2B5EF4-FFF2-40B4-BE49-F238E27FC236}">
                <a16:creationId xmlns:a16="http://schemas.microsoft.com/office/drawing/2014/main" id="{90D971B2-0B87-4D9D-939C-82160E594888}"/>
              </a:ext>
            </a:extLst>
          </p:cNvPr>
          <p:cNvSpPr/>
          <p:nvPr/>
        </p:nvSpPr>
        <p:spPr>
          <a:xfrm>
            <a:off x="1256922" y="3230592"/>
            <a:ext cx="285905" cy="170098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11" name="テキスト ボックス 10">
            <a:extLst>
              <a:ext uri="{FF2B5EF4-FFF2-40B4-BE49-F238E27FC236}">
                <a16:creationId xmlns:a16="http://schemas.microsoft.com/office/drawing/2014/main" id="{C7100ED0-4208-465B-B350-A2F155F542A3}"/>
              </a:ext>
            </a:extLst>
          </p:cNvPr>
          <p:cNvSpPr txBox="1"/>
          <p:nvPr/>
        </p:nvSpPr>
        <p:spPr>
          <a:xfrm>
            <a:off x="3270767" y="6060260"/>
            <a:ext cx="756970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 </a:t>
            </a:r>
            <a:r>
              <a:rPr kumimoji="1" lang="en-US" altLang="ja-JP" sz="2400" dirty="0" err="1">
                <a:latin typeface="メイリオ" panose="020B0604030504040204" pitchFamily="50" charset="-128"/>
                <a:ea typeface="メイリオ" panose="020B0604030504040204" pitchFamily="50" charset="-128"/>
              </a:rPr>
              <a:t>iris_dataset</a:t>
            </a:r>
            <a:r>
              <a:rPr kumimoji="1" lang="en-US" altLang="ja-JP" sz="2400" dirty="0">
                <a:latin typeface="メイリオ" panose="020B0604030504040204" pitchFamily="50" charset="-128"/>
                <a:ea typeface="メイリオ" panose="020B0604030504040204" pitchFamily="50" charset="-128"/>
              </a:rPr>
              <a:t>['target'].shape: target</a:t>
            </a:r>
            <a:r>
              <a:rPr kumimoji="1" lang="ja-JP" altLang="en-US" sz="2400" dirty="0">
                <a:latin typeface="メイリオ" panose="020B0604030504040204" pitchFamily="50" charset="-128"/>
                <a:ea typeface="メイリオ" panose="020B0604030504040204" pitchFamily="50" charset="-128"/>
              </a:rPr>
              <a:t>の要素数</a:t>
            </a:r>
            <a:r>
              <a:rPr kumimoji="1" lang="en-US" altLang="ja-JP" sz="2400" dirty="0">
                <a:latin typeface="メイリオ" panose="020B0604030504040204" pitchFamily="50" charset="-128"/>
                <a:ea typeface="メイリオ" panose="020B0604030504040204" pitchFamily="50" charset="-128"/>
              </a:rPr>
              <a:t>(150)</a:t>
            </a:r>
            <a:endParaRPr kumimoji="1" lang="ja-JP" altLang="en-US" sz="2400" dirty="0">
              <a:latin typeface="メイリオ" panose="020B0604030504040204" pitchFamily="50" charset="-128"/>
              <a:ea typeface="メイリオ" panose="020B0604030504040204" pitchFamily="50" charset="-128"/>
            </a:endParaRPr>
          </a:p>
        </p:txBody>
      </p:sp>
      <p:sp>
        <p:nvSpPr>
          <p:cNvPr id="12" name="右中かっこ 11">
            <a:extLst>
              <a:ext uri="{FF2B5EF4-FFF2-40B4-BE49-F238E27FC236}">
                <a16:creationId xmlns:a16="http://schemas.microsoft.com/office/drawing/2014/main" id="{E9F8BA18-E41B-489E-A437-DCF05639CC05}"/>
              </a:ext>
            </a:extLst>
          </p:cNvPr>
          <p:cNvSpPr/>
          <p:nvPr/>
        </p:nvSpPr>
        <p:spPr>
          <a:xfrm>
            <a:off x="7717489" y="3328913"/>
            <a:ext cx="324464" cy="160265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E3C49952-88B3-41C9-A225-CF74A9BA5ED2}"/>
              </a:ext>
            </a:extLst>
          </p:cNvPr>
          <p:cNvSpPr txBox="1"/>
          <p:nvPr/>
        </p:nvSpPr>
        <p:spPr>
          <a:xfrm>
            <a:off x="8149341" y="3913707"/>
            <a:ext cx="3110723" cy="830997"/>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 </a:t>
            </a:r>
            <a:r>
              <a:rPr kumimoji="1" lang="en-US" altLang="ja-JP" sz="2400" dirty="0" err="1">
                <a:latin typeface="メイリオ" panose="020B0604030504040204" pitchFamily="50" charset="-128"/>
                <a:ea typeface="メイリオ" panose="020B0604030504040204" pitchFamily="50" charset="-128"/>
              </a:rPr>
              <a:t>iris_dataset</a:t>
            </a:r>
            <a:r>
              <a:rPr kumimoji="1" lang="en-US" altLang="ja-JP" sz="2400" dirty="0">
                <a:latin typeface="メイリオ" panose="020B0604030504040204" pitchFamily="50" charset="-128"/>
                <a:ea typeface="メイリオ" panose="020B0604030504040204" pitchFamily="50" charset="-128"/>
              </a:rPr>
              <a:t>['data’]</a:t>
            </a:r>
          </a:p>
          <a:p>
            <a:pPr algn="l"/>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最初の</a:t>
            </a:r>
            <a:r>
              <a:rPr kumimoji="1" lang="en-US" altLang="ja-JP" sz="2400" dirty="0">
                <a:latin typeface="メイリオ" panose="020B0604030504040204" pitchFamily="50" charset="-128"/>
                <a:ea typeface="メイリオ" panose="020B0604030504040204" pitchFamily="50" charset="-128"/>
              </a:rPr>
              <a:t>5</a:t>
            </a:r>
            <a:r>
              <a:rPr kumimoji="1" lang="ja-JP" altLang="en-US" sz="2400" dirty="0">
                <a:latin typeface="メイリオ" panose="020B0604030504040204" pitchFamily="50" charset="-128"/>
                <a:ea typeface="メイリオ" panose="020B0604030504040204" pitchFamily="50" charset="-128"/>
              </a:rPr>
              <a:t>行だけ）</a:t>
            </a:r>
          </a:p>
        </p:txBody>
      </p:sp>
      <p:sp>
        <p:nvSpPr>
          <p:cNvPr id="14" name="テキスト ボックス 13">
            <a:extLst>
              <a:ext uri="{FF2B5EF4-FFF2-40B4-BE49-F238E27FC236}">
                <a16:creationId xmlns:a16="http://schemas.microsoft.com/office/drawing/2014/main" id="{508AF36A-6E83-4569-AAD3-163EF18B07BD}"/>
              </a:ext>
            </a:extLst>
          </p:cNvPr>
          <p:cNvSpPr txBox="1"/>
          <p:nvPr/>
        </p:nvSpPr>
        <p:spPr>
          <a:xfrm>
            <a:off x="3270767" y="5621789"/>
            <a:ext cx="8674169"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 </a:t>
            </a:r>
            <a:r>
              <a:rPr kumimoji="1" lang="en-US" altLang="ja-JP" sz="2400" dirty="0" err="1">
                <a:latin typeface="メイリオ" panose="020B0604030504040204" pitchFamily="50" charset="-128"/>
                <a:ea typeface="メイリオ" panose="020B0604030504040204" pitchFamily="50" charset="-128"/>
              </a:rPr>
              <a:t>iris_dataset</a:t>
            </a:r>
            <a:r>
              <a:rPr kumimoji="1" lang="en-US" altLang="ja-JP" sz="2400" dirty="0">
                <a:latin typeface="メイリオ" panose="020B0604030504040204" pitchFamily="50" charset="-128"/>
                <a:ea typeface="メイリオ" panose="020B0604030504040204" pitchFamily="50" charset="-128"/>
              </a:rPr>
              <a:t>['data'].shape: </a:t>
            </a:r>
            <a:r>
              <a:rPr kumimoji="1" lang="ja-JP" altLang="en-US" sz="2400" dirty="0">
                <a:latin typeface="メイリオ" panose="020B0604030504040204" pitchFamily="50" charset="-128"/>
                <a:ea typeface="メイリオ" panose="020B0604030504040204" pitchFamily="50" charset="-128"/>
              </a:rPr>
              <a:t>特徴量行列の行数</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列数</a:t>
            </a:r>
            <a:r>
              <a:rPr kumimoji="1" lang="en-US" altLang="ja-JP" sz="2400" dirty="0">
                <a:latin typeface="メイリオ" panose="020B0604030504040204" pitchFamily="50" charset="-128"/>
                <a:ea typeface="メイリオ" panose="020B0604030504040204" pitchFamily="50" charset="-128"/>
              </a:rPr>
              <a:t>(150,4)</a:t>
            </a:r>
            <a:endParaRPr kumimoji="1" lang="ja-JP" altLang="en-US" sz="2400" dirty="0">
              <a:latin typeface="メイリオ" panose="020B0604030504040204" pitchFamily="50" charset="-128"/>
              <a:ea typeface="メイリオ" panose="020B0604030504040204" pitchFamily="50" charset="-128"/>
            </a:endParaRPr>
          </a:p>
        </p:txBody>
      </p:sp>
      <p:graphicFrame>
        <p:nvGraphicFramePr>
          <p:cNvPr id="17" name="表 16">
            <a:extLst>
              <a:ext uri="{FF2B5EF4-FFF2-40B4-BE49-F238E27FC236}">
                <a16:creationId xmlns:a16="http://schemas.microsoft.com/office/drawing/2014/main" id="{9FA42051-5F67-48C0-9CE9-2A050925F584}"/>
              </a:ext>
            </a:extLst>
          </p:cNvPr>
          <p:cNvGraphicFramePr>
            <a:graphicFrameLocks noGrp="1"/>
          </p:cNvGraphicFramePr>
          <p:nvPr/>
        </p:nvGraphicFramePr>
        <p:xfrm>
          <a:off x="4745695" y="1097933"/>
          <a:ext cx="4994787" cy="370840"/>
        </p:xfrm>
        <a:graphic>
          <a:graphicData uri="http://schemas.openxmlformats.org/drawingml/2006/table">
            <a:tbl>
              <a:tblPr firstRow="1" bandRow="1">
                <a:tableStyleId>{5940675A-B579-460E-94D1-54222C63F5DA}</a:tableStyleId>
              </a:tblPr>
              <a:tblGrid>
                <a:gridCol w="1664929">
                  <a:extLst>
                    <a:ext uri="{9D8B030D-6E8A-4147-A177-3AD203B41FA5}">
                      <a16:colId xmlns:a16="http://schemas.microsoft.com/office/drawing/2014/main" val="2376489264"/>
                    </a:ext>
                  </a:extLst>
                </a:gridCol>
                <a:gridCol w="1664929">
                  <a:extLst>
                    <a:ext uri="{9D8B030D-6E8A-4147-A177-3AD203B41FA5}">
                      <a16:colId xmlns:a16="http://schemas.microsoft.com/office/drawing/2014/main" val="3167496926"/>
                    </a:ext>
                  </a:extLst>
                </a:gridCol>
                <a:gridCol w="1664929">
                  <a:extLst>
                    <a:ext uri="{9D8B030D-6E8A-4147-A177-3AD203B41FA5}">
                      <a16:colId xmlns:a16="http://schemas.microsoft.com/office/drawing/2014/main" val="1633333022"/>
                    </a:ext>
                  </a:extLst>
                </a:gridCol>
              </a:tblGrid>
              <a:tr h="370840">
                <a:tc>
                  <a:txBody>
                    <a:bodyPr/>
                    <a:lstStyle/>
                    <a:p>
                      <a:r>
                        <a:rPr kumimoji="1" lang="en-US" altLang="ja-JP" dirty="0" err="1"/>
                        <a:t>Setosa</a:t>
                      </a:r>
                      <a:endParaRPr kumimoji="1" lang="ja-JP" altLang="en-US" dirty="0"/>
                    </a:p>
                  </a:txBody>
                  <a:tcPr/>
                </a:tc>
                <a:tc>
                  <a:txBody>
                    <a:bodyPr/>
                    <a:lstStyle/>
                    <a:p>
                      <a:r>
                        <a:rPr kumimoji="1" lang="en-US" altLang="ja-JP" dirty="0"/>
                        <a:t>Versicolor</a:t>
                      </a:r>
                      <a:endParaRPr kumimoji="1" lang="ja-JP" altLang="en-US" dirty="0"/>
                    </a:p>
                  </a:txBody>
                  <a:tcPr/>
                </a:tc>
                <a:tc>
                  <a:txBody>
                    <a:bodyPr/>
                    <a:lstStyle/>
                    <a:p>
                      <a:r>
                        <a:rPr kumimoji="1" lang="en-US" altLang="ja-JP" dirty="0"/>
                        <a:t>Virginica</a:t>
                      </a:r>
                      <a:endParaRPr kumimoji="1" lang="ja-JP" altLang="en-US" dirty="0"/>
                    </a:p>
                  </a:txBody>
                  <a:tcPr/>
                </a:tc>
                <a:extLst>
                  <a:ext uri="{0D108BD9-81ED-4DB2-BD59-A6C34878D82A}">
                    <a16:rowId xmlns:a16="http://schemas.microsoft.com/office/drawing/2014/main" val="4075442895"/>
                  </a:ext>
                </a:extLst>
              </a:tr>
            </a:tbl>
          </a:graphicData>
        </a:graphic>
      </p:graphicFrame>
      <p:sp>
        <p:nvSpPr>
          <p:cNvPr id="18" name="テキスト ボックス 17">
            <a:extLst>
              <a:ext uri="{FF2B5EF4-FFF2-40B4-BE49-F238E27FC236}">
                <a16:creationId xmlns:a16="http://schemas.microsoft.com/office/drawing/2014/main" id="{A1AD0472-4642-4B96-AA13-2B98B3DBE34E}"/>
              </a:ext>
            </a:extLst>
          </p:cNvPr>
          <p:cNvSpPr txBox="1"/>
          <p:nvPr/>
        </p:nvSpPr>
        <p:spPr>
          <a:xfrm>
            <a:off x="237310" y="1081801"/>
            <a:ext cx="4442242" cy="461665"/>
          </a:xfrm>
          <a:prstGeom prst="rect">
            <a:avLst/>
          </a:prstGeom>
          <a:noFill/>
        </p:spPr>
        <p:txBody>
          <a:bodyPr wrap="none" rtlCol="0">
            <a:spAutoFit/>
          </a:bodyPr>
          <a:lstStyle/>
          <a:p>
            <a:pPr algn="l"/>
            <a:r>
              <a:rPr kumimoji="1" lang="en-US" altLang="ja-JP" sz="2400" dirty="0" err="1">
                <a:latin typeface="メイリオ" panose="020B0604030504040204" pitchFamily="50" charset="-128"/>
                <a:ea typeface="メイリオ" panose="020B0604030504040204" pitchFamily="50" charset="-128"/>
              </a:rPr>
              <a:t>iris_dataset</a:t>
            </a:r>
            <a:r>
              <a:rPr kumimoji="1" lang="en-US" altLang="ja-JP" sz="2400" dirty="0">
                <a:latin typeface="メイリオ" panose="020B0604030504040204" pitchFamily="50" charset="-128"/>
                <a:ea typeface="メイリオ" panose="020B0604030504040204" pitchFamily="50" charset="-128"/>
              </a:rPr>
              <a:t>['</a:t>
            </a:r>
            <a:r>
              <a:rPr kumimoji="1" lang="en-US" altLang="ja-JP" sz="2400" dirty="0" err="1">
                <a:latin typeface="メイリオ" panose="020B0604030504040204" pitchFamily="50" charset="-128"/>
                <a:ea typeface="メイリオ" panose="020B0604030504040204" pitchFamily="50" charset="-128"/>
              </a:rPr>
              <a:t>target_names</a:t>
            </a:r>
            <a:r>
              <a:rPr kumimoji="1" lang="en-US" altLang="ja-JP" sz="2400" dirty="0">
                <a:latin typeface="メイリオ" panose="020B0604030504040204" pitchFamily="50" charset="-128"/>
                <a:ea typeface="メイリオ" panose="020B0604030504040204" pitchFamily="50" charset="-128"/>
              </a:rPr>
              <a:t>']</a:t>
            </a:r>
            <a:endParaRPr kumimoji="1" lang="ja-JP" altLang="en-US" sz="2400" dirty="0">
              <a:latin typeface="メイリオ" panose="020B0604030504040204" pitchFamily="50" charset="-128"/>
              <a:ea typeface="メイリオ" panose="020B0604030504040204" pitchFamily="50" charset="-128"/>
            </a:endParaRPr>
          </a:p>
        </p:txBody>
      </p:sp>
      <p:sp>
        <p:nvSpPr>
          <p:cNvPr id="19" name="右中かっこ 18">
            <a:extLst>
              <a:ext uri="{FF2B5EF4-FFF2-40B4-BE49-F238E27FC236}">
                <a16:creationId xmlns:a16="http://schemas.microsoft.com/office/drawing/2014/main" id="{04075D92-8D55-4597-B1D9-1FC647BAE5A2}"/>
              </a:ext>
            </a:extLst>
          </p:cNvPr>
          <p:cNvSpPr/>
          <p:nvPr/>
        </p:nvSpPr>
        <p:spPr>
          <a:xfrm rot="16200000">
            <a:off x="5104417" y="57104"/>
            <a:ext cx="403886" cy="460748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B839EAE-70AF-436A-93AF-4A681B42E21E}"/>
              </a:ext>
            </a:extLst>
          </p:cNvPr>
          <p:cNvSpPr txBox="1"/>
          <p:nvPr/>
        </p:nvSpPr>
        <p:spPr>
          <a:xfrm>
            <a:off x="3270767" y="1765095"/>
            <a:ext cx="4608954" cy="461665"/>
          </a:xfrm>
          <a:prstGeom prst="rect">
            <a:avLst/>
          </a:prstGeom>
          <a:noFill/>
        </p:spPr>
        <p:txBody>
          <a:bodyPr wrap="none" rtlCol="0">
            <a:spAutoFit/>
          </a:bodyPr>
          <a:lstStyle/>
          <a:p>
            <a:pPr algn="l"/>
            <a:r>
              <a:rPr kumimoji="1" lang="en-US" altLang="ja-JP" sz="2400" dirty="0" err="1">
                <a:latin typeface="メイリオ" panose="020B0604030504040204" pitchFamily="50" charset="-128"/>
                <a:ea typeface="メイリオ" panose="020B0604030504040204" pitchFamily="50" charset="-128"/>
              </a:rPr>
              <a:t>iris_dataset</a:t>
            </a:r>
            <a:r>
              <a:rPr kumimoji="1" lang="en-US" altLang="ja-JP" sz="2400" dirty="0">
                <a:latin typeface="メイリオ" panose="020B0604030504040204" pitchFamily="50" charset="-128"/>
                <a:ea typeface="メイリオ" panose="020B0604030504040204" pitchFamily="50" charset="-128"/>
              </a:rPr>
              <a:t>['</a:t>
            </a:r>
            <a:r>
              <a:rPr kumimoji="1" lang="en-US" altLang="ja-JP" sz="2400" dirty="0" err="1">
                <a:latin typeface="メイリオ" panose="020B0604030504040204" pitchFamily="50" charset="-128"/>
                <a:ea typeface="メイリオ" panose="020B0604030504040204" pitchFamily="50" charset="-128"/>
              </a:rPr>
              <a:t>feature_names</a:t>
            </a:r>
            <a:r>
              <a:rPr kumimoji="1" lang="en-US" altLang="ja-JP" sz="2400" dirty="0">
                <a:latin typeface="メイリオ" panose="020B0604030504040204" pitchFamily="50" charset="-128"/>
                <a:ea typeface="メイリオ" panose="020B0604030504040204" pitchFamily="50" charset="-128"/>
              </a:rPr>
              <a:t>']</a:t>
            </a:r>
            <a:endParaRPr kumimoji="1" lang="ja-JP" altLang="en-US" sz="2400" dirty="0">
              <a:latin typeface="メイリオ" panose="020B0604030504040204" pitchFamily="50" charset="-128"/>
              <a:ea typeface="メイリオ" panose="020B0604030504040204" pitchFamily="50" charset="-128"/>
            </a:endParaRPr>
          </a:p>
        </p:txBody>
      </p:sp>
      <p:sp>
        <p:nvSpPr>
          <p:cNvPr id="2" name="テキスト ボックス 1">
            <a:extLst>
              <a:ext uri="{FF2B5EF4-FFF2-40B4-BE49-F238E27FC236}">
                <a16:creationId xmlns:a16="http://schemas.microsoft.com/office/drawing/2014/main" id="{5C02E6BD-B771-0265-F94B-F1BE23B7BEE2}"/>
              </a:ext>
            </a:extLst>
          </p:cNvPr>
          <p:cNvSpPr txBox="1"/>
          <p:nvPr/>
        </p:nvSpPr>
        <p:spPr>
          <a:xfrm>
            <a:off x="445226" y="277790"/>
            <a:ext cx="4288353"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確かにこうなっている</a:t>
            </a:r>
          </a:p>
        </p:txBody>
      </p:sp>
    </p:spTree>
    <p:extLst>
      <p:ext uri="{BB962C8B-B14F-4D97-AF65-F5344CB8AC3E}">
        <p14:creationId xmlns:p14="http://schemas.microsoft.com/office/powerpoint/2010/main" val="4104105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7DE8308-5A68-43A6-8450-7808C31F7DE1}"/>
              </a:ext>
            </a:extLst>
          </p:cNvPr>
          <p:cNvSpPr txBox="1"/>
          <p:nvPr/>
        </p:nvSpPr>
        <p:spPr>
          <a:xfrm>
            <a:off x="475861" y="117526"/>
            <a:ext cx="9730023" cy="584775"/>
          </a:xfrm>
          <a:prstGeom prst="rect">
            <a:avLst/>
          </a:prstGeom>
          <a:noFill/>
        </p:spPr>
        <p:txBody>
          <a:bodyPr wrap="square" rtlCol="0">
            <a:spAutoFit/>
          </a:bodyPr>
          <a:lstStyle/>
          <a:p>
            <a:pPr algn="l"/>
            <a:r>
              <a:rPr kumimoji="1" lang="en-US" altLang="ja-JP" sz="3200" b="1" dirty="0">
                <a:latin typeface="メイリオ" panose="020B0604030504040204" pitchFamily="50" charset="-128"/>
                <a:ea typeface="メイリオ" panose="020B0604030504040204" pitchFamily="50" charset="-128"/>
              </a:rPr>
              <a:t>Iris </a:t>
            </a:r>
            <a:r>
              <a:rPr kumimoji="1" lang="ja-JP" altLang="en-US" sz="3200" b="1" dirty="0">
                <a:latin typeface="メイリオ" panose="020B0604030504040204" pitchFamily="50" charset="-128"/>
                <a:ea typeface="メイリオ" panose="020B0604030504040204" pitchFamily="50" charset="-128"/>
              </a:rPr>
              <a:t>データセットを教師あり機械学習で分類する</a:t>
            </a:r>
          </a:p>
        </p:txBody>
      </p:sp>
      <p:graphicFrame>
        <p:nvGraphicFramePr>
          <p:cNvPr id="3" name="表 2">
            <a:extLst>
              <a:ext uri="{FF2B5EF4-FFF2-40B4-BE49-F238E27FC236}">
                <a16:creationId xmlns:a16="http://schemas.microsoft.com/office/drawing/2014/main" id="{B05B4327-102E-4AAE-A7FE-4EEA228871DC}"/>
              </a:ext>
            </a:extLst>
          </p:cNvPr>
          <p:cNvGraphicFramePr>
            <a:graphicFrameLocks noGrp="1"/>
          </p:cNvGraphicFramePr>
          <p:nvPr/>
        </p:nvGraphicFramePr>
        <p:xfrm>
          <a:off x="3531384" y="2373439"/>
          <a:ext cx="4656650" cy="2301096"/>
        </p:xfrm>
        <a:graphic>
          <a:graphicData uri="http://schemas.openxmlformats.org/drawingml/2006/table">
            <a:tbl>
              <a:tblPr firstRow="1" bandRow="1">
                <a:tableStyleId>{5940675A-B579-460E-94D1-54222C63F5DA}</a:tableStyleId>
              </a:tblPr>
              <a:tblGrid>
                <a:gridCol w="1086049">
                  <a:extLst>
                    <a:ext uri="{9D8B030D-6E8A-4147-A177-3AD203B41FA5}">
                      <a16:colId xmlns:a16="http://schemas.microsoft.com/office/drawing/2014/main" val="1956025745"/>
                    </a:ext>
                  </a:extLst>
                </a:gridCol>
                <a:gridCol w="1352196">
                  <a:extLst>
                    <a:ext uri="{9D8B030D-6E8A-4147-A177-3AD203B41FA5}">
                      <a16:colId xmlns:a16="http://schemas.microsoft.com/office/drawing/2014/main" val="3203398356"/>
                    </a:ext>
                  </a:extLst>
                </a:gridCol>
                <a:gridCol w="1103271">
                  <a:extLst>
                    <a:ext uri="{9D8B030D-6E8A-4147-A177-3AD203B41FA5}">
                      <a16:colId xmlns:a16="http://schemas.microsoft.com/office/drawing/2014/main" val="1446089183"/>
                    </a:ext>
                  </a:extLst>
                </a:gridCol>
                <a:gridCol w="1115134">
                  <a:extLst>
                    <a:ext uri="{9D8B030D-6E8A-4147-A177-3AD203B41FA5}">
                      <a16:colId xmlns:a16="http://schemas.microsoft.com/office/drawing/2014/main" val="709289782"/>
                    </a:ext>
                  </a:extLst>
                </a:gridCol>
              </a:tblGrid>
              <a:tr h="693632">
                <a:tc>
                  <a:txBody>
                    <a:bodyPr/>
                    <a:lstStyle/>
                    <a:p>
                      <a:r>
                        <a:rPr kumimoji="1" lang="en-US" altLang="ja-JP" dirty="0"/>
                        <a:t>Sepal</a:t>
                      </a:r>
                    </a:p>
                    <a:p>
                      <a:r>
                        <a:rPr kumimoji="1" lang="en-US" altLang="ja-JP" dirty="0"/>
                        <a:t>length</a:t>
                      </a:r>
                      <a:endParaRPr kumimoji="1" lang="ja-JP" altLang="en-US" dirty="0"/>
                    </a:p>
                  </a:txBody>
                  <a:tcPr/>
                </a:tc>
                <a:tc>
                  <a:txBody>
                    <a:bodyPr/>
                    <a:lstStyle/>
                    <a:p>
                      <a:r>
                        <a:rPr kumimoji="1" lang="en-US" altLang="ja-JP" dirty="0"/>
                        <a:t>Sepal </a:t>
                      </a:r>
                    </a:p>
                    <a:p>
                      <a:r>
                        <a:rPr kumimoji="1" lang="en-US" altLang="ja-JP" dirty="0"/>
                        <a:t>width</a:t>
                      </a:r>
                      <a:endParaRPr kumimoji="1" lang="ja-JP" altLang="en-US" dirty="0"/>
                    </a:p>
                  </a:txBody>
                  <a:tcPr/>
                </a:tc>
                <a:tc>
                  <a:txBody>
                    <a:bodyPr/>
                    <a:lstStyle/>
                    <a:p>
                      <a:r>
                        <a:rPr kumimoji="1" lang="en-US" altLang="ja-JP" dirty="0"/>
                        <a:t>Petal </a:t>
                      </a:r>
                    </a:p>
                    <a:p>
                      <a:r>
                        <a:rPr kumimoji="1" lang="en-US" altLang="ja-JP" dirty="0"/>
                        <a:t>length</a:t>
                      </a:r>
                      <a:endParaRPr kumimoji="1" lang="ja-JP" altLang="en-US" dirty="0"/>
                    </a:p>
                  </a:txBody>
                  <a:tcPr/>
                </a:tc>
                <a:tc>
                  <a:txBody>
                    <a:bodyPr/>
                    <a:lstStyle/>
                    <a:p>
                      <a:r>
                        <a:rPr kumimoji="1" lang="en-US" altLang="ja-JP" dirty="0"/>
                        <a:t>Petal</a:t>
                      </a:r>
                    </a:p>
                    <a:p>
                      <a:r>
                        <a:rPr kumimoji="1" lang="en-US" altLang="ja-JP" dirty="0"/>
                        <a:t>width</a:t>
                      </a:r>
                      <a:endParaRPr kumimoji="1" lang="ja-JP" altLang="en-US" dirty="0"/>
                    </a:p>
                  </a:txBody>
                  <a:tcPr/>
                </a:tc>
                <a:extLst>
                  <a:ext uri="{0D108BD9-81ED-4DB2-BD59-A6C34878D82A}">
                    <a16:rowId xmlns:a16="http://schemas.microsoft.com/office/drawing/2014/main" val="1754640250"/>
                  </a:ext>
                </a:extLst>
              </a:tr>
              <a:tr h="401866">
                <a:tc>
                  <a:txBody>
                    <a:bodyPr/>
                    <a:lstStyle/>
                    <a:p>
                      <a:pPr algn="r"/>
                      <a:r>
                        <a:rPr kumimoji="1" lang="en-US" altLang="ja-JP" dirty="0"/>
                        <a:t>5.1</a:t>
                      </a:r>
                      <a:endParaRPr kumimoji="1" lang="ja-JP" altLang="en-US" dirty="0"/>
                    </a:p>
                  </a:txBody>
                  <a:tcPr/>
                </a:tc>
                <a:tc>
                  <a:txBody>
                    <a:bodyPr/>
                    <a:lstStyle/>
                    <a:p>
                      <a:pPr algn="r"/>
                      <a:r>
                        <a:rPr kumimoji="1" lang="en-US" altLang="ja-JP" dirty="0"/>
                        <a:t>3.5</a:t>
                      </a:r>
                      <a:endParaRPr kumimoji="1" lang="ja-JP" altLang="en-US" dirty="0"/>
                    </a:p>
                  </a:txBody>
                  <a:tcPr/>
                </a:tc>
                <a:tc>
                  <a:txBody>
                    <a:bodyPr/>
                    <a:lstStyle/>
                    <a:p>
                      <a:pPr algn="r"/>
                      <a:r>
                        <a:rPr kumimoji="1" lang="en-US" altLang="ja-JP" dirty="0"/>
                        <a:t>1.4</a:t>
                      </a:r>
                      <a:endParaRPr kumimoji="1" lang="ja-JP" altLang="en-US" dirty="0"/>
                    </a:p>
                  </a:txBody>
                  <a:tcPr/>
                </a:tc>
                <a:tc>
                  <a:txBody>
                    <a:bodyPr/>
                    <a:lstStyle/>
                    <a:p>
                      <a:pPr algn="r"/>
                      <a:r>
                        <a:rPr kumimoji="1" lang="en-US" altLang="ja-JP" dirty="0"/>
                        <a:t>0.2</a:t>
                      </a:r>
                      <a:endParaRPr kumimoji="1" lang="ja-JP" altLang="en-US" dirty="0"/>
                    </a:p>
                  </a:txBody>
                  <a:tcPr/>
                </a:tc>
                <a:extLst>
                  <a:ext uri="{0D108BD9-81ED-4DB2-BD59-A6C34878D82A}">
                    <a16:rowId xmlns:a16="http://schemas.microsoft.com/office/drawing/2014/main" val="4085924178"/>
                  </a:ext>
                </a:extLst>
              </a:tr>
              <a:tr h="401866">
                <a:tc>
                  <a:txBody>
                    <a:bodyPr/>
                    <a:lstStyle/>
                    <a:p>
                      <a:pPr algn="r"/>
                      <a:r>
                        <a:rPr kumimoji="1" lang="en-US" altLang="ja-JP" dirty="0"/>
                        <a:t>4.9</a:t>
                      </a:r>
                      <a:endParaRPr kumimoji="1" lang="ja-JP" altLang="en-US" dirty="0"/>
                    </a:p>
                  </a:txBody>
                  <a:tcPr/>
                </a:tc>
                <a:tc>
                  <a:txBody>
                    <a:bodyPr/>
                    <a:lstStyle/>
                    <a:p>
                      <a:pPr algn="r"/>
                      <a:r>
                        <a:rPr kumimoji="1" lang="en-US" altLang="ja-JP" dirty="0"/>
                        <a:t>3</a:t>
                      </a:r>
                      <a:endParaRPr kumimoji="1" lang="ja-JP" altLang="en-US" dirty="0"/>
                    </a:p>
                  </a:txBody>
                  <a:tcPr/>
                </a:tc>
                <a:tc>
                  <a:txBody>
                    <a:bodyPr/>
                    <a:lstStyle/>
                    <a:p>
                      <a:pPr algn="r"/>
                      <a:r>
                        <a:rPr kumimoji="1" lang="en-US" altLang="ja-JP" dirty="0"/>
                        <a:t>1.4</a:t>
                      </a:r>
                      <a:endParaRPr kumimoji="1" lang="ja-JP" altLang="en-US" dirty="0"/>
                    </a:p>
                  </a:txBody>
                  <a:tcPr/>
                </a:tc>
                <a:tc>
                  <a:txBody>
                    <a:bodyPr/>
                    <a:lstStyle/>
                    <a:p>
                      <a:pPr algn="r"/>
                      <a:r>
                        <a:rPr kumimoji="1" lang="en-US" altLang="ja-JP" dirty="0"/>
                        <a:t>0.2</a:t>
                      </a:r>
                      <a:endParaRPr kumimoji="1" lang="ja-JP" altLang="en-US" dirty="0"/>
                    </a:p>
                  </a:txBody>
                  <a:tcPr/>
                </a:tc>
                <a:extLst>
                  <a:ext uri="{0D108BD9-81ED-4DB2-BD59-A6C34878D82A}">
                    <a16:rowId xmlns:a16="http://schemas.microsoft.com/office/drawing/2014/main" val="1285687201"/>
                  </a:ext>
                </a:extLst>
              </a:tr>
              <a:tr h="401866">
                <a:tc>
                  <a:txBody>
                    <a:bodyPr/>
                    <a:lstStyle/>
                    <a:p>
                      <a:pPr algn="r"/>
                      <a:r>
                        <a:rPr kumimoji="1" lang="en-US" altLang="ja-JP" dirty="0"/>
                        <a:t>4.7</a:t>
                      </a:r>
                      <a:endParaRPr kumimoji="1" lang="ja-JP" altLang="en-US" dirty="0"/>
                    </a:p>
                  </a:txBody>
                  <a:tcPr/>
                </a:tc>
                <a:tc>
                  <a:txBody>
                    <a:bodyPr/>
                    <a:lstStyle/>
                    <a:p>
                      <a:pPr algn="r"/>
                      <a:r>
                        <a:rPr kumimoji="1" lang="en-US" altLang="ja-JP" dirty="0"/>
                        <a:t>3.2</a:t>
                      </a:r>
                      <a:endParaRPr kumimoji="1" lang="ja-JP" altLang="en-US" dirty="0"/>
                    </a:p>
                  </a:txBody>
                  <a:tcPr/>
                </a:tc>
                <a:tc>
                  <a:txBody>
                    <a:bodyPr/>
                    <a:lstStyle/>
                    <a:p>
                      <a:pPr algn="r"/>
                      <a:r>
                        <a:rPr kumimoji="1" lang="en-US" altLang="ja-JP" dirty="0"/>
                        <a:t>1.3</a:t>
                      </a:r>
                      <a:endParaRPr kumimoji="1" lang="ja-JP" altLang="en-US" dirty="0"/>
                    </a:p>
                  </a:txBody>
                  <a:tcPr/>
                </a:tc>
                <a:tc>
                  <a:txBody>
                    <a:bodyPr/>
                    <a:lstStyle/>
                    <a:p>
                      <a:pPr algn="r"/>
                      <a:r>
                        <a:rPr kumimoji="1" lang="en-US" altLang="ja-JP" dirty="0"/>
                        <a:t>0.2</a:t>
                      </a:r>
                      <a:endParaRPr kumimoji="1" lang="ja-JP" altLang="en-US" dirty="0"/>
                    </a:p>
                  </a:txBody>
                  <a:tcPr/>
                </a:tc>
                <a:extLst>
                  <a:ext uri="{0D108BD9-81ED-4DB2-BD59-A6C34878D82A}">
                    <a16:rowId xmlns:a16="http://schemas.microsoft.com/office/drawing/2014/main" val="499958160"/>
                  </a:ext>
                </a:extLst>
              </a:tr>
              <a:tr h="401866">
                <a:tc>
                  <a:txBody>
                    <a:bodyPr/>
                    <a:lstStyle/>
                    <a:p>
                      <a:pPr algn="r"/>
                      <a:r>
                        <a:rPr kumimoji="1" lang="en-US" altLang="ja-JP" dirty="0"/>
                        <a:t>4.6</a:t>
                      </a:r>
                      <a:endParaRPr kumimoji="1" lang="ja-JP" altLang="en-US" dirty="0"/>
                    </a:p>
                  </a:txBody>
                  <a:tcPr/>
                </a:tc>
                <a:tc>
                  <a:txBody>
                    <a:bodyPr/>
                    <a:lstStyle/>
                    <a:p>
                      <a:pPr algn="r"/>
                      <a:r>
                        <a:rPr kumimoji="1" lang="en-US" altLang="ja-JP" dirty="0"/>
                        <a:t>3.1</a:t>
                      </a:r>
                      <a:endParaRPr kumimoji="1" lang="ja-JP" altLang="en-US" dirty="0"/>
                    </a:p>
                  </a:txBody>
                  <a:tcPr/>
                </a:tc>
                <a:tc>
                  <a:txBody>
                    <a:bodyPr/>
                    <a:lstStyle/>
                    <a:p>
                      <a:pPr algn="r"/>
                      <a:r>
                        <a:rPr kumimoji="1" lang="en-US" altLang="ja-JP" dirty="0"/>
                        <a:t>1.5</a:t>
                      </a:r>
                      <a:endParaRPr kumimoji="1" lang="ja-JP" altLang="en-US" dirty="0"/>
                    </a:p>
                  </a:txBody>
                  <a:tcPr/>
                </a:tc>
                <a:tc>
                  <a:txBody>
                    <a:bodyPr/>
                    <a:lstStyle/>
                    <a:p>
                      <a:pPr algn="r"/>
                      <a:r>
                        <a:rPr kumimoji="1" lang="en-US" altLang="ja-JP" dirty="0"/>
                        <a:t>0.2</a:t>
                      </a:r>
                      <a:endParaRPr kumimoji="1" lang="ja-JP" altLang="en-US" dirty="0"/>
                    </a:p>
                  </a:txBody>
                  <a:tcPr/>
                </a:tc>
                <a:extLst>
                  <a:ext uri="{0D108BD9-81ED-4DB2-BD59-A6C34878D82A}">
                    <a16:rowId xmlns:a16="http://schemas.microsoft.com/office/drawing/2014/main" val="4258993518"/>
                  </a:ext>
                </a:extLst>
              </a:tr>
            </a:tbl>
          </a:graphicData>
        </a:graphic>
      </p:graphicFrame>
      <p:graphicFrame>
        <p:nvGraphicFramePr>
          <p:cNvPr id="4" name="表 3">
            <a:extLst>
              <a:ext uri="{FF2B5EF4-FFF2-40B4-BE49-F238E27FC236}">
                <a16:creationId xmlns:a16="http://schemas.microsoft.com/office/drawing/2014/main" id="{C6EEE769-DE3D-4A68-AF58-E41AC11689F4}"/>
              </a:ext>
            </a:extLst>
          </p:cNvPr>
          <p:cNvGraphicFramePr>
            <a:graphicFrameLocks noGrp="1"/>
          </p:cNvGraphicFramePr>
          <p:nvPr/>
        </p:nvGraphicFramePr>
        <p:xfrm>
          <a:off x="2215087" y="2642680"/>
          <a:ext cx="1252692" cy="2031855"/>
        </p:xfrm>
        <a:graphic>
          <a:graphicData uri="http://schemas.openxmlformats.org/drawingml/2006/table">
            <a:tbl>
              <a:tblPr firstRow="1" bandRow="1">
                <a:tableStyleId>{5940675A-B579-460E-94D1-54222C63F5DA}</a:tableStyleId>
              </a:tblPr>
              <a:tblGrid>
                <a:gridCol w="1252692">
                  <a:extLst>
                    <a:ext uri="{9D8B030D-6E8A-4147-A177-3AD203B41FA5}">
                      <a16:colId xmlns:a16="http://schemas.microsoft.com/office/drawing/2014/main" val="136106727"/>
                    </a:ext>
                  </a:extLst>
                </a:gridCol>
              </a:tblGrid>
              <a:tr h="406371">
                <a:tc>
                  <a:txBody>
                    <a:bodyPr/>
                    <a:lstStyle/>
                    <a:p>
                      <a:r>
                        <a:rPr kumimoji="1" lang="en-US" altLang="ja-JP" dirty="0"/>
                        <a:t>Target</a:t>
                      </a:r>
                      <a:endParaRPr kumimoji="1" lang="ja-JP" altLang="en-US" dirty="0"/>
                    </a:p>
                  </a:txBody>
                  <a:tcPr/>
                </a:tc>
                <a:extLst>
                  <a:ext uri="{0D108BD9-81ED-4DB2-BD59-A6C34878D82A}">
                    <a16:rowId xmlns:a16="http://schemas.microsoft.com/office/drawing/2014/main" val="1312683392"/>
                  </a:ext>
                </a:extLst>
              </a:tr>
              <a:tr h="406371">
                <a:tc>
                  <a:txBody>
                    <a:bodyPr/>
                    <a:lstStyle/>
                    <a:p>
                      <a:r>
                        <a:rPr kumimoji="1" lang="en-US" altLang="ja-JP" dirty="0"/>
                        <a:t>0</a:t>
                      </a:r>
                      <a:endParaRPr kumimoji="1" lang="ja-JP" altLang="en-US" dirty="0"/>
                    </a:p>
                  </a:txBody>
                  <a:tcPr/>
                </a:tc>
                <a:extLst>
                  <a:ext uri="{0D108BD9-81ED-4DB2-BD59-A6C34878D82A}">
                    <a16:rowId xmlns:a16="http://schemas.microsoft.com/office/drawing/2014/main" val="3736312713"/>
                  </a:ext>
                </a:extLst>
              </a:tr>
              <a:tr h="406371">
                <a:tc>
                  <a:txBody>
                    <a:bodyPr/>
                    <a:lstStyle/>
                    <a:p>
                      <a:r>
                        <a:rPr kumimoji="1" lang="en-US" altLang="ja-JP" dirty="0"/>
                        <a:t>0</a:t>
                      </a:r>
                      <a:endParaRPr kumimoji="1" lang="ja-JP" altLang="en-US" dirty="0"/>
                    </a:p>
                  </a:txBody>
                  <a:tcPr/>
                </a:tc>
                <a:extLst>
                  <a:ext uri="{0D108BD9-81ED-4DB2-BD59-A6C34878D82A}">
                    <a16:rowId xmlns:a16="http://schemas.microsoft.com/office/drawing/2014/main" val="2575363969"/>
                  </a:ext>
                </a:extLst>
              </a:tr>
              <a:tr h="406371">
                <a:tc>
                  <a:txBody>
                    <a:bodyPr/>
                    <a:lstStyle/>
                    <a:p>
                      <a:r>
                        <a:rPr kumimoji="1" lang="en-US" altLang="ja-JP" dirty="0"/>
                        <a:t>2</a:t>
                      </a:r>
                      <a:endParaRPr kumimoji="1" lang="ja-JP" altLang="en-US" dirty="0"/>
                    </a:p>
                  </a:txBody>
                  <a:tcPr/>
                </a:tc>
                <a:extLst>
                  <a:ext uri="{0D108BD9-81ED-4DB2-BD59-A6C34878D82A}">
                    <a16:rowId xmlns:a16="http://schemas.microsoft.com/office/drawing/2014/main" val="1277393644"/>
                  </a:ext>
                </a:extLst>
              </a:tr>
              <a:tr h="406371">
                <a:tc>
                  <a:txBody>
                    <a:bodyPr/>
                    <a:lstStyle/>
                    <a:p>
                      <a:r>
                        <a:rPr kumimoji="1" lang="en-US" altLang="ja-JP" dirty="0"/>
                        <a:t>1</a:t>
                      </a:r>
                      <a:endParaRPr kumimoji="1" lang="ja-JP" altLang="en-US" dirty="0"/>
                    </a:p>
                  </a:txBody>
                  <a:tcPr/>
                </a:tc>
                <a:extLst>
                  <a:ext uri="{0D108BD9-81ED-4DB2-BD59-A6C34878D82A}">
                    <a16:rowId xmlns:a16="http://schemas.microsoft.com/office/drawing/2014/main" val="3575396391"/>
                  </a:ext>
                </a:extLst>
              </a:tr>
            </a:tbl>
          </a:graphicData>
        </a:graphic>
      </p:graphicFrame>
      <p:sp>
        <p:nvSpPr>
          <p:cNvPr id="6" name="テキスト ボックス 5">
            <a:extLst>
              <a:ext uri="{FF2B5EF4-FFF2-40B4-BE49-F238E27FC236}">
                <a16:creationId xmlns:a16="http://schemas.microsoft.com/office/drawing/2014/main" id="{2797A539-049E-448C-92A1-0B3939A03D1C}"/>
              </a:ext>
            </a:extLst>
          </p:cNvPr>
          <p:cNvSpPr txBox="1"/>
          <p:nvPr/>
        </p:nvSpPr>
        <p:spPr>
          <a:xfrm>
            <a:off x="1412836" y="918615"/>
            <a:ext cx="7615354" cy="1200329"/>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1. </a:t>
            </a:r>
            <a:r>
              <a:rPr kumimoji="1" lang="ja-JP" altLang="en-US" sz="2400" dirty="0">
                <a:latin typeface="メイリオ" panose="020B0604030504040204" pitchFamily="50" charset="-128"/>
                <a:ea typeface="メイリオ" panose="020B0604030504040204" pitchFamily="50" charset="-128"/>
              </a:rPr>
              <a:t>データセット</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特徴量：</a:t>
            </a:r>
            <a:r>
              <a:rPr kumimoji="1" lang="en-US" altLang="ja-JP" sz="2400" dirty="0">
                <a:latin typeface="メイリオ" panose="020B0604030504040204" pitchFamily="50" charset="-128"/>
                <a:ea typeface="メイリオ" panose="020B0604030504040204" pitchFamily="50" charset="-128"/>
              </a:rPr>
              <a:t>4</a:t>
            </a:r>
            <a:r>
              <a:rPr kumimoji="1" lang="ja-JP" altLang="en-US" sz="2400" dirty="0">
                <a:latin typeface="メイリオ" panose="020B0604030504040204" pitchFamily="50" charset="-128"/>
                <a:ea typeface="メイリオ" panose="020B0604030504040204" pitchFamily="50" charset="-128"/>
              </a:rPr>
              <a:t>次元</a:t>
            </a:r>
            <a:r>
              <a:rPr kumimoji="1" lang="en-US" altLang="ja-JP" sz="2400" dirty="0">
                <a:latin typeface="メイリオ" panose="020B0604030504040204" pitchFamily="50" charset="-128"/>
                <a:ea typeface="メイリオ" panose="020B0604030504040204" pitchFamily="50" charset="-128"/>
              </a:rPr>
              <a:t>×150</a:t>
            </a:r>
            <a:r>
              <a:rPr kumimoji="1" lang="ja-JP" altLang="en-US" sz="2400" dirty="0">
                <a:latin typeface="メイリオ" panose="020B0604030504040204" pitchFamily="50" charset="-128"/>
                <a:ea typeface="メイリオ" panose="020B0604030504040204" pitchFamily="50" charset="-128"/>
              </a:rPr>
              <a:t>個のデータ</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教師ラベル</a:t>
            </a:r>
            <a:r>
              <a:rPr kumimoji="1" lang="en-US" altLang="ja-JP" sz="2400" dirty="0">
                <a:latin typeface="メイリオ" panose="020B0604030504040204" pitchFamily="50" charset="-128"/>
                <a:ea typeface="メイリオ" panose="020B0604030504040204" pitchFamily="50" charset="-128"/>
              </a:rPr>
              <a:t>: 0(</a:t>
            </a:r>
            <a:r>
              <a:rPr kumimoji="1" lang="en-US" altLang="ja-JP" sz="2400" dirty="0" err="1">
                <a:latin typeface="メイリオ" panose="020B0604030504040204" pitchFamily="50" charset="-128"/>
                <a:ea typeface="メイリオ" panose="020B0604030504040204" pitchFamily="50" charset="-128"/>
              </a:rPr>
              <a:t>setosa</a:t>
            </a:r>
            <a:r>
              <a:rPr kumimoji="1" lang="en-US" altLang="ja-JP" sz="2400" dirty="0">
                <a:latin typeface="メイリオ" panose="020B0604030504040204" pitchFamily="50" charset="-128"/>
                <a:ea typeface="メイリオ" panose="020B0604030504040204" pitchFamily="50" charset="-128"/>
              </a:rPr>
              <a:t>),1(versicolor),2(virginica)</a:t>
            </a:r>
            <a:endParaRPr kumimoji="1" lang="ja-JP" altLang="en-US" sz="2400"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D4BC7129-5EF1-429A-92D7-C34B08D89614}"/>
              </a:ext>
            </a:extLst>
          </p:cNvPr>
          <p:cNvSpPr txBox="1"/>
          <p:nvPr/>
        </p:nvSpPr>
        <p:spPr>
          <a:xfrm>
            <a:off x="1497778" y="4842417"/>
            <a:ext cx="10128165" cy="1754326"/>
          </a:xfrm>
          <a:prstGeom prst="rect">
            <a:avLst/>
          </a:prstGeom>
          <a:noFill/>
        </p:spPr>
        <p:txBody>
          <a:bodyPr wrap="square" rtlCol="0">
            <a:spAutoFit/>
          </a:bodyPr>
          <a:lstStyle/>
          <a:p>
            <a:pPr algn="l"/>
            <a:r>
              <a:rPr kumimoji="1" lang="en-US" altLang="ja-JP" sz="2400" dirty="0">
                <a:latin typeface="メイリオ" panose="020B0604030504040204" pitchFamily="50" charset="-128"/>
                <a:ea typeface="メイリオ" panose="020B0604030504040204" pitchFamily="50" charset="-128"/>
              </a:rPr>
              <a:t>2. </a:t>
            </a:r>
            <a:r>
              <a:rPr kumimoji="1" lang="ja-JP" altLang="en-US" sz="2400" dirty="0">
                <a:latin typeface="メイリオ" panose="020B0604030504040204" pitchFamily="50" charset="-128"/>
                <a:ea typeface="メイリオ" panose="020B0604030504040204" pitchFamily="50" charset="-128"/>
              </a:rPr>
              <a:t>タスク（機械学習で何をやるか）</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a:t>
            </a:r>
            <a:r>
              <a:rPr kumimoji="1" lang="ja-JP" altLang="en-US" sz="2000" dirty="0">
                <a:latin typeface="メイリオ" panose="020B0604030504040204" pitchFamily="50" charset="-128"/>
                <a:ea typeface="メイリオ" panose="020B0604030504040204" pitchFamily="50" charset="-128"/>
              </a:rPr>
              <a:t>学習（訓練）：上記のデータセットを機械学習で学習し、</a:t>
            </a:r>
            <a:r>
              <a:rPr kumimoji="1" lang="en-US" altLang="ja-JP" sz="2000" dirty="0">
                <a:latin typeface="メイリオ" panose="020B0604030504040204" pitchFamily="50" charset="-128"/>
                <a:ea typeface="メイリオ" panose="020B0604030504040204" pitchFamily="50" charset="-128"/>
              </a:rPr>
              <a:t>iris</a:t>
            </a:r>
            <a:r>
              <a:rPr kumimoji="1" lang="ja-JP" altLang="en-US" sz="2000" dirty="0">
                <a:latin typeface="メイリオ" panose="020B0604030504040204" pitchFamily="50" charset="-128"/>
                <a:ea typeface="メイリオ" panose="020B0604030504040204" pitchFamily="50" charset="-128"/>
              </a:rPr>
              <a:t>の</a:t>
            </a:r>
            <a:r>
              <a:rPr kumimoji="1" lang="en-US" altLang="ja-JP" sz="2000" dirty="0">
                <a:latin typeface="メイリオ" panose="020B0604030504040204" pitchFamily="50" charset="-128"/>
                <a:ea typeface="メイリオ" panose="020B0604030504040204" pitchFamily="50" charset="-128"/>
              </a:rPr>
              <a:t>3</a:t>
            </a:r>
            <a:r>
              <a:rPr kumimoji="1" lang="ja-JP" altLang="en-US" sz="2000" dirty="0">
                <a:latin typeface="メイリオ" panose="020B0604030504040204" pitchFamily="50" charset="-128"/>
                <a:ea typeface="メイリオ" panose="020B0604030504040204" pitchFamily="50" charset="-128"/>
              </a:rPr>
              <a:t>品種を分類する</a:t>
            </a:r>
            <a:endParaRPr kumimoji="1" lang="en-US" altLang="ja-JP" sz="2000"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　　　　　　　　　ルール（特徴量の違い）を見つけ出す</a:t>
            </a:r>
            <a:endParaRPr kumimoji="1" lang="en-US" altLang="ja-JP" sz="2000"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　  分類（予測） </a:t>
            </a:r>
            <a:r>
              <a:rPr kumimoji="1" lang="en-US" altLang="ja-JP" sz="2000" dirty="0">
                <a:latin typeface="メイリオ" panose="020B0604030504040204" pitchFamily="50" charset="-128"/>
                <a:ea typeface="メイリオ" panose="020B0604030504040204" pitchFamily="50" charset="-128"/>
              </a:rPr>
              <a:t>: </a:t>
            </a:r>
            <a:r>
              <a:rPr kumimoji="1" lang="ja-JP" altLang="en-US" sz="2000" dirty="0">
                <a:latin typeface="メイリオ" panose="020B0604030504040204" pitchFamily="50" charset="-128"/>
                <a:ea typeface="メイリオ" panose="020B0604030504040204" pitchFamily="50" charset="-128"/>
              </a:rPr>
              <a:t>ラベル（品種）が不明の特徴量を入力すると</a:t>
            </a:r>
            <a:r>
              <a:rPr kumimoji="1" lang="en-US" altLang="ja-JP" sz="2000" dirty="0">
                <a:latin typeface="メイリオ" panose="020B0604030504040204" pitchFamily="50" charset="-128"/>
                <a:ea typeface="メイリオ" panose="020B0604030504040204" pitchFamily="50" charset="-128"/>
              </a:rPr>
              <a:t>3</a:t>
            </a:r>
            <a:r>
              <a:rPr kumimoji="1" lang="ja-JP" altLang="en-US" sz="2000" dirty="0">
                <a:latin typeface="メイリオ" panose="020B0604030504040204" pitchFamily="50" charset="-128"/>
                <a:ea typeface="メイリオ" panose="020B0604030504040204" pitchFamily="50" charset="-128"/>
              </a:rPr>
              <a:t>品種のうちのどれか</a:t>
            </a:r>
            <a:endParaRPr kumimoji="1" lang="en-US" altLang="ja-JP" sz="2000"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　　　　　　　　　を分類する</a:t>
            </a:r>
            <a:r>
              <a:rPr kumimoji="1" lang="en-US" altLang="ja-JP" sz="2000" dirty="0">
                <a:latin typeface="メイリオ" panose="020B0604030504040204" pitchFamily="50" charset="-128"/>
                <a:ea typeface="メイリオ" panose="020B0604030504040204" pitchFamily="50" charset="-128"/>
              </a:rPr>
              <a:t> </a:t>
            </a:r>
            <a:endParaRPr kumimoji="1" lang="ja-JP" altLang="en-US" sz="20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50751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C453056-A354-4058-8BF9-CCB4E1DBBDBF}"/>
              </a:ext>
            </a:extLst>
          </p:cNvPr>
          <p:cNvSpPr txBox="1"/>
          <p:nvPr/>
        </p:nvSpPr>
        <p:spPr>
          <a:xfrm>
            <a:off x="186637" y="261396"/>
            <a:ext cx="5446940" cy="584775"/>
          </a:xfrm>
          <a:prstGeom prst="rect">
            <a:avLst/>
          </a:prstGeom>
          <a:noFill/>
        </p:spPr>
        <p:txBody>
          <a:bodyPr wrap="none" rtlCol="0">
            <a:spAutoFit/>
          </a:bodyPr>
          <a:lstStyle/>
          <a:p>
            <a:pPr algn="l"/>
            <a:r>
              <a:rPr kumimoji="1" lang="en-US" altLang="ja-JP" sz="3200" b="1" dirty="0">
                <a:latin typeface="メイリオ" panose="020B0604030504040204" pitchFamily="50" charset="-128"/>
                <a:ea typeface="メイリオ" panose="020B0604030504040204" pitchFamily="50" charset="-128"/>
              </a:rPr>
              <a:t>Iris</a:t>
            </a:r>
            <a:r>
              <a:rPr kumimoji="1" lang="ja-JP" altLang="en-US" sz="3200" b="1" dirty="0">
                <a:latin typeface="メイリオ" panose="020B0604030504040204" pitchFamily="50" charset="-128"/>
                <a:ea typeface="メイリオ" panose="020B0604030504040204" pitchFamily="50" charset="-128"/>
              </a:rPr>
              <a:t>データセットで機械学習</a:t>
            </a:r>
          </a:p>
        </p:txBody>
      </p:sp>
      <p:graphicFrame>
        <p:nvGraphicFramePr>
          <p:cNvPr id="7" name="図表 6">
            <a:extLst>
              <a:ext uri="{FF2B5EF4-FFF2-40B4-BE49-F238E27FC236}">
                <a16:creationId xmlns:a16="http://schemas.microsoft.com/office/drawing/2014/main" id="{EFC9A689-C59D-4C18-879C-4903DF0C8EF1}"/>
              </a:ext>
            </a:extLst>
          </p:cNvPr>
          <p:cNvGraphicFramePr/>
          <p:nvPr/>
        </p:nvGraphicFramePr>
        <p:xfrm>
          <a:off x="4086592" y="3743130"/>
          <a:ext cx="5100368" cy="15776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表 7">
            <a:extLst>
              <a:ext uri="{FF2B5EF4-FFF2-40B4-BE49-F238E27FC236}">
                <a16:creationId xmlns:a16="http://schemas.microsoft.com/office/drawing/2014/main" id="{89C20161-F988-455E-A1EA-E43EC9F4859A}"/>
              </a:ext>
            </a:extLst>
          </p:cNvPr>
          <p:cNvGraphicFramePr>
            <a:graphicFrameLocks noGrp="1"/>
          </p:cNvGraphicFramePr>
          <p:nvPr/>
        </p:nvGraphicFramePr>
        <p:xfrm>
          <a:off x="2990928" y="755527"/>
          <a:ext cx="4656650" cy="2301096"/>
        </p:xfrm>
        <a:graphic>
          <a:graphicData uri="http://schemas.openxmlformats.org/drawingml/2006/table">
            <a:tbl>
              <a:tblPr firstRow="1" bandRow="1">
                <a:tableStyleId>{5940675A-B579-460E-94D1-54222C63F5DA}</a:tableStyleId>
              </a:tblPr>
              <a:tblGrid>
                <a:gridCol w="1086049">
                  <a:extLst>
                    <a:ext uri="{9D8B030D-6E8A-4147-A177-3AD203B41FA5}">
                      <a16:colId xmlns:a16="http://schemas.microsoft.com/office/drawing/2014/main" val="1956025745"/>
                    </a:ext>
                  </a:extLst>
                </a:gridCol>
                <a:gridCol w="1352196">
                  <a:extLst>
                    <a:ext uri="{9D8B030D-6E8A-4147-A177-3AD203B41FA5}">
                      <a16:colId xmlns:a16="http://schemas.microsoft.com/office/drawing/2014/main" val="3203398356"/>
                    </a:ext>
                  </a:extLst>
                </a:gridCol>
                <a:gridCol w="1103271">
                  <a:extLst>
                    <a:ext uri="{9D8B030D-6E8A-4147-A177-3AD203B41FA5}">
                      <a16:colId xmlns:a16="http://schemas.microsoft.com/office/drawing/2014/main" val="1446089183"/>
                    </a:ext>
                  </a:extLst>
                </a:gridCol>
                <a:gridCol w="1115134">
                  <a:extLst>
                    <a:ext uri="{9D8B030D-6E8A-4147-A177-3AD203B41FA5}">
                      <a16:colId xmlns:a16="http://schemas.microsoft.com/office/drawing/2014/main" val="709289782"/>
                    </a:ext>
                  </a:extLst>
                </a:gridCol>
              </a:tblGrid>
              <a:tr h="693632">
                <a:tc>
                  <a:txBody>
                    <a:bodyPr/>
                    <a:lstStyle/>
                    <a:p>
                      <a:r>
                        <a:rPr kumimoji="1" lang="en-US" altLang="ja-JP" dirty="0"/>
                        <a:t>Sepal</a:t>
                      </a:r>
                    </a:p>
                    <a:p>
                      <a:r>
                        <a:rPr kumimoji="1" lang="en-US" altLang="ja-JP" dirty="0"/>
                        <a:t>length</a:t>
                      </a:r>
                      <a:endParaRPr kumimoji="1" lang="ja-JP" altLang="en-US" dirty="0"/>
                    </a:p>
                  </a:txBody>
                  <a:tcPr/>
                </a:tc>
                <a:tc>
                  <a:txBody>
                    <a:bodyPr/>
                    <a:lstStyle/>
                    <a:p>
                      <a:r>
                        <a:rPr kumimoji="1" lang="en-US" altLang="ja-JP" dirty="0"/>
                        <a:t>Sepal </a:t>
                      </a:r>
                    </a:p>
                    <a:p>
                      <a:r>
                        <a:rPr kumimoji="1" lang="en-US" altLang="ja-JP" dirty="0"/>
                        <a:t>width</a:t>
                      </a:r>
                      <a:endParaRPr kumimoji="1" lang="ja-JP" altLang="en-US" dirty="0"/>
                    </a:p>
                  </a:txBody>
                  <a:tcPr/>
                </a:tc>
                <a:tc>
                  <a:txBody>
                    <a:bodyPr/>
                    <a:lstStyle/>
                    <a:p>
                      <a:r>
                        <a:rPr kumimoji="1" lang="en-US" altLang="ja-JP" dirty="0"/>
                        <a:t>Petal </a:t>
                      </a:r>
                    </a:p>
                    <a:p>
                      <a:r>
                        <a:rPr kumimoji="1" lang="en-US" altLang="ja-JP" dirty="0"/>
                        <a:t>length</a:t>
                      </a:r>
                      <a:endParaRPr kumimoji="1" lang="ja-JP" altLang="en-US" dirty="0"/>
                    </a:p>
                  </a:txBody>
                  <a:tcPr/>
                </a:tc>
                <a:tc>
                  <a:txBody>
                    <a:bodyPr/>
                    <a:lstStyle/>
                    <a:p>
                      <a:r>
                        <a:rPr kumimoji="1" lang="en-US" altLang="ja-JP" dirty="0"/>
                        <a:t>Petal</a:t>
                      </a:r>
                    </a:p>
                    <a:p>
                      <a:r>
                        <a:rPr kumimoji="1" lang="en-US" altLang="ja-JP" dirty="0"/>
                        <a:t>width</a:t>
                      </a:r>
                      <a:endParaRPr kumimoji="1" lang="ja-JP" altLang="en-US" dirty="0"/>
                    </a:p>
                  </a:txBody>
                  <a:tcPr/>
                </a:tc>
                <a:extLst>
                  <a:ext uri="{0D108BD9-81ED-4DB2-BD59-A6C34878D82A}">
                    <a16:rowId xmlns:a16="http://schemas.microsoft.com/office/drawing/2014/main" val="1754640250"/>
                  </a:ext>
                </a:extLst>
              </a:tr>
              <a:tr h="401866">
                <a:tc>
                  <a:txBody>
                    <a:bodyPr/>
                    <a:lstStyle/>
                    <a:p>
                      <a:pPr algn="r"/>
                      <a:r>
                        <a:rPr kumimoji="1" lang="en-US" altLang="ja-JP" dirty="0"/>
                        <a:t>5.1</a:t>
                      </a:r>
                      <a:endParaRPr kumimoji="1" lang="ja-JP" altLang="en-US" dirty="0"/>
                    </a:p>
                  </a:txBody>
                  <a:tcPr/>
                </a:tc>
                <a:tc>
                  <a:txBody>
                    <a:bodyPr/>
                    <a:lstStyle/>
                    <a:p>
                      <a:pPr algn="r"/>
                      <a:r>
                        <a:rPr kumimoji="1" lang="en-US" altLang="ja-JP" dirty="0"/>
                        <a:t>3.5</a:t>
                      </a:r>
                      <a:endParaRPr kumimoji="1" lang="ja-JP" altLang="en-US" dirty="0"/>
                    </a:p>
                  </a:txBody>
                  <a:tcPr/>
                </a:tc>
                <a:tc>
                  <a:txBody>
                    <a:bodyPr/>
                    <a:lstStyle/>
                    <a:p>
                      <a:pPr algn="r"/>
                      <a:r>
                        <a:rPr kumimoji="1" lang="en-US" altLang="ja-JP" dirty="0"/>
                        <a:t>1.4</a:t>
                      </a:r>
                      <a:endParaRPr kumimoji="1" lang="ja-JP" altLang="en-US" dirty="0"/>
                    </a:p>
                  </a:txBody>
                  <a:tcPr/>
                </a:tc>
                <a:tc>
                  <a:txBody>
                    <a:bodyPr/>
                    <a:lstStyle/>
                    <a:p>
                      <a:pPr algn="r"/>
                      <a:r>
                        <a:rPr kumimoji="1" lang="en-US" altLang="ja-JP" dirty="0"/>
                        <a:t>0.2</a:t>
                      </a:r>
                      <a:endParaRPr kumimoji="1" lang="ja-JP" altLang="en-US" dirty="0"/>
                    </a:p>
                  </a:txBody>
                  <a:tcPr/>
                </a:tc>
                <a:extLst>
                  <a:ext uri="{0D108BD9-81ED-4DB2-BD59-A6C34878D82A}">
                    <a16:rowId xmlns:a16="http://schemas.microsoft.com/office/drawing/2014/main" val="4085924178"/>
                  </a:ext>
                </a:extLst>
              </a:tr>
              <a:tr h="401866">
                <a:tc>
                  <a:txBody>
                    <a:bodyPr/>
                    <a:lstStyle/>
                    <a:p>
                      <a:pPr algn="r"/>
                      <a:r>
                        <a:rPr kumimoji="1" lang="en-US" altLang="ja-JP" dirty="0"/>
                        <a:t>4.9</a:t>
                      </a:r>
                      <a:endParaRPr kumimoji="1" lang="ja-JP" altLang="en-US" dirty="0"/>
                    </a:p>
                  </a:txBody>
                  <a:tcPr/>
                </a:tc>
                <a:tc>
                  <a:txBody>
                    <a:bodyPr/>
                    <a:lstStyle/>
                    <a:p>
                      <a:pPr algn="r"/>
                      <a:r>
                        <a:rPr kumimoji="1" lang="en-US" altLang="ja-JP" dirty="0"/>
                        <a:t>3</a:t>
                      </a:r>
                      <a:endParaRPr kumimoji="1" lang="ja-JP" altLang="en-US" dirty="0"/>
                    </a:p>
                  </a:txBody>
                  <a:tcPr/>
                </a:tc>
                <a:tc>
                  <a:txBody>
                    <a:bodyPr/>
                    <a:lstStyle/>
                    <a:p>
                      <a:pPr algn="r"/>
                      <a:r>
                        <a:rPr kumimoji="1" lang="en-US" altLang="ja-JP" dirty="0"/>
                        <a:t>1.4</a:t>
                      </a:r>
                      <a:endParaRPr kumimoji="1" lang="ja-JP" altLang="en-US" dirty="0"/>
                    </a:p>
                  </a:txBody>
                  <a:tcPr/>
                </a:tc>
                <a:tc>
                  <a:txBody>
                    <a:bodyPr/>
                    <a:lstStyle/>
                    <a:p>
                      <a:pPr algn="r"/>
                      <a:r>
                        <a:rPr kumimoji="1" lang="en-US" altLang="ja-JP" dirty="0"/>
                        <a:t>0.2</a:t>
                      </a:r>
                      <a:endParaRPr kumimoji="1" lang="ja-JP" altLang="en-US" dirty="0"/>
                    </a:p>
                  </a:txBody>
                  <a:tcPr/>
                </a:tc>
                <a:extLst>
                  <a:ext uri="{0D108BD9-81ED-4DB2-BD59-A6C34878D82A}">
                    <a16:rowId xmlns:a16="http://schemas.microsoft.com/office/drawing/2014/main" val="1285687201"/>
                  </a:ext>
                </a:extLst>
              </a:tr>
              <a:tr h="401866">
                <a:tc>
                  <a:txBody>
                    <a:bodyPr/>
                    <a:lstStyle/>
                    <a:p>
                      <a:pPr algn="r"/>
                      <a:r>
                        <a:rPr kumimoji="1" lang="en-US" altLang="ja-JP" dirty="0"/>
                        <a:t>4.7</a:t>
                      </a:r>
                      <a:endParaRPr kumimoji="1" lang="ja-JP" altLang="en-US" dirty="0"/>
                    </a:p>
                  </a:txBody>
                  <a:tcPr/>
                </a:tc>
                <a:tc>
                  <a:txBody>
                    <a:bodyPr/>
                    <a:lstStyle/>
                    <a:p>
                      <a:pPr algn="r"/>
                      <a:r>
                        <a:rPr kumimoji="1" lang="en-US" altLang="ja-JP" dirty="0"/>
                        <a:t>3.2</a:t>
                      </a:r>
                      <a:endParaRPr kumimoji="1" lang="ja-JP" altLang="en-US" dirty="0"/>
                    </a:p>
                  </a:txBody>
                  <a:tcPr/>
                </a:tc>
                <a:tc>
                  <a:txBody>
                    <a:bodyPr/>
                    <a:lstStyle/>
                    <a:p>
                      <a:pPr algn="r"/>
                      <a:r>
                        <a:rPr kumimoji="1" lang="en-US" altLang="ja-JP" dirty="0"/>
                        <a:t>1.3</a:t>
                      </a:r>
                      <a:endParaRPr kumimoji="1" lang="ja-JP" altLang="en-US" dirty="0"/>
                    </a:p>
                  </a:txBody>
                  <a:tcPr/>
                </a:tc>
                <a:tc>
                  <a:txBody>
                    <a:bodyPr/>
                    <a:lstStyle/>
                    <a:p>
                      <a:pPr algn="r"/>
                      <a:r>
                        <a:rPr kumimoji="1" lang="en-US" altLang="ja-JP" dirty="0"/>
                        <a:t>0.2</a:t>
                      </a:r>
                      <a:endParaRPr kumimoji="1" lang="ja-JP" altLang="en-US" dirty="0"/>
                    </a:p>
                  </a:txBody>
                  <a:tcPr/>
                </a:tc>
                <a:extLst>
                  <a:ext uri="{0D108BD9-81ED-4DB2-BD59-A6C34878D82A}">
                    <a16:rowId xmlns:a16="http://schemas.microsoft.com/office/drawing/2014/main" val="499958160"/>
                  </a:ext>
                </a:extLst>
              </a:tr>
              <a:tr h="401866">
                <a:tc>
                  <a:txBody>
                    <a:bodyPr/>
                    <a:lstStyle/>
                    <a:p>
                      <a:pPr algn="r"/>
                      <a:r>
                        <a:rPr kumimoji="1" lang="en-US" altLang="ja-JP" dirty="0"/>
                        <a:t>4.6</a:t>
                      </a:r>
                      <a:endParaRPr kumimoji="1" lang="ja-JP" altLang="en-US" dirty="0"/>
                    </a:p>
                  </a:txBody>
                  <a:tcPr/>
                </a:tc>
                <a:tc>
                  <a:txBody>
                    <a:bodyPr/>
                    <a:lstStyle/>
                    <a:p>
                      <a:pPr algn="r"/>
                      <a:r>
                        <a:rPr kumimoji="1" lang="en-US" altLang="ja-JP" dirty="0"/>
                        <a:t>3.1</a:t>
                      </a:r>
                      <a:endParaRPr kumimoji="1" lang="ja-JP" altLang="en-US" dirty="0"/>
                    </a:p>
                  </a:txBody>
                  <a:tcPr/>
                </a:tc>
                <a:tc>
                  <a:txBody>
                    <a:bodyPr/>
                    <a:lstStyle/>
                    <a:p>
                      <a:pPr algn="r"/>
                      <a:r>
                        <a:rPr kumimoji="1" lang="en-US" altLang="ja-JP" dirty="0"/>
                        <a:t>1.5</a:t>
                      </a:r>
                      <a:endParaRPr kumimoji="1" lang="ja-JP" altLang="en-US" dirty="0"/>
                    </a:p>
                  </a:txBody>
                  <a:tcPr/>
                </a:tc>
                <a:tc>
                  <a:txBody>
                    <a:bodyPr/>
                    <a:lstStyle/>
                    <a:p>
                      <a:pPr algn="r"/>
                      <a:r>
                        <a:rPr kumimoji="1" lang="en-US" altLang="ja-JP" dirty="0"/>
                        <a:t>0.2</a:t>
                      </a:r>
                      <a:endParaRPr kumimoji="1" lang="ja-JP" altLang="en-US" dirty="0"/>
                    </a:p>
                  </a:txBody>
                  <a:tcPr/>
                </a:tc>
                <a:extLst>
                  <a:ext uri="{0D108BD9-81ED-4DB2-BD59-A6C34878D82A}">
                    <a16:rowId xmlns:a16="http://schemas.microsoft.com/office/drawing/2014/main" val="4258993518"/>
                  </a:ext>
                </a:extLst>
              </a:tr>
            </a:tbl>
          </a:graphicData>
        </a:graphic>
      </p:graphicFrame>
      <p:graphicFrame>
        <p:nvGraphicFramePr>
          <p:cNvPr id="9" name="表 8">
            <a:extLst>
              <a:ext uri="{FF2B5EF4-FFF2-40B4-BE49-F238E27FC236}">
                <a16:creationId xmlns:a16="http://schemas.microsoft.com/office/drawing/2014/main" id="{D27A18C2-D3DF-49E6-A85A-9C38538A26AE}"/>
              </a:ext>
            </a:extLst>
          </p:cNvPr>
          <p:cNvGraphicFramePr>
            <a:graphicFrameLocks noGrp="1"/>
          </p:cNvGraphicFramePr>
          <p:nvPr/>
        </p:nvGraphicFramePr>
        <p:xfrm>
          <a:off x="1674631" y="1024768"/>
          <a:ext cx="1252692" cy="2031855"/>
        </p:xfrm>
        <a:graphic>
          <a:graphicData uri="http://schemas.openxmlformats.org/drawingml/2006/table">
            <a:tbl>
              <a:tblPr firstRow="1" bandRow="1">
                <a:tableStyleId>{5940675A-B579-460E-94D1-54222C63F5DA}</a:tableStyleId>
              </a:tblPr>
              <a:tblGrid>
                <a:gridCol w="1252692">
                  <a:extLst>
                    <a:ext uri="{9D8B030D-6E8A-4147-A177-3AD203B41FA5}">
                      <a16:colId xmlns:a16="http://schemas.microsoft.com/office/drawing/2014/main" val="136106727"/>
                    </a:ext>
                  </a:extLst>
                </a:gridCol>
              </a:tblGrid>
              <a:tr h="406371">
                <a:tc>
                  <a:txBody>
                    <a:bodyPr/>
                    <a:lstStyle/>
                    <a:p>
                      <a:r>
                        <a:rPr kumimoji="1" lang="en-US" altLang="ja-JP" dirty="0"/>
                        <a:t>Target</a:t>
                      </a:r>
                      <a:endParaRPr kumimoji="1" lang="ja-JP" altLang="en-US" dirty="0"/>
                    </a:p>
                  </a:txBody>
                  <a:tcPr/>
                </a:tc>
                <a:extLst>
                  <a:ext uri="{0D108BD9-81ED-4DB2-BD59-A6C34878D82A}">
                    <a16:rowId xmlns:a16="http://schemas.microsoft.com/office/drawing/2014/main" val="1312683392"/>
                  </a:ext>
                </a:extLst>
              </a:tr>
              <a:tr h="406371">
                <a:tc>
                  <a:txBody>
                    <a:bodyPr/>
                    <a:lstStyle/>
                    <a:p>
                      <a:r>
                        <a:rPr kumimoji="1" lang="en-US" altLang="ja-JP" dirty="0"/>
                        <a:t>0</a:t>
                      </a:r>
                      <a:endParaRPr kumimoji="1" lang="ja-JP" altLang="en-US" dirty="0"/>
                    </a:p>
                  </a:txBody>
                  <a:tcPr/>
                </a:tc>
                <a:extLst>
                  <a:ext uri="{0D108BD9-81ED-4DB2-BD59-A6C34878D82A}">
                    <a16:rowId xmlns:a16="http://schemas.microsoft.com/office/drawing/2014/main" val="3736312713"/>
                  </a:ext>
                </a:extLst>
              </a:tr>
              <a:tr h="406371">
                <a:tc>
                  <a:txBody>
                    <a:bodyPr/>
                    <a:lstStyle/>
                    <a:p>
                      <a:r>
                        <a:rPr kumimoji="1" lang="en-US" altLang="ja-JP" dirty="0"/>
                        <a:t>0</a:t>
                      </a:r>
                      <a:endParaRPr kumimoji="1" lang="ja-JP" altLang="en-US" dirty="0"/>
                    </a:p>
                  </a:txBody>
                  <a:tcPr/>
                </a:tc>
                <a:extLst>
                  <a:ext uri="{0D108BD9-81ED-4DB2-BD59-A6C34878D82A}">
                    <a16:rowId xmlns:a16="http://schemas.microsoft.com/office/drawing/2014/main" val="2575363969"/>
                  </a:ext>
                </a:extLst>
              </a:tr>
              <a:tr h="406371">
                <a:tc>
                  <a:txBody>
                    <a:bodyPr/>
                    <a:lstStyle/>
                    <a:p>
                      <a:r>
                        <a:rPr kumimoji="1" lang="en-US" altLang="ja-JP" dirty="0"/>
                        <a:t>2</a:t>
                      </a:r>
                      <a:endParaRPr kumimoji="1" lang="ja-JP" altLang="en-US" dirty="0"/>
                    </a:p>
                  </a:txBody>
                  <a:tcPr/>
                </a:tc>
                <a:extLst>
                  <a:ext uri="{0D108BD9-81ED-4DB2-BD59-A6C34878D82A}">
                    <a16:rowId xmlns:a16="http://schemas.microsoft.com/office/drawing/2014/main" val="1277393644"/>
                  </a:ext>
                </a:extLst>
              </a:tr>
              <a:tr h="406371">
                <a:tc>
                  <a:txBody>
                    <a:bodyPr/>
                    <a:lstStyle/>
                    <a:p>
                      <a:r>
                        <a:rPr kumimoji="1" lang="en-US" altLang="ja-JP" dirty="0"/>
                        <a:t>1</a:t>
                      </a:r>
                      <a:endParaRPr kumimoji="1" lang="ja-JP" altLang="en-US" dirty="0"/>
                    </a:p>
                  </a:txBody>
                  <a:tcPr/>
                </a:tc>
                <a:extLst>
                  <a:ext uri="{0D108BD9-81ED-4DB2-BD59-A6C34878D82A}">
                    <a16:rowId xmlns:a16="http://schemas.microsoft.com/office/drawing/2014/main" val="3575396391"/>
                  </a:ext>
                </a:extLst>
              </a:tr>
            </a:tbl>
          </a:graphicData>
        </a:graphic>
      </p:graphicFrame>
      <p:sp>
        <p:nvSpPr>
          <p:cNvPr id="10" name="矢印: 下 9">
            <a:extLst>
              <a:ext uri="{FF2B5EF4-FFF2-40B4-BE49-F238E27FC236}">
                <a16:creationId xmlns:a16="http://schemas.microsoft.com/office/drawing/2014/main" id="{DDF7A13B-CD7B-41E4-9CB5-8336456A38B7}"/>
              </a:ext>
            </a:extLst>
          </p:cNvPr>
          <p:cNvSpPr/>
          <p:nvPr/>
        </p:nvSpPr>
        <p:spPr>
          <a:xfrm>
            <a:off x="5322218" y="3519950"/>
            <a:ext cx="1101213" cy="363793"/>
          </a:xfrm>
          <a:prstGeom prst="downArrow">
            <a:avLst>
              <a:gd name="adj1" fmla="val 48214"/>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DDA9C394-F4E7-4300-9CDA-53B06B02F24C}"/>
              </a:ext>
            </a:extLst>
          </p:cNvPr>
          <p:cNvSpPr txBox="1"/>
          <p:nvPr/>
        </p:nvSpPr>
        <p:spPr>
          <a:xfrm>
            <a:off x="1253248" y="3114870"/>
            <a:ext cx="4296773" cy="923330"/>
          </a:xfrm>
          <a:prstGeom prst="rect">
            <a:avLst/>
          </a:prstGeom>
          <a:noFill/>
        </p:spPr>
        <p:txBody>
          <a:bodyPr wrap="square" rtlCol="0">
            <a:spAutoFit/>
          </a:bodyPr>
          <a:lstStyle/>
          <a:p>
            <a:pPr algn="l"/>
            <a:r>
              <a:rPr kumimoji="1" lang="ja-JP" altLang="en-US" b="1" u="sng" dirty="0">
                <a:latin typeface="メイリオ" panose="020B0604030504040204" pitchFamily="50" charset="-128"/>
                <a:ea typeface="メイリオ" panose="020B0604030504040204" pitchFamily="50" charset="-128"/>
              </a:rPr>
              <a:t>訓練データ</a:t>
            </a:r>
            <a:endParaRPr kumimoji="1" lang="en-US" altLang="ja-JP" b="1" u="sng" dirty="0">
              <a:latin typeface="メイリオ" panose="020B0604030504040204" pitchFamily="50" charset="-128"/>
              <a:ea typeface="メイリオ" panose="020B0604030504040204" pitchFamily="50" charset="-128"/>
            </a:endParaRPr>
          </a:p>
          <a:p>
            <a:pPr algn="l"/>
            <a:r>
              <a:rPr kumimoji="1" lang="ja-JP" altLang="en-US" dirty="0">
                <a:latin typeface="メイリオ" panose="020B0604030504040204" pitchFamily="50" charset="-128"/>
                <a:ea typeface="メイリオ" panose="020B0604030504040204" pitchFamily="50" charset="-128"/>
              </a:rPr>
              <a:t>教師ラベルがついた特徴量を読み込んで</a:t>
            </a:r>
            <a:r>
              <a:rPr kumimoji="1" lang="en-US" altLang="ja-JP" dirty="0">
                <a:latin typeface="メイリオ" panose="020B0604030504040204" pitchFamily="50" charset="-128"/>
                <a:ea typeface="メイリオ" panose="020B0604030504040204" pitchFamily="50" charset="-128"/>
              </a:rPr>
              <a:t>iris3</a:t>
            </a:r>
            <a:r>
              <a:rPr kumimoji="1" lang="ja-JP" altLang="en-US" dirty="0">
                <a:latin typeface="メイリオ" panose="020B0604030504040204" pitchFamily="50" charset="-128"/>
                <a:ea typeface="メイリオ" panose="020B0604030504040204" pitchFamily="50" charset="-128"/>
              </a:rPr>
              <a:t>品種の分類ルールを見つけ出す</a:t>
            </a:r>
          </a:p>
        </p:txBody>
      </p:sp>
      <p:graphicFrame>
        <p:nvGraphicFramePr>
          <p:cNvPr id="12" name="表 11">
            <a:extLst>
              <a:ext uri="{FF2B5EF4-FFF2-40B4-BE49-F238E27FC236}">
                <a16:creationId xmlns:a16="http://schemas.microsoft.com/office/drawing/2014/main" id="{7C9E9C96-8A7E-428B-9224-0781AD7F14D2}"/>
              </a:ext>
            </a:extLst>
          </p:cNvPr>
          <p:cNvGraphicFramePr>
            <a:graphicFrameLocks noGrp="1"/>
          </p:cNvGraphicFramePr>
          <p:nvPr/>
        </p:nvGraphicFramePr>
        <p:xfrm>
          <a:off x="5741736" y="5762502"/>
          <a:ext cx="4656650" cy="1095498"/>
        </p:xfrm>
        <a:graphic>
          <a:graphicData uri="http://schemas.openxmlformats.org/drawingml/2006/table">
            <a:tbl>
              <a:tblPr firstRow="1" bandRow="1">
                <a:tableStyleId>{5940675A-B579-460E-94D1-54222C63F5DA}</a:tableStyleId>
              </a:tblPr>
              <a:tblGrid>
                <a:gridCol w="1086049">
                  <a:extLst>
                    <a:ext uri="{9D8B030D-6E8A-4147-A177-3AD203B41FA5}">
                      <a16:colId xmlns:a16="http://schemas.microsoft.com/office/drawing/2014/main" val="1956025745"/>
                    </a:ext>
                  </a:extLst>
                </a:gridCol>
                <a:gridCol w="1352196">
                  <a:extLst>
                    <a:ext uri="{9D8B030D-6E8A-4147-A177-3AD203B41FA5}">
                      <a16:colId xmlns:a16="http://schemas.microsoft.com/office/drawing/2014/main" val="3203398356"/>
                    </a:ext>
                  </a:extLst>
                </a:gridCol>
                <a:gridCol w="1103271">
                  <a:extLst>
                    <a:ext uri="{9D8B030D-6E8A-4147-A177-3AD203B41FA5}">
                      <a16:colId xmlns:a16="http://schemas.microsoft.com/office/drawing/2014/main" val="1446089183"/>
                    </a:ext>
                  </a:extLst>
                </a:gridCol>
                <a:gridCol w="1115134">
                  <a:extLst>
                    <a:ext uri="{9D8B030D-6E8A-4147-A177-3AD203B41FA5}">
                      <a16:colId xmlns:a16="http://schemas.microsoft.com/office/drawing/2014/main" val="709289782"/>
                    </a:ext>
                  </a:extLst>
                </a:gridCol>
              </a:tblGrid>
              <a:tr h="693632">
                <a:tc>
                  <a:txBody>
                    <a:bodyPr/>
                    <a:lstStyle/>
                    <a:p>
                      <a:r>
                        <a:rPr kumimoji="1" lang="en-US" altLang="ja-JP" dirty="0"/>
                        <a:t>Sepal</a:t>
                      </a:r>
                    </a:p>
                    <a:p>
                      <a:r>
                        <a:rPr kumimoji="1" lang="en-US" altLang="ja-JP" dirty="0"/>
                        <a:t>length</a:t>
                      </a:r>
                      <a:endParaRPr kumimoji="1" lang="ja-JP" altLang="en-US" dirty="0"/>
                    </a:p>
                  </a:txBody>
                  <a:tcPr/>
                </a:tc>
                <a:tc>
                  <a:txBody>
                    <a:bodyPr/>
                    <a:lstStyle/>
                    <a:p>
                      <a:r>
                        <a:rPr kumimoji="1" lang="en-US" altLang="ja-JP" dirty="0"/>
                        <a:t>Sepal </a:t>
                      </a:r>
                    </a:p>
                    <a:p>
                      <a:r>
                        <a:rPr kumimoji="1" lang="en-US" altLang="ja-JP" dirty="0"/>
                        <a:t>width</a:t>
                      </a:r>
                      <a:endParaRPr kumimoji="1" lang="ja-JP" altLang="en-US" dirty="0"/>
                    </a:p>
                  </a:txBody>
                  <a:tcPr/>
                </a:tc>
                <a:tc>
                  <a:txBody>
                    <a:bodyPr/>
                    <a:lstStyle/>
                    <a:p>
                      <a:r>
                        <a:rPr kumimoji="1" lang="en-US" altLang="ja-JP" dirty="0"/>
                        <a:t>Petal </a:t>
                      </a:r>
                    </a:p>
                    <a:p>
                      <a:r>
                        <a:rPr kumimoji="1" lang="en-US" altLang="ja-JP" dirty="0"/>
                        <a:t>length</a:t>
                      </a:r>
                      <a:endParaRPr kumimoji="1" lang="ja-JP" altLang="en-US" dirty="0"/>
                    </a:p>
                  </a:txBody>
                  <a:tcPr/>
                </a:tc>
                <a:tc>
                  <a:txBody>
                    <a:bodyPr/>
                    <a:lstStyle/>
                    <a:p>
                      <a:r>
                        <a:rPr kumimoji="1" lang="en-US" altLang="ja-JP" dirty="0"/>
                        <a:t>Petal</a:t>
                      </a:r>
                    </a:p>
                    <a:p>
                      <a:r>
                        <a:rPr kumimoji="1" lang="en-US" altLang="ja-JP" dirty="0"/>
                        <a:t>width</a:t>
                      </a:r>
                      <a:endParaRPr kumimoji="1" lang="ja-JP" altLang="en-US" dirty="0"/>
                    </a:p>
                  </a:txBody>
                  <a:tcPr/>
                </a:tc>
                <a:extLst>
                  <a:ext uri="{0D108BD9-81ED-4DB2-BD59-A6C34878D82A}">
                    <a16:rowId xmlns:a16="http://schemas.microsoft.com/office/drawing/2014/main" val="1754640250"/>
                  </a:ext>
                </a:extLst>
              </a:tr>
              <a:tr h="401866">
                <a:tc>
                  <a:txBody>
                    <a:bodyPr/>
                    <a:lstStyle/>
                    <a:p>
                      <a:pPr algn="r"/>
                      <a:r>
                        <a:rPr kumimoji="1" lang="en-US" altLang="ja-JP" dirty="0"/>
                        <a:t>5.1</a:t>
                      </a:r>
                      <a:endParaRPr kumimoji="1" lang="ja-JP" altLang="en-US" dirty="0"/>
                    </a:p>
                  </a:txBody>
                  <a:tcPr/>
                </a:tc>
                <a:tc>
                  <a:txBody>
                    <a:bodyPr/>
                    <a:lstStyle/>
                    <a:p>
                      <a:pPr algn="r"/>
                      <a:r>
                        <a:rPr kumimoji="1" lang="en-US" altLang="ja-JP" dirty="0"/>
                        <a:t>3.5</a:t>
                      </a:r>
                      <a:endParaRPr kumimoji="1" lang="ja-JP" altLang="en-US" dirty="0"/>
                    </a:p>
                  </a:txBody>
                  <a:tcPr/>
                </a:tc>
                <a:tc>
                  <a:txBody>
                    <a:bodyPr/>
                    <a:lstStyle/>
                    <a:p>
                      <a:pPr algn="r"/>
                      <a:r>
                        <a:rPr kumimoji="1" lang="en-US" altLang="ja-JP" dirty="0"/>
                        <a:t>1.4</a:t>
                      </a:r>
                      <a:endParaRPr kumimoji="1" lang="ja-JP" altLang="en-US" dirty="0"/>
                    </a:p>
                  </a:txBody>
                  <a:tcPr/>
                </a:tc>
                <a:tc>
                  <a:txBody>
                    <a:bodyPr/>
                    <a:lstStyle/>
                    <a:p>
                      <a:pPr algn="r"/>
                      <a:r>
                        <a:rPr kumimoji="1" lang="en-US" altLang="ja-JP" dirty="0"/>
                        <a:t>0.2</a:t>
                      </a:r>
                      <a:endParaRPr kumimoji="1" lang="ja-JP" altLang="en-US" dirty="0"/>
                    </a:p>
                  </a:txBody>
                  <a:tcPr/>
                </a:tc>
                <a:extLst>
                  <a:ext uri="{0D108BD9-81ED-4DB2-BD59-A6C34878D82A}">
                    <a16:rowId xmlns:a16="http://schemas.microsoft.com/office/drawing/2014/main" val="4085924178"/>
                  </a:ext>
                </a:extLst>
              </a:tr>
            </a:tbl>
          </a:graphicData>
        </a:graphic>
      </p:graphicFrame>
      <p:sp>
        <p:nvSpPr>
          <p:cNvPr id="13" name="矢印: 下 12">
            <a:extLst>
              <a:ext uri="{FF2B5EF4-FFF2-40B4-BE49-F238E27FC236}">
                <a16:creationId xmlns:a16="http://schemas.microsoft.com/office/drawing/2014/main" id="{7AC4C2A1-68B9-454E-9777-4916372FCFF6}"/>
              </a:ext>
            </a:extLst>
          </p:cNvPr>
          <p:cNvSpPr/>
          <p:nvPr/>
        </p:nvSpPr>
        <p:spPr>
          <a:xfrm flipV="1">
            <a:off x="6799008" y="5258247"/>
            <a:ext cx="1101213" cy="363793"/>
          </a:xfrm>
          <a:prstGeom prst="downArrow">
            <a:avLst>
              <a:gd name="adj1" fmla="val 48214"/>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158EE4FD-6361-4F4B-BCC2-85147B5E6AF9}"/>
              </a:ext>
            </a:extLst>
          </p:cNvPr>
          <p:cNvSpPr txBox="1"/>
          <p:nvPr/>
        </p:nvSpPr>
        <p:spPr>
          <a:xfrm>
            <a:off x="7973962" y="5116171"/>
            <a:ext cx="4784259" cy="646331"/>
          </a:xfrm>
          <a:prstGeom prst="rect">
            <a:avLst/>
          </a:prstGeom>
          <a:noFill/>
        </p:spPr>
        <p:txBody>
          <a:bodyPr wrap="square" rtlCol="0">
            <a:spAutoFit/>
          </a:bodyPr>
          <a:lstStyle/>
          <a:p>
            <a:pPr algn="l"/>
            <a:r>
              <a:rPr kumimoji="1" lang="ja-JP" altLang="en-US" dirty="0">
                <a:latin typeface="メイリオ" panose="020B0604030504040204" pitchFamily="50" charset="-128"/>
                <a:ea typeface="メイリオ" panose="020B0604030504040204" pitchFamily="50" charset="-128"/>
              </a:rPr>
              <a:t>テストデータ</a:t>
            </a:r>
            <a:endParaRPr kumimoji="1" lang="en-US" altLang="ja-JP" dirty="0">
              <a:latin typeface="メイリオ" panose="020B0604030504040204" pitchFamily="50" charset="-128"/>
              <a:ea typeface="メイリオ" panose="020B0604030504040204" pitchFamily="50" charset="-128"/>
            </a:endParaRPr>
          </a:p>
          <a:p>
            <a:pPr algn="l"/>
            <a:r>
              <a:rPr kumimoji="1" lang="ja-JP" altLang="en-US" dirty="0">
                <a:latin typeface="メイリオ" panose="020B0604030504040204" pitchFamily="50" charset="-128"/>
                <a:ea typeface="メイリオ" panose="020B0604030504040204" pitchFamily="50" charset="-128"/>
              </a:rPr>
              <a:t>特徴量を入力してラベル（品種）を予測</a:t>
            </a:r>
          </a:p>
        </p:txBody>
      </p:sp>
    </p:spTree>
    <p:extLst>
      <p:ext uri="{BB962C8B-B14F-4D97-AF65-F5344CB8AC3E}">
        <p14:creationId xmlns:p14="http://schemas.microsoft.com/office/powerpoint/2010/main" val="42787749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70C6256-1A61-4ADF-BC31-905CB93C94C5}"/>
              </a:ext>
            </a:extLst>
          </p:cNvPr>
          <p:cNvSpPr txBox="1"/>
          <p:nvPr/>
        </p:nvSpPr>
        <p:spPr>
          <a:xfrm>
            <a:off x="2993435" y="2654711"/>
            <a:ext cx="5929828" cy="1077218"/>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とにかく機械学習動かしてみる</a:t>
            </a:r>
            <a:endParaRPr kumimoji="1" lang="en-US" altLang="ja-JP" sz="3200" b="1" dirty="0">
              <a:latin typeface="メイリオ" panose="020B0604030504040204" pitchFamily="50" charset="-128"/>
              <a:ea typeface="メイリオ" panose="020B0604030504040204" pitchFamily="50" charset="-128"/>
            </a:endParaRPr>
          </a:p>
          <a:p>
            <a:pPr algn="l"/>
            <a:r>
              <a:rPr kumimoji="1" lang="ja-JP" altLang="en-US" sz="3200" b="1" dirty="0">
                <a:latin typeface="メイリオ" panose="020B0604030504040204" pitchFamily="50" charset="-128"/>
                <a:ea typeface="メイリオ" panose="020B0604030504040204" pitchFamily="50" charset="-128"/>
              </a:rPr>
              <a:t>～ </a:t>
            </a:r>
            <a:r>
              <a:rPr kumimoji="1" lang="en-US" altLang="ja-JP" sz="3200" b="1" dirty="0">
                <a:latin typeface="メイリオ" panose="020B0604030504040204" pitchFamily="50" charset="-128"/>
                <a:ea typeface="メイリオ" panose="020B0604030504040204" pitchFamily="50" charset="-128"/>
              </a:rPr>
              <a:t>Iris3</a:t>
            </a:r>
            <a:r>
              <a:rPr kumimoji="1" lang="ja-JP" altLang="en-US" sz="3200" b="1" dirty="0">
                <a:latin typeface="メイリオ" panose="020B0604030504040204" pitchFamily="50" charset="-128"/>
                <a:ea typeface="メイリオ" panose="020B0604030504040204" pitchFamily="50" charset="-128"/>
              </a:rPr>
              <a:t>品種の分類タスク</a:t>
            </a:r>
          </a:p>
        </p:txBody>
      </p:sp>
    </p:spTree>
    <p:extLst>
      <p:ext uri="{BB962C8B-B14F-4D97-AF65-F5344CB8AC3E}">
        <p14:creationId xmlns:p14="http://schemas.microsoft.com/office/powerpoint/2010/main" val="1993116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E5E4371-0CE8-4565-BB9E-4DEFEC46BD57}"/>
              </a:ext>
            </a:extLst>
          </p:cNvPr>
          <p:cNvSpPr txBox="1"/>
          <p:nvPr/>
        </p:nvSpPr>
        <p:spPr>
          <a:xfrm>
            <a:off x="586511" y="158382"/>
            <a:ext cx="9284722" cy="1077218"/>
          </a:xfrm>
          <a:prstGeom prst="rect">
            <a:avLst/>
          </a:prstGeom>
          <a:noFill/>
        </p:spPr>
        <p:txBody>
          <a:bodyPr wrap="square" rtlCol="0">
            <a:spAutoFit/>
          </a:bodyPr>
          <a:lstStyle/>
          <a:p>
            <a:pPr algn="l"/>
            <a:r>
              <a:rPr kumimoji="1" lang="ja-JP" altLang="en-US" sz="3200" b="1" dirty="0">
                <a:latin typeface="メイリオ" panose="020B0604030504040204" pitchFamily="50" charset="-128"/>
                <a:ea typeface="メイリオ" panose="020B0604030504040204" pitchFamily="50" charset="-128"/>
              </a:rPr>
              <a:t>データセットを訓練データ</a:t>
            </a:r>
            <a:r>
              <a:rPr kumimoji="1" lang="en-US" altLang="ja-JP" sz="3200" b="1" dirty="0">
                <a:latin typeface="メイリオ" panose="020B0604030504040204" pitchFamily="50" charset="-128"/>
                <a:ea typeface="メイリオ" panose="020B0604030504040204" pitchFamily="50" charset="-128"/>
              </a:rPr>
              <a:t>(training data)</a:t>
            </a:r>
            <a:r>
              <a:rPr kumimoji="1" lang="ja-JP" altLang="en-US" sz="3200" b="1" dirty="0">
                <a:latin typeface="メイリオ" panose="020B0604030504040204" pitchFamily="50" charset="-128"/>
                <a:ea typeface="メイリオ" panose="020B0604030504040204" pitchFamily="50" charset="-128"/>
              </a:rPr>
              <a:t>、テストデータ</a:t>
            </a:r>
            <a:r>
              <a:rPr kumimoji="1" lang="en-US" altLang="ja-JP" sz="3200" b="1" dirty="0">
                <a:latin typeface="メイリオ" panose="020B0604030504040204" pitchFamily="50" charset="-128"/>
                <a:ea typeface="メイリオ" panose="020B0604030504040204" pitchFamily="50" charset="-128"/>
              </a:rPr>
              <a:t>(test data)</a:t>
            </a:r>
            <a:r>
              <a:rPr kumimoji="1" lang="ja-JP" altLang="en-US" sz="3200" b="1" dirty="0">
                <a:latin typeface="メイリオ" panose="020B0604030504040204" pitchFamily="50" charset="-128"/>
                <a:ea typeface="メイリオ" panose="020B0604030504040204" pitchFamily="50" charset="-128"/>
              </a:rPr>
              <a:t>に分割する</a:t>
            </a:r>
            <a:endParaRPr kumimoji="1" lang="en-US" altLang="ja-JP" sz="3200" b="1"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80BD8955-37DF-4A0E-82F7-334EE48EC899}"/>
              </a:ext>
            </a:extLst>
          </p:cNvPr>
          <p:cNvSpPr txBox="1"/>
          <p:nvPr/>
        </p:nvSpPr>
        <p:spPr>
          <a:xfrm>
            <a:off x="2273067" y="2668902"/>
            <a:ext cx="1088760" cy="830997"/>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target</a:t>
            </a:r>
          </a:p>
          <a:p>
            <a:pPr algn="l"/>
            <a:endParaRPr kumimoji="1" lang="ja-JP" altLang="en-US" sz="2400" dirty="0">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70B88113-AC94-4CBE-90ED-E0678FBCD675}"/>
              </a:ext>
            </a:extLst>
          </p:cNvPr>
          <p:cNvSpPr txBox="1"/>
          <p:nvPr/>
        </p:nvSpPr>
        <p:spPr>
          <a:xfrm>
            <a:off x="3738238" y="2668902"/>
            <a:ext cx="845103"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data</a:t>
            </a:r>
            <a:endParaRPr kumimoji="1" lang="ja-JP" altLang="en-US" sz="2400"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1429C23-1B69-4BC4-A6B8-C1E289340637}"/>
              </a:ext>
            </a:extLst>
          </p:cNvPr>
          <p:cNvSpPr txBox="1"/>
          <p:nvPr/>
        </p:nvSpPr>
        <p:spPr>
          <a:xfrm>
            <a:off x="644838" y="2142670"/>
            <a:ext cx="2172903" cy="461665"/>
          </a:xfrm>
          <a:prstGeom prst="rect">
            <a:avLst/>
          </a:prstGeom>
          <a:noFill/>
        </p:spPr>
        <p:txBody>
          <a:bodyPr wrap="none" rtlCol="0">
            <a:spAutoFit/>
          </a:bodyPr>
          <a:lstStyle/>
          <a:p>
            <a:pPr algn="l"/>
            <a:r>
              <a:rPr kumimoji="1" lang="en-US" altLang="ja-JP" sz="2400" b="1" dirty="0" err="1">
                <a:latin typeface="メイリオ" panose="020B0604030504040204" pitchFamily="50" charset="-128"/>
                <a:ea typeface="メイリオ" panose="020B0604030504040204" pitchFamily="50" charset="-128"/>
              </a:rPr>
              <a:t>Iris_dataset</a:t>
            </a:r>
            <a:endParaRPr kumimoji="1" lang="ja-JP" altLang="en-US" sz="2400" b="1" dirty="0">
              <a:latin typeface="メイリオ" panose="020B0604030504040204" pitchFamily="50" charset="-128"/>
              <a:ea typeface="メイリオ" panose="020B0604030504040204" pitchFamily="50" charset="-128"/>
            </a:endParaRPr>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DE29FC79-DE10-45DA-BEBA-366F7FCE1A2C}"/>
                  </a:ext>
                </a:extLst>
              </p:cNvPr>
              <p:cNvSpPr txBox="1"/>
              <p:nvPr/>
            </p:nvSpPr>
            <p:spPr>
              <a:xfrm>
                <a:off x="2649477" y="3040823"/>
                <a:ext cx="501740" cy="2305055"/>
              </a:xfrm>
              <a:prstGeom prst="rect">
                <a:avLst/>
              </a:prstGeom>
              <a:noFill/>
            </p:spPr>
            <p:txBody>
              <a:bodyPr wrap="none" lIns="0" tIns="0" rIns="0" bIns="0" rtlCol="0">
                <a:spAutoFit/>
              </a:bodyPr>
              <a:lstStyle/>
              <a:p>
                <a:pPr algn="l"/>
                <a14:m>
                  <m:oMathPara xmlns:m="http://schemas.openxmlformats.org/officeDocument/2006/math">
                    <m:oMath>
                      <m:d>
                        <m:dPr>
                          <m:begChr m:val="["/>
                          <m:endChr m:val="]"/>
                          <m:ctrlPr>
                            <a:rPr kumimoji="1" lang="en-US" altLang="ja-JP" sz="2000" i="1">
                              <a:latin typeface="Cambria Math" panose="02040503050406030204" pitchFamily="18" charset="0"/>
                              <a:ea typeface="メイリオ" panose="020B0604030504040204" pitchFamily="50" charset="-128"/>
                            </a:rPr>
                          </m:ctrlPr>
                        </m:dPr>
                        <m:e>
                          <m:eqArr>
                            <m:eqArrPr>
                              <m:ctrlPr>
                                <a:rPr kumimoji="1" lang="en-US" altLang="ja-JP" sz="2000" i="1">
                                  <a:latin typeface="Cambria Math" panose="02040503050406030204" pitchFamily="18" charset="0"/>
                                  <a:ea typeface="メイリオ" panose="020B0604030504040204" pitchFamily="50" charset="-128"/>
                                </a:rPr>
                              </m:ctrlPr>
                            </m:eqArrPr>
                            <m:e>
                              <m:r>
                                <m:rPr>
                                  <m:brk m:alnAt="7"/>
                                </m:rPr>
                                <a:rPr kumimoji="1" lang="en-US" altLang="ja-JP" sz="2000" i="1">
                                  <a:latin typeface="Cambria Math" panose="02040503050406030204" pitchFamily="18" charset="0"/>
                                  <a:ea typeface="メイリオ" panose="020B0604030504040204" pitchFamily="50" charset="-128"/>
                                </a:rPr>
                                <m:t> </m:t>
                              </m:r>
                            </m:e>
                            <m:e>
                              <m:m>
                                <m:mPr>
                                  <m:mcs>
                                    <m:mc>
                                      <m:mcPr>
                                        <m:count m:val="1"/>
                                        <m:mcJc m:val="center"/>
                                      </m:mcPr>
                                    </m:mc>
                                  </m:mcs>
                                  <m:ctrlPr>
                                    <a:rPr kumimoji="1" lang="en-US" altLang="ja-JP" sz="2000" i="1">
                                      <a:latin typeface="Cambria Math" panose="02040503050406030204" pitchFamily="18" charset="0"/>
                                      <a:ea typeface="メイリオ" panose="020B0604030504040204" pitchFamily="50" charset="-128"/>
                                    </a:rPr>
                                  </m:ctrlPr>
                                </m:mPr>
                                <m:mr>
                                  <m:e>
                                    <m:r>
                                      <m:rPr>
                                        <m:brk m:alnAt="7"/>
                                      </m:rPr>
                                      <a:rPr kumimoji="1" lang="en-US" altLang="ja-JP" sz="2000" i="1">
                                        <a:latin typeface="Cambria Math" panose="02040503050406030204" pitchFamily="18" charset="0"/>
                                        <a:ea typeface="メイリオ" panose="020B0604030504040204" pitchFamily="50" charset="-128"/>
                                      </a:rPr>
                                      <m:t>0</m:t>
                                    </m:r>
                                  </m:e>
                                </m:mr>
                                <m:mr>
                                  <m:e>
                                    <m:r>
                                      <a:rPr kumimoji="1" lang="en-US" altLang="ja-JP" sz="2000" i="1">
                                        <a:latin typeface="Cambria Math" panose="02040503050406030204" pitchFamily="18" charset="0"/>
                                        <a:ea typeface="メイリオ" panose="020B0604030504040204" pitchFamily="50" charset="-128"/>
                                      </a:rPr>
                                      <m:t>1</m:t>
                                    </m:r>
                                  </m:e>
                                </m:mr>
                                <m:mr>
                                  <m:e>
                                    <m:eqArr>
                                      <m:eqArrPr>
                                        <m:ctrlPr>
                                          <a:rPr kumimoji="1" lang="en-US" altLang="ja-JP" sz="2000" i="1">
                                            <a:latin typeface="Cambria Math" panose="02040503050406030204" pitchFamily="18" charset="0"/>
                                            <a:ea typeface="メイリオ" panose="020B0604030504040204" pitchFamily="50" charset="-128"/>
                                          </a:rPr>
                                        </m:ctrlPr>
                                      </m:eqArrPr>
                                      <m:e>
                                        <m:r>
                                          <a:rPr kumimoji="1" lang="en-US" altLang="ja-JP" sz="2000" i="1">
                                            <a:latin typeface="Cambria Math" panose="02040503050406030204" pitchFamily="18" charset="0"/>
                                            <a:ea typeface="メイリオ" panose="020B0604030504040204" pitchFamily="50" charset="-128"/>
                                          </a:rPr>
                                          <m:t>0</m:t>
                                        </m:r>
                                      </m:e>
                                      <m:e>
                                        <m:r>
                                          <a:rPr kumimoji="1" lang="en-US" altLang="ja-JP" sz="2000" i="1">
                                            <a:latin typeface="Cambria Math" panose="02040503050406030204" pitchFamily="18" charset="0"/>
                                            <a:ea typeface="メイリオ" panose="020B0604030504040204" pitchFamily="50" charset="-128"/>
                                          </a:rPr>
                                          <m:t>⋮</m:t>
                                        </m:r>
                                      </m:e>
                                      <m:e/>
                                      <m:e/>
                                      <m:e>
                                        <m:m>
                                          <m:mPr>
                                            <m:mcs>
                                              <m:mc>
                                                <m:mcPr>
                                                  <m:count m:val="1"/>
                                                  <m:mcJc m:val="center"/>
                                                </m:mcPr>
                                              </m:mc>
                                            </m:mcs>
                                            <m:ctrlPr>
                                              <a:rPr kumimoji="1" lang="en-US" altLang="ja-JP" sz="2000" i="1">
                                                <a:latin typeface="Cambria Math" panose="02040503050406030204" pitchFamily="18" charset="0"/>
                                                <a:ea typeface="メイリオ" panose="020B0604030504040204" pitchFamily="50" charset="-128"/>
                                              </a:rPr>
                                            </m:ctrlPr>
                                          </m:mPr>
                                          <m:mr>
                                            <m:e>
                                              <m:r>
                                                <m:rPr>
                                                  <m:brk m:alnAt="7"/>
                                                </m:rPr>
                                                <a:rPr kumimoji="1" lang="en-US" altLang="ja-JP" sz="2000" i="1">
                                                  <a:latin typeface="Cambria Math" panose="02040503050406030204" pitchFamily="18" charset="0"/>
                                                  <a:ea typeface="メイリオ" panose="020B0604030504040204" pitchFamily="50" charset="-128"/>
                                                </a:rPr>
                                                <m:t>1</m:t>
                                              </m:r>
                                            </m:e>
                                          </m:mr>
                                          <m:mr>
                                            <m:e>
                                              <m:r>
                                                <a:rPr kumimoji="1" lang="en-US" altLang="ja-JP" sz="2000" i="1">
                                                  <a:latin typeface="Cambria Math" panose="02040503050406030204" pitchFamily="18" charset="0"/>
                                                  <a:ea typeface="メイリオ" panose="020B0604030504040204" pitchFamily="50" charset="-128"/>
                                                </a:rPr>
                                                <m:t>2</m:t>
                                              </m:r>
                                            </m:e>
                                          </m:mr>
                                        </m:m>
                                      </m:e>
                                    </m:eqArr>
                                  </m:e>
                                </m:mr>
                              </m:m>
                            </m:e>
                          </m:eqArr>
                        </m:e>
                      </m:d>
                    </m:oMath>
                  </m:oMathPara>
                </a14:m>
                <a:endParaRPr kumimoji="1" lang="ja-JP" altLang="en-US" sz="2000" dirty="0">
                  <a:latin typeface="メイリオ" panose="020B0604030504040204" pitchFamily="50" charset="-128"/>
                  <a:ea typeface="メイリオ" panose="020B0604030504040204" pitchFamily="50" charset="-128"/>
                </a:endParaRPr>
              </a:p>
            </p:txBody>
          </p:sp>
        </mc:Choice>
        <mc:Fallback xmlns="">
          <p:sp>
            <p:nvSpPr>
              <p:cNvPr id="6" name="テキスト ボックス 5">
                <a:extLst>
                  <a:ext uri="{FF2B5EF4-FFF2-40B4-BE49-F238E27FC236}">
                    <a16:creationId xmlns:a16="http://schemas.microsoft.com/office/drawing/2014/main" id="{DE29FC79-DE10-45DA-BEBA-366F7FCE1A2C}"/>
                  </a:ext>
                </a:extLst>
              </p:cNvPr>
              <p:cNvSpPr txBox="1">
                <a:spLocks noRot="1" noChangeAspect="1" noMove="1" noResize="1" noEditPoints="1" noAdjustHandles="1" noChangeArrowheads="1" noChangeShapeType="1" noTextEdit="1"/>
              </p:cNvSpPr>
              <p:nvPr/>
            </p:nvSpPr>
            <p:spPr>
              <a:xfrm>
                <a:off x="2649477" y="3040823"/>
                <a:ext cx="501740" cy="2305055"/>
              </a:xfrm>
              <a:prstGeom prst="rect">
                <a:avLst/>
              </a:prstGeom>
              <a:blipFill>
                <a:blip r:embed="rId2"/>
                <a:stretch>
                  <a:fillRect/>
                </a:stretch>
              </a:blipFill>
            </p:spPr>
            <p:txBody>
              <a:bodyPr/>
              <a:lstStyle/>
              <a:p>
                <a:r>
                  <a:rPr lang="ja-JP" altLang="en-US">
                    <a:noFill/>
                  </a:rPr>
                  <a:t> </a:t>
                </a:r>
              </a:p>
            </p:txBody>
          </p:sp>
        </mc:Fallback>
      </mc:AlternateContent>
      <p:sp>
        <p:nvSpPr>
          <p:cNvPr id="7" name="正方形/長方形 6">
            <a:extLst>
              <a:ext uri="{FF2B5EF4-FFF2-40B4-BE49-F238E27FC236}">
                <a16:creationId xmlns:a16="http://schemas.microsoft.com/office/drawing/2014/main" id="{0B92C776-5B6B-4ACF-8D6A-BEF6063901F3}"/>
              </a:ext>
            </a:extLst>
          </p:cNvPr>
          <p:cNvSpPr/>
          <p:nvPr/>
        </p:nvSpPr>
        <p:spPr>
          <a:xfrm>
            <a:off x="3104150" y="3040823"/>
            <a:ext cx="4572000" cy="2431435"/>
          </a:xfrm>
          <a:prstGeom prst="rect">
            <a:avLst/>
          </a:prstGeom>
        </p:spPr>
        <p:txBody>
          <a:bodyPr>
            <a:spAutoFit/>
          </a:bodyPr>
          <a:lstStyle/>
          <a:p>
            <a:r>
              <a:rPr kumimoji="1" lang="en-US" altLang="ja-JP" sz="2000" dirty="0">
                <a:latin typeface="メイリオ" panose="020B0604030504040204" pitchFamily="50" charset="-128"/>
                <a:ea typeface="メイリオ" panose="020B0604030504040204" pitchFamily="50" charset="-128"/>
              </a:rPr>
              <a:t> [	[5.1,3.5,1.4,0.2]</a:t>
            </a:r>
          </a:p>
          <a:p>
            <a:r>
              <a:rPr kumimoji="1" lang="en-US" altLang="ja-JP" sz="2000" dirty="0">
                <a:latin typeface="メイリオ" panose="020B0604030504040204" pitchFamily="50" charset="-128"/>
                <a:ea typeface="メイリオ" panose="020B0604030504040204" pitchFamily="50" charset="-128"/>
              </a:rPr>
              <a:t>	[4.9,3.0,1.4,0.2]</a:t>
            </a:r>
          </a:p>
          <a:p>
            <a:r>
              <a:rPr kumimoji="1" lang="en-US" altLang="ja-JP" sz="2000" dirty="0">
                <a:latin typeface="メイリオ" panose="020B0604030504040204" pitchFamily="50" charset="-128"/>
                <a:ea typeface="メイリオ" panose="020B0604030504040204" pitchFamily="50" charset="-128"/>
              </a:rPr>
              <a:t>	[4.7,3.2,1.3,0.2]</a:t>
            </a:r>
          </a:p>
          <a:p>
            <a:r>
              <a:rPr kumimoji="1" lang="en-US" altLang="ja-JP" sz="2000" dirty="0">
                <a:latin typeface="メイリオ" panose="020B0604030504040204" pitchFamily="50" charset="-128"/>
                <a:ea typeface="メイリオ" panose="020B0604030504040204" pitchFamily="50" charset="-128"/>
              </a:rPr>
              <a:t>	……………………</a:t>
            </a:r>
          </a:p>
          <a:p>
            <a:endParaRPr kumimoji="1" lang="en-US" altLang="ja-JP" sz="1200" dirty="0">
              <a:latin typeface="メイリオ" panose="020B0604030504040204" pitchFamily="50" charset="-128"/>
              <a:ea typeface="メイリオ" panose="020B0604030504040204" pitchFamily="50" charset="-128"/>
            </a:endParaRPr>
          </a:p>
          <a:p>
            <a:endParaRPr kumimoji="1" lang="en-US" altLang="ja-JP" sz="2000" dirty="0">
              <a:latin typeface="メイリオ" panose="020B0604030504040204" pitchFamily="50" charset="-128"/>
              <a:ea typeface="メイリオ" panose="020B0604030504040204" pitchFamily="50" charset="-128"/>
            </a:endParaRPr>
          </a:p>
          <a:p>
            <a:r>
              <a:rPr kumimoji="1" lang="en-US" altLang="ja-JP" sz="2000" dirty="0">
                <a:latin typeface="メイリオ" panose="020B0604030504040204" pitchFamily="50" charset="-128"/>
                <a:ea typeface="メイリオ" panose="020B0604030504040204" pitchFamily="50" charset="-128"/>
              </a:rPr>
              <a:t>      [4.6,3.1,1.5,0.2]</a:t>
            </a:r>
          </a:p>
          <a:p>
            <a:r>
              <a:rPr kumimoji="1" lang="en-US" altLang="ja-JP" sz="2000" dirty="0">
                <a:latin typeface="メイリオ" panose="020B0604030504040204" pitchFamily="50" charset="-128"/>
                <a:ea typeface="メイリオ" panose="020B0604030504040204" pitchFamily="50" charset="-128"/>
              </a:rPr>
              <a:t>      [5.0,3.6,1.4,0.2]  ]</a:t>
            </a:r>
            <a:endParaRPr lang="ja-JP" altLang="en-US" sz="2000" dirty="0"/>
          </a:p>
        </p:txBody>
      </p:sp>
      <p:sp>
        <p:nvSpPr>
          <p:cNvPr id="8" name="四角形: 角を丸くする 7">
            <a:extLst>
              <a:ext uri="{FF2B5EF4-FFF2-40B4-BE49-F238E27FC236}">
                <a16:creationId xmlns:a16="http://schemas.microsoft.com/office/drawing/2014/main" id="{0CCE5717-CAAC-44D4-958B-1A28467E8295}"/>
              </a:ext>
            </a:extLst>
          </p:cNvPr>
          <p:cNvSpPr/>
          <p:nvPr/>
        </p:nvSpPr>
        <p:spPr>
          <a:xfrm>
            <a:off x="2056400" y="3040822"/>
            <a:ext cx="4572000" cy="1411758"/>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137D767B-700D-4F76-8C82-FE0D3D720068}"/>
              </a:ext>
            </a:extLst>
          </p:cNvPr>
          <p:cNvSpPr/>
          <p:nvPr/>
        </p:nvSpPr>
        <p:spPr>
          <a:xfrm>
            <a:off x="2036083" y="4581713"/>
            <a:ext cx="4572000" cy="76416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8E93ADC8-3BCD-4DE9-BA48-B9D7523CDAA7}"/>
              </a:ext>
            </a:extLst>
          </p:cNvPr>
          <p:cNvSpPr txBox="1"/>
          <p:nvPr/>
        </p:nvSpPr>
        <p:spPr>
          <a:xfrm>
            <a:off x="431980" y="1559479"/>
            <a:ext cx="9284722" cy="461665"/>
          </a:xfrm>
          <a:prstGeom prst="rect">
            <a:avLst/>
          </a:prstGeom>
          <a:noFill/>
        </p:spPr>
        <p:txBody>
          <a:bodyPr wrap="square" rtlCol="0">
            <a:spAutoFit/>
          </a:bodyPr>
          <a:lstStyle/>
          <a:p>
            <a:pPr algn="l"/>
            <a:r>
              <a:rPr kumimoji="1" lang="en-US" altLang="ja-JP" sz="2400" dirty="0">
                <a:latin typeface="メイリオ" panose="020B0604030504040204" pitchFamily="50" charset="-128"/>
                <a:ea typeface="メイリオ" panose="020B0604030504040204" pitchFamily="50" charset="-128"/>
              </a:rPr>
              <a:t>Iris</a:t>
            </a:r>
            <a:r>
              <a:rPr kumimoji="1" lang="ja-JP" altLang="en-US" sz="2400" dirty="0">
                <a:latin typeface="メイリオ" panose="020B0604030504040204" pitchFamily="50" charset="-128"/>
                <a:ea typeface="メイリオ" panose="020B0604030504040204" pitchFamily="50" charset="-128"/>
              </a:rPr>
              <a:t>データセット</a:t>
            </a:r>
            <a:r>
              <a:rPr kumimoji="1" lang="en-US" altLang="ja-JP" sz="2400" dirty="0">
                <a:latin typeface="メイリオ" panose="020B0604030504040204" pitchFamily="50" charset="-128"/>
                <a:ea typeface="メイリオ" panose="020B0604030504040204" pitchFamily="50" charset="-128"/>
              </a:rPr>
              <a:t>150</a:t>
            </a:r>
            <a:r>
              <a:rPr kumimoji="1" lang="ja-JP" altLang="en-US" sz="2400" dirty="0">
                <a:latin typeface="メイリオ" panose="020B0604030504040204" pitchFamily="50" charset="-128"/>
                <a:ea typeface="メイリオ" panose="020B0604030504040204" pitchFamily="50" charset="-128"/>
              </a:rPr>
              <a:t>個のうちの</a:t>
            </a:r>
            <a:r>
              <a:rPr kumimoji="1" lang="en-US" altLang="ja-JP" sz="2400" dirty="0">
                <a:latin typeface="メイリオ" panose="020B0604030504040204" pitchFamily="50" charset="-128"/>
                <a:ea typeface="メイリオ" panose="020B0604030504040204" pitchFamily="50" charset="-128"/>
              </a:rPr>
              <a:t>75%</a:t>
            </a:r>
            <a:r>
              <a:rPr kumimoji="1" lang="ja-JP" altLang="en-US" sz="2400" dirty="0">
                <a:latin typeface="メイリオ" panose="020B0604030504040204" pitchFamily="50" charset="-128"/>
                <a:ea typeface="メイリオ" panose="020B0604030504040204" pitchFamily="50" charset="-128"/>
              </a:rPr>
              <a:t>だけを訓練データにつかう。</a:t>
            </a:r>
          </a:p>
        </p:txBody>
      </p:sp>
      <p:sp>
        <p:nvSpPr>
          <p:cNvPr id="17" name="矢印: 右 16">
            <a:extLst>
              <a:ext uri="{FF2B5EF4-FFF2-40B4-BE49-F238E27FC236}">
                <a16:creationId xmlns:a16="http://schemas.microsoft.com/office/drawing/2014/main" id="{9B667340-43EA-47C7-8907-A0E97148D918}"/>
              </a:ext>
            </a:extLst>
          </p:cNvPr>
          <p:cNvSpPr/>
          <p:nvPr/>
        </p:nvSpPr>
        <p:spPr>
          <a:xfrm>
            <a:off x="6715433" y="3429000"/>
            <a:ext cx="367641" cy="75954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矢印: 右 17">
            <a:extLst>
              <a:ext uri="{FF2B5EF4-FFF2-40B4-BE49-F238E27FC236}">
                <a16:creationId xmlns:a16="http://schemas.microsoft.com/office/drawing/2014/main" id="{6A5FBEC3-43D6-4F72-A64D-96884E52D6DF}"/>
              </a:ext>
            </a:extLst>
          </p:cNvPr>
          <p:cNvSpPr/>
          <p:nvPr/>
        </p:nvSpPr>
        <p:spPr>
          <a:xfrm>
            <a:off x="6709191" y="4586335"/>
            <a:ext cx="367641" cy="75954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F9BB746B-F431-4700-8C70-74BB9A538210}"/>
              </a:ext>
            </a:extLst>
          </p:cNvPr>
          <p:cNvSpPr txBox="1"/>
          <p:nvPr/>
        </p:nvSpPr>
        <p:spPr>
          <a:xfrm>
            <a:off x="7144059" y="3577939"/>
            <a:ext cx="2526654" cy="830997"/>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訓練データ </a:t>
            </a:r>
            <a:r>
              <a:rPr kumimoji="1" lang="en-US" altLang="ja-JP" sz="2400" dirty="0">
                <a:latin typeface="メイリオ" panose="020B0604030504040204" pitchFamily="50" charset="-128"/>
                <a:ea typeface="メイリオ" panose="020B0604030504040204" pitchFamily="50" charset="-128"/>
              </a:rPr>
              <a:t>75%</a:t>
            </a:r>
          </a:p>
          <a:p>
            <a:pPr algn="l"/>
            <a:r>
              <a:rPr kumimoji="1" lang="ja-JP" altLang="en-US" sz="2400" dirty="0">
                <a:latin typeface="メイリオ" panose="020B0604030504040204" pitchFamily="50" charset="-128"/>
                <a:ea typeface="メイリオ" panose="020B0604030504040204" pitchFamily="50" charset="-128"/>
              </a:rPr>
              <a:t>（訓練セット）</a:t>
            </a:r>
          </a:p>
        </p:txBody>
      </p:sp>
      <p:sp>
        <p:nvSpPr>
          <p:cNvPr id="20" name="テキスト ボックス 19">
            <a:extLst>
              <a:ext uri="{FF2B5EF4-FFF2-40B4-BE49-F238E27FC236}">
                <a16:creationId xmlns:a16="http://schemas.microsoft.com/office/drawing/2014/main" id="{3CD7FAFA-B32A-41A7-8D02-E94CD846668E}"/>
              </a:ext>
            </a:extLst>
          </p:cNvPr>
          <p:cNvSpPr txBox="1"/>
          <p:nvPr/>
        </p:nvSpPr>
        <p:spPr>
          <a:xfrm>
            <a:off x="7110333" y="4687427"/>
            <a:ext cx="3156154" cy="1077218"/>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テストデータ </a:t>
            </a:r>
            <a:r>
              <a:rPr kumimoji="1" lang="en-US" altLang="ja-JP" sz="2400" dirty="0">
                <a:latin typeface="メイリオ" panose="020B0604030504040204" pitchFamily="50" charset="-128"/>
                <a:ea typeface="メイリオ" panose="020B0604030504040204" pitchFamily="50" charset="-128"/>
              </a:rPr>
              <a:t>25%</a:t>
            </a:r>
          </a:p>
          <a:p>
            <a:pPr algn="l"/>
            <a:r>
              <a:rPr kumimoji="1" lang="ja-JP" altLang="en-US" sz="2000" dirty="0">
                <a:latin typeface="メイリオ" panose="020B0604030504040204" pitchFamily="50" charset="-128"/>
                <a:ea typeface="メイリオ" panose="020B0604030504040204" pitchFamily="50" charset="-128"/>
              </a:rPr>
              <a:t>（テストセット、ホールドアウトセット）</a:t>
            </a:r>
          </a:p>
        </p:txBody>
      </p:sp>
    </p:spTree>
    <p:extLst>
      <p:ext uri="{BB962C8B-B14F-4D97-AF65-F5344CB8AC3E}">
        <p14:creationId xmlns:p14="http://schemas.microsoft.com/office/powerpoint/2010/main" val="3827882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EB0CADB-AC3D-4F50-AD04-8F88F9F52438}"/>
              </a:ext>
            </a:extLst>
          </p:cNvPr>
          <p:cNvSpPr txBox="1"/>
          <p:nvPr/>
        </p:nvSpPr>
        <p:spPr>
          <a:xfrm>
            <a:off x="265786" y="316918"/>
            <a:ext cx="2236510"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コード解説</a:t>
            </a:r>
          </a:p>
        </p:txBody>
      </p:sp>
      <p:sp>
        <p:nvSpPr>
          <p:cNvPr id="4" name="テキスト ボックス 3">
            <a:extLst>
              <a:ext uri="{FF2B5EF4-FFF2-40B4-BE49-F238E27FC236}">
                <a16:creationId xmlns:a16="http://schemas.microsoft.com/office/drawing/2014/main" id="{94841529-1E06-4401-8677-E8A4476CFFE9}"/>
              </a:ext>
            </a:extLst>
          </p:cNvPr>
          <p:cNvSpPr txBox="1"/>
          <p:nvPr/>
        </p:nvSpPr>
        <p:spPr>
          <a:xfrm>
            <a:off x="2759168" y="2192495"/>
            <a:ext cx="7908832" cy="461665"/>
          </a:xfrm>
          <a:prstGeom prst="rect">
            <a:avLst/>
          </a:prstGeom>
          <a:noFill/>
        </p:spPr>
        <p:txBody>
          <a:bodyPr wrap="none" rtlCol="0">
            <a:spAutoFit/>
          </a:bodyPr>
          <a:lstStyle/>
          <a:p>
            <a:r>
              <a:rPr kumimoji="1" lang="en-US" altLang="ja-JP" sz="2400" dirty="0" err="1">
                <a:latin typeface="メイリオ" panose="020B0604030504040204" pitchFamily="50" charset="-128"/>
                <a:ea typeface="メイリオ" panose="020B0604030504040204" pitchFamily="50" charset="-128"/>
              </a:rPr>
              <a:t>train_test_split</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特徴量</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教師ラベル</a:t>
            </a:r>
            <a:r>
              <a:rPr kumimoji="1" lang="en-US" altLang="ja-JP" sz="2400" dirty="0">
                <a:latin typeface="メイリオ" panose="020B0604030504040204" pitchFamily="50" charset="-128"/>
                <a:ea typeface="メイリオ" panose="020B0604030504040204" pitchFamily="50" charset="-128"/>
              </a:rPr>
              <a:t>,</a:t>
            </a:r>
            <a:r>
              <a:rPr kumimoji="1" lang="en-US" altLang="ja-JP" sz="2400" dirty="0" err="1">
                <a:latin typeface="メイリオ" panose="020B0604030504040204" pitchFamily="50" charset="-128"/>
                <a:ea typeface="メイリオ" panose="020B0604030504040204" pitchFamily="50" charset="-128"/>
              </a:rPr>
              <a:t>random_state</a:t>
            </a:r>
            <a:r>
              <a:rPr kumimoji="1" lang="en-US" altLang="ja-JP" sz="2400" dirty="0">
                <a:latin typeface="メイリオ" panose="020B0604030504040204" pitchFamily="50" charset="-128"/>
                <a:ea typeface="メイリオ" panose="020B0604030504040204" pitchFamily="50" charset="-128"/>
              </a:rPr>
              <a:t>=0)</a:t>
            </a:r>
            <a:endParaRPr kumimoji="1" lang="ja-JP" altLang="en-US" sz="2400" dirty="0">
              <a:latin typeface="メイリオ" panose="020B0604030504040204" pitchFamily="50" charset="-128"/>
              <a:ea typeface="メイリオ" panose="020B0604030504040204" pitchFamily="50" charset="-128"/>
            </a:endParaRPr>
          </a:p>
        </p:txBody>
      </p:sp>
      <p:graphicFrame>
        <p:nvGraphicFramePr>
          <p:cNvPr id="5" name="表 4">
            <a:extLst>
              <a:ext uri="{FF2B5EF4-FFF2-40B4-BE49-F238E27FC236}">
                <a16:creationId xmlns:a16="http://schemas.microsoft.com/office/drawing/2014/main" id="{35EDD817-9151-4D32-848A-A507EE56CBBD}"/>
              </a:ext>
            </a:extLst>
          </p:cNvPr>
          <p:cNvGraphicFramePr>
            <a:graphicFrameLocks noGrp="1"/>
          </p:cNvGraphicFramePr>
          <p:nvPr/>
        </p:nvGraphicFramePr>
        <p:xfrm>
          <a:off x="1771725" y="3054578"/>
          <a:ext cx="4656650" cy="2301096"/>
        </p:xfrm>
        <a:graphic>
          <a:graphicData uri="http://schemas.openxmlformats.org/drawingml/2006/table">
            <a:tbl>
              <a:tblPr firstRow="1" bandRow="1">
                <a:tableStyleId>{5940675A-B579-460E-94D1-54222C63F5DA}</a:tableStyleId>
              </a:tblPr>
              <a:tblGrid>
                <a:gridCol w="1086049">
                  <a:extLst>
                    <a:ext uri="{9D8B030D-6E8A-4147-A177-3AD203B41FA5}">
                      <a16:colId xmlns:a16="http://schemas.microsoft.com/office/drawing/2014/main" val="1956025745"/>
                    </a:ext>
                  </a:extLst>
                </a:gridCol>
                <a:gridCol w="1352196">
                  <a:extLst>
                    <a:ext uri="{9D8B030D-6E8A-4147-A177-3AD203B41FA5}">
                      <a16:colId xmlns:a16="http://schemas.microsoft.com/office/drawing/2014/main" val="3203398356"/>
                    </a:ext>
                  </a:extLst>
                </a:gridCol>
                <a:gridCol w="1103271">
                  <a:extLst>
                    <a:ext uri="{9D8B030D-6E8A-4147-A177-3AD203B41FA5}">
                      <a16:colId xmlns:a16="http://schemas.microsoft.com/office/drawing/2014/main" val="1446089183"/>
                    </a:ext>
                  </a:extLst>
                </a:gridCol>
                <a:gridCol w="1115134">
                  <a:extLst>
                    <a:ext uri="{9D8B030D-6E8A-4147-A177-3AD203B41FA5}">
                      <a16:colId xmlns:a16="http://schemas.microsoft.com/office/drawing/2014/main" val="709289782"/>
                    </a:ext>
                  </a:extLst>
                </a:gridCol>
              </a:tblGrid>
              <a:tr h="693632">
                <a:tc>
                  <a:txBody>
                    <a:bodyPr/>
                    <a:lstStyle/>
                    <a:p>
                      <a:r>
                        <a:rPr kumimoji="1" lang="en-US" altLang="ja-JP" dirty="0"/>
                        <a:t>Sepal</a:t>
                      </a:r>
                    </a:p>
                    <a:p>
                      <a:r>
                        <a:rPr kumimoji="1" lang="en-US" altLang="ja-JP" dirty="0"/>
                        <a:t>length</a:t>
                      </a:r>
                      <a:endParaRPr kumimoji="1" lang="ja-JP" altLang="en-US" dirty="0"/>
                    </a:p>
                  </a:txBody>
                  <a:tcPr/>
                </a:tc>
                <a:tc>
                  <a:txBody>
                    <a:bodyPr/>
                    <a:lstStyle/>
                    <a:p>
                      <a:r>
                        <a:rPr kumimoji="1" lang="en-US" altLang="ja-JP" dirty="0"/>
                        <a:t>Sepal </a:t>
                      </a:r>
                    </a:p>
                    <a:p>
                      <a:r>
                        <a:rPr kumimoji="1" lang="en-US" altLang="ja-JP" dirty="0"/>
                        <a:t>width</a:t>
                      </a:r>
                      <a:endParaRPr kumimoji="1" lang="ja-JP" altLang="en-US" dirty="0"/>
                    </a:p>
                  </a:txBody>
                  <a:tcPr/>
                </a:tc>
                <a:tc>
                  <a:txBody>
                    <a:bodyPr/>
                    <a:lstStyle/>
                    <a:p>
                      <a:r>
                        <a:rPr kumimoji="1" lang="en-US" altLang="ja-JP" dirty="0"/>
                        <a:t>Petal </a:t>
                      </a:r>
                    </a:p>
                    <a:p>
                      <a:r>
                        <a:rPr kumimoji="1" lang="en-US" altLang="ja-JP" dirty="0"/>
                        <a:t>length</a:t>
                      </a:r>
                      <a:endParaRPr kumimoji="1" lang="ja-JP" altLang="en-US" dirty="0"/>
                    </a:p>
                  </a:txBody>
                  <a:tcPr/>
                </a:tc>
                <a:tc>
                  <a:txBody>
                    <a:bodyPr/>
                    <a:lstStyle/>
                    <a:p>
                      <a:r>
                        <a:rPr kumimoji="1" lang="en-US" altLang="ja-JP" dirty="0"/>
                        <a:t>Petal</a:t>
                      </a:r>
                    </a:p>
                    <a:p>
                      <a:r>
                        <a:rPr kumimoji="1" lang="en-US" altLang="ja-JP" dirty="0"/>
                        <a:t>width</a:t>
                      </a:r>
                      <a:endParaRPr kumimoji="1" lang="ja-JP" altLang="en-US" dirty="0"/>
                    </a:p>
                  </a:txBody>
                  <a:tcPr/>
                </a:tc>
                <a:extLst>
                  <a:ext uri="{0D108BD9-81ED-4DB2-BD59-A6C34878D82A}">
                    <a16:rowId xmlns:a16="http://schemas.microsoft.com/office/drawing/2014/main" val="1754640250"/>
                  </a:ext>
                </a:extLst>
              </a:tr>
              <a:tr h="401866">
                <a:tc>
                  <a:txBody>
                    <a:bodyPr/>
                    <a:lstStyle/>
                    <a:p>
                      <a:pPr algn="r"/>
                      <a:r>
                        <a:rPr kumimoji="1" lang="en-US" altLang="ja-JP" dirty="0"/>
                        <a:t>5.1</a:t>
                      </a:r>
                      <a:endParaRPr kumimoji="1" lang="ja-JP" altLang="en-US" dirty="0"/>
                    </a:p>
                  </a:txBody>
                  <a:tcPr/>
                </a:tc>
                <a:tc>
                  <a:txBody>
                    <a:bodyPr/>
                    <a:lstStyle/>
                    <a:p>
                      <a:pPr algn="r"/>
                      <a:r>
                        <a:rPr kumimoji="1" lang="en-US" altLang="ja-JP" dirty="0"/>
                        <a:t>3.5</a:t>
                      </a:r>
                      <a:endParaRPr kumimoji="1" lang="ja-JP" altLang="en-US" dirty="0"/>
                    </a:p>
                  </a:txBody>
                  <a:tcPr/>
                </a:tc>
                <a:tc>
                  <a:txBody>
                    <a:bodyPr/>
                    <a:lstStyle/>
                    <a:p>
                      <a:pPr algn="r"/>
                      <a:r>
                        <a:rPr kumimoji="1" lang="en-US" altLang="ja-JP" dirty="0"/>
                        <a:t>1.4</a:t>
                      </a:r>
                      <a:endParaRPr kumimoji="1" lang="ja-JP" altLang="en-US" dirty="0"/>
                    </a:p>
                  </a:txBody>
                  <a:tcPr/>
                </a:tc>
                <a:tc>
                  <a:txBody>
                    <a:bodyPr/>
                    <a:lstStyle/>
                    <a:p>
                      <a:pPr algn="r"/>
                      <a:r>
                        <a:rPr kumimoji="1" lang="en-US" altLang="ja-JP" dirty="0"/>
                        <a:t>0.2</a:t>
                      </a:r>
                      <a:endParaRPr kumimoji="1" lang="ja-JP" altLang="en-US" dirty="0"/>
                    </a:p>
                  </a:txBody>
                  <a:tcPr/>
                </a:tc>
                <a:extLst>
                  <a:ext uri="{0D108BD9-81ED-4DB2-BD59-A6C34878D82A}">
                    <a16:rowId xmlns:a16="http://schemas.microsoft.com/office/drawing/2014/main" val="4085924178"/>
                  </a:ext>
                </a:extLst>
              </a:tr>
              <a:tr h="401866">
                <a:tc>
                  <a:txBody>
                    <a:bodyPr/>
                    <a:lstStyle/>
                    <a:p>
                      <a:pPr algn="r"/>
                      <a:r>
                        <a:rPr kumimoji="1" lang="en-US" altLang="ja-JP" dirty="0"/>
                        <a:t>4.9</a:t>
                      </a:r>
                      <a:endParaRPr kumimoji="1" lang="ja-JP" altLang="en-US" dirty="0"/>
                    </a:p>
                  </a:txBody>
                  <a:tcPr/>
                </a:tc>
                <a:tc>
                  <a:txBody>
                    <a:bodyPr/>
                    <a:lstStyle/>
                    <a:p>
                      <a:pPr algn="r"/>
                      <a:r>
                        <a:rPr kumimoji="1" lang="en-US" altLang="ja-JP" dirty="0"/>
                        <a:t>3</a:t>
                      </a:r>
                      <a:endParaRPr kumimoji="1" lang="ja-JP" altLang="en-US" dirty="0"/>
                    </a:p>
                  </a:txBody>
                  <a:tcPr/>
                </a:tc>
                <a:tc>
                  <a:txBody>
                    <a:bodyPr/>
                    <a:lstStyle/>
                    <a:p>
                      <a:pPr algn="r"/>
                      <a:r>
                        <a:rPr kumimoji="1" lang="en-US" altLang="ja-JP" dirty="0"/>
                        <a:t>1.4</a:t>
                      </a:r>
                      <a:endParaRPr kumimoji="1" lang="ja-JP" altLang="en-US" dirty="0"/>
                    </a:p>
                  </a:txBody>
                  <a:tcPr/>
                </a:tc>
                <a:tc>
                  <a:txBody>
                    <a:bodyPr/>
                    <a:lstStyle/>
                    <a:p>
                      <a:pPr algn="r"/>
                      <a:r>
                        <a:rPr kumimoji="1" lang="en-US" altLang="ja-JP" dirty="0"/>
                        <a:t>0.2</a:t>
                      </a:r>
                      <a:endParaRPr kumimoji="1" lang="ja-JP" altLang="en-US" dirty="0"/>
                    </a:p>
                  </a:txBody>
                  <a:tcPr/>
                </a:tc>
                <a:extLst>
                  <a:ext uri="{0D108BD9-81ED-4DB2-BD59-A6C34878D82A}">
                    <a16:rowId xmlns:a16="http://schemas.microsoft.com/office/drawing/2014/main" val="1285687201"/>
                  </a:ext>
                </a:extLst>
              </a:tr>
              <a:tr h="401866">
                <a:tc>
                  <a:txBody>
                    <a:bodyPr/>
                    <a:lstStyle/>
                    <a:p>
                      <a:pPr algn="r"/>
                      <a:r>
                        <a:rPr kumimoji="1" lang="en-US" altLang="ja-JP" dirty="0"/>
                        <a:t>4.7</a:t>
                      </a:r>
                      <a:endParaRPr kumimoji="1" lang="ja-JP" altLang="en-US" dirty="0"/>
                    </a:p>
                  </a:txBody>
                  <a:tcPr/>
                </a:tc>
                <a:tc>
                  <a:txBody>
                    <a:bodyPr/>
                    <a:lstStyle/>
                    <a:p>
                      <a:pPr algn="r"/>
                      <a:r>
                        <a:rPr kumimoji="1" lang="en-US" altLang="ja-JP" dirty="0"/>
                        <a:t>3.2</a:t>
                      </a:r>
                      <a:endParaRPr kumimoji="1" lang="ja-JP" altLang="en-US" dirty="0"/>
                    </a:p>
                  </a:txBody>
                  <a:tcPr/>
                </a:tc>
                <a:tc>
                  <a:txBody>
                    <a:bodyPr/>
                    <a:lstStyle/>
                    <a:p>
                      <a:pPr algn="r"/>
                      <a:r>
                        <a:rPr kumimoji="1" lang="en-US" altLang="ja-JP" dirty="0"/>
                        <a:t>1.3</a:t>
                      </a:r>
                      <a:endParaRPr kumimoji="1" lang="ja-JP" altLang="en-US" dirty="0"/>
                    </a:p>
                  </a:txBody>
                  <a:tcPr/>
                </a:tc>
                <a:tc>
                  <a:txBody>
                    <a:bodyPr/>
                    <a:lstStyle/>
                    <a:p>
                      <a:pPr algn="r"/>
                      <a:r>
                        <a:rPr kumimoji="1" lang="en-US" altLang="ja-JP" dirty="0"/>
                        <a:t>0.2</a:t>
                      </a:r>
                      <a:endParaRPr kumimoji="1" lang="ja-JP" altLang="en-US" dirty="0"/>
                    </a:p>
                  </a:txBody>
                  <a:tcPr/>
                </a:tc>
                <a:extLst>
                  <a:ext uri="{0D108BD9-81ED-4DB2-BD59-A6C34878D82A}">
                    <a16:rowId xmlns:a16="http://schemas.microsoft.com/office/drawing/2014/main" val="499958160"/>
                  </a:ext>
                </a:extLst>
              </a:tr>
              <a:tr h="401866">
                <a:tc>
                  <a:txBody>
                    <a:bodyPr/>
                    <a:lstStyle/>
                    <a:p>
                      <a:pPr algn="r"/>
                      <a:r>
                        <a:rPr kumimoji="1" lang="en-US" altLang="ja-JP" dirty="0"/>
                        <a:t>4.6</a:t>
                      </a:r>
                      <a:endParaRPr kumimoji="1" lang="ja-JP" altLang="en-US" dirty="0"/>
                    </a:p>
                  </a:txBody>
                  <a:tcPr/>
                </a:tc>
                <a:tc>
                  <a:txBody>
                    <a:bodyPr/>
                    <a:lstStyle/>
                    <a:p>
                      <a:pPr algn="r"/>
                      <a:r>
                        <a:rPr kumimoji="1" lang="en-US" altLang="ja-JP" dirty="0"/>
                        <a:t>3.1</a:t>
                      </a:r>
                      <a:endParaRPr kumimoji="1" lang="ja-JP" altLang="en-US" dirty="0"/>
                    </a:p>
                  </a:txBody>
                  <a:tcPr/>
                </a:tc>
                <a:tc>
                  <a:txBody>
                    <a:bodyPr/>
                    <a:lstStyle/>
                    <a:p>
                      <a:pPr algn="r"/>
                      <a:r>
                        <a:rPr kumimoji="1" lang="en-US" altLang="ja-JP" dirty="0"/>
                        <a:t>1.5</a:t>
                      </a:r>
                      <a:endParaRPr kumimoji="1" lang="ja-JP" altLang="en-US" dirty="0"/>
                    </a:p>
                  </a:txBody>
                  <a:tcPr/>
                </a:tc>
                <a:tc>
                  <a:txBody>
                    <a:bodyPr/>
                    <a:lstStyle/>
                    <a:p>
                      <a:pPr algn="r"/>
                      <a:r>
                        <a:rPr kumimoji="1" lang="en-US" altLang="ja-JP" dirty="0"/>
                        <a:t>0.2</a:t>
                      </a:r>
                      <a:endParaRPr kumimoji="1" lang="ja-JP" altLang="en-US" dirty="0"/>
                    </a:p>
                  </a:txBody>
                  <a:tcPr/>
                </a:tc>
                <a:extLst>
                  <a:ext uri="{0D108BD9-81ED-4DB2-BD59-A6C34878D82A}">
                    <a16:rowId xmlns:a16="http://schemas.microsoft.com/office/drawing/2014/main" val="4258993518"/>
                  </a:ext>
                </a:extLst>
              </a:tr>
            </a:tbl>
          </a:graphicData>
        </a:graphic>
      </p:graphicFrame>
      <p:graphicFrame>
        <p:nvGraphicFramePr>
          <p:cNvPr id="6" name="表 5">
            <a:extLst>
              <a:ext uri="{FF2B5EF4-FFF2-40B4-BE49-F238E27FC236}">
                <a16:creationId xmlns:a16="http://schemas.microsoft.com/office/drawing/2014/main" id="{B5E17DF6-4D2C-4FCE-AAEB-336370E189C5}"/>
              </a:ext>
            </a:extLst>
          </p:cNvPr>
          <p:cNvGraphicFramePr>
            <a:graphicFrameLocks noGrp="1"/>
          </p:cNvGraphicFramePr>
          <p:nvPr/>
        </p:nvGraphicFramePr>
        <p:xfrm>
          <a:off x="6587909" y="3323820"/>
          <a:ext cx="1252692" cy="2031855"/>
        </p:xfrm>
        <a:graphic>
          <a:graphicData uri="http://schemas.openxmlformats.org/drawingml/2006/table">
            <a:tbl>
              <a:tblPr firstRow="1" bandRow="1">
                <a:tableStyleId>{5940675A-B579-460E-94D1-54222C63F5DA}</a:tableStyleId>
              </a:tblPr>
              <a:tblGrid>
                <a:gridCol w="1252692">
                  <a:extLst>
                    <a:ext uri="{9D8B030D-6E8A-4147-A177-3AD203B41FA5}">
                      <a16:colId xmlns:a16="http://schemas.microsoft.com/office/drawing/2014/main" val="136106727"/>
                    </a:ext>
                  </a:extLst>
                </a:gridCol>
              </a:tblGrid>
              <a:tr h="406371">
                <a:tc>
                  <a:txBody>
                    <a:bodyPr/>
                    <a:lstStyle/>
                    <a:p>
                      <a:r>
                        <a:rPr kumimoji="1" lang="en-US" altLang="ja-JP" dirty="0"/>
                        <a:t>Target</a:t>
                      </a:r>
                      <a:endParaRPr kumimoji="1" lang="ja-JP" altLang="en-US" dirty="0"/>
                    </a:p>
                  </a:txBody>
                  <a:tcPr/>
                </a:tc>
                <a:extLst>
                  <a:ext uri="{0D108BD9-81ED-4DB2-BD59-A6C34878D82A}">
                    <a16:rowId xmlns:a16="http://schemas.microsoft.com/office/drawing/2014/main" val="1312683392"/>
                  </a:ext>
                </a:extLst>
              </a:tr>
              <a:tr h="406371">
                <a:tc>
                  <a:txBody>
                    <a:bodyPr/>
                    <a:lstStyle/>
                    <a:p>
                      <a:r>
                        <a:rPr kumimoji="1" lang="en-US" altLang="ja-JP" dirty="0"/>
                        <a:t>0</a:t>
                      </a:r>
                      <a:endParaRPr kumimoji="1" lang="ja-JP" altLang="en-US" dirty="0"/>
                    </a:p>
                  </a:txBody>
                  <a:tcPr/>
                </a:tc>
                <a:extLst>
                  <a:ext uri="{0D108BD9-81ED-4DB2-BD59-A6C34878D82A}">
                    <a16:rowId xmlns:a16="http://schemas.microsoft.com/office/drawing/2014/main" val="3736312713"/>
                  </a:ext>
                </a:extLst>
              </a:tr>
              <a:tr h="406371">
                <a:tc>
                  <a:txBody>
                    <a:bodyPr/>
                    <a:lstStyle/>
                    <a:p>
                      <a:r>
                        <a:rPr kumimoji="1" lang="en-US" altLang="ja-JP" dirty="0"/>
                        <a:t>0</a:t>
                      </a:r>
                      <a:endParaRPr kumimoji="1" lang="ja-JP" altLang="en-US" dirty="0"/>
                    </a:p>
                  </a:txBody>
                  <a:tcPr/>
                </a:tc>
                <a:extLst>
                  <a:ext uri="{0D108BD9-81ED-4DB2-BD59-A6C34878D82A}">
                    <a16:rowId xmlns:a16="http://schemas.microsoft.com/office/drawing/2014/main" val="2575363969"/>
                  </a:ext>
                </a:extLst>
              </a:tr>
              <a:tr h="406371">
                <a:tc>
                  <a:txBody>
                    <a:bodyPr/>
                    <a:lstStyle/>
                    <a:p>
                      <a:r>
                        <a:rPr kumimoji="1" lang="en-US" altLang="ja-JP" dirty="0"/>
                        <a:t>2</a:t>
                      </a:r>
                      <a:endParaRPr kumimoji="1" lang="ja-JP" altLang="en-US" dirty="0"/>
                    </a:p>
                  </a:txBody>
                  <a:tcPr/>
                </a:tc>
                <a:extLst>
                  <a:ext uri="{0D108BD9-81ED-4DB2-BD59-A6C34878D82A}">
                    <a16:rowId xmlns:a16="http://schemas.microsoft.com/office/drawing/2014/main" val="1277393644"/>
                  </a:ext>
                </a:extLst>
              </a:tr>
              <a:tr h="406371">
                <a:tc>
                  <a:txBody>
                    <a:bodyPr/>
                    <a:lstStyle/>
                    <a:p>
                      <a:r>
                        <a:rPr kumimoji="1" lang="en-US" altLang="ja-JP" dirty="0"/>
                        <a:t>1</a:t>
                      </a:r>
                      <a:endParaRPr kumimoji="1" lang="ja-JP" altLang="en-US" dirty="0"/>
                    </a:p>
                  </a:txBody>
                  <a:tcPr/>
                </a:tc>
                <a:extLst>
                  <a:ext uri="{0D108BD9-81ED-4DB2-BD59-A6C34878D82A}">
                    <a16:rowId xmlns:a16="http://schemas.microsoft.com/office/drawing/2014/main" val="3575396391"/>
                  </a:ext>
                </a:extLst>
              </a:tr>
            </a:tbl>
          </a:graphicData>
        </a:graphic>
      </p:graphicFrame>
      <p:sp>
        <p:nvSpPr>
          <p:cNvPr id="11" name="矢印: 上 10">
            <a:extLst>
              <a:ext uri="{FF2B5EF4-FFF2-40B4-BE49-F238E27FC236}">
                <a16:creationId xmlns:a16="http://schemas.microsoft.com/office/drawing/2014/main" id="{DEFC8498-EB3B-4F12-A9E4-C4AC149D1A0C}"/>
              </a:ext>
            </a:extLst>
          </p:cNvPr>
          <p:cNvSpPr/>
          <p:nvPr/>
        </p:nvSpPr>
        <p:spPr>
          <a:xfrm>
            <a:off x="5319252" y="2618088"/>
            <a:ext cx="776749" cy="35396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矢印: 上 11">
            <a:extLst>
              <a:ext uri="{FF2B5EF4-FFF2-40B4-BE49-F238E27FC236}">
                <a16:creationId xmlns:a16="http://schemas.microsoft.com/office/drawing/2014/main" id="{7CD463F4-5039-405B-82D9-4FA3D18758E8}"/>
              </a:ext>
            </a:extLst>
          </p:cNvPr>
          <p:cNvSpPr/>
          <p:nvPr/>
        </p:nvSpPr>
        <p:spPr>
          <a:xfrm>
            <a:off x="6587910" y="2618087"/>
            <a:ext cx="776749" cy="35396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矢印: 上 12">
            <a:extLst>
              <a:ext uri="{FF2B5EF4-FFF2-40B4-BE49-F238E27FC236}">
                <a16:creationId xmlns:a16="http://schemas.microsoft.com/office/drawing/2014/main" id="{1D51AEC3-3AB6-43C8-925A-14CD22849270}"/>
              </a:ext>
            </a:extLst>
          </p:cNvPr>
          <p:cNvSpPr/>
          <p:nvPr/>
        </p:nvSpPr>
        <p:spPr>
          <a:xfrm>
            <a:off x="8529781" y="2618086"/>
            <a:ext cx="776749" cy="35396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B8C42601-6538-4EBD-93BA-24F0FA3D6BE6}"/>
              </a:ext>
            </a:extLst>
          </p:cNvPr>
          <p:cNvSpPr txBox="1"/>
          <p:nvPr/>
        </p:nvSpPr>
        <p:spPr>
          <a:xfrm>
            <a:off x="7851356" y="3079751"/>
            <a:ext cx="2910347" cy="1661993"/>
          </a:xfrm>
          <a:prstGeom prst="rect">
            <a:avLst/>
          </a:prstGeom>
          <a:noFill/>
        </p:spPr>
        <p:txBody>
          <a:bodyPr wrap="square" rtlCol="0">
            <a:spAutoFit/>
          </a:bodyPr>
          <a:lstStyle/>
          <a:p>
            <a:pPr algn="l"/>
            <a:r>
              <a:rPr kumimoji="1" lang="en-US" altLang="ja-JP" sz="2400" dirty="0">
                <a:latin typeface="メイリオ" panose="020B0604030504040204" pitchFamily="50" charset="-128"/>
                <a:ea typeface="メイリオ" panose="020B0604030504040204" pitchFamily="50" charset="-128"/>
              </a:rPr>
              <a:t>75%</a:t>
            </a:r>
            <a:r>
              <a:rPr kumimoji="1" lang="ja-JP" altLang="en-US" sz="2400" dirty="0" err="1">
                <a:latin typeface="メイリオ" panose="020B0604030504040204" pitchFamily="50" charset="-128"/>
                <a:ea typeface="メイリオ" panose="020B0604030504040204" pitchFamily="50" charset="-128"/>
              </a:rPr>
              <a:t>を抽</a:t>
            </a:r>
            <a:r>
              <a:rPr kumimoji="1" lang="ja-JP" altLang="en-US" sz="2400" dirty="0">
                <a:latin typeface="メイリオ" panose="020B0604030504040204" pitchFamily="50" charset="-128"/>
                <a:ea typeface="メイリオ" panose="020B0604030504040204" pitchFamily="50" charset="-128"/>
              </a:rPr>
              <a:t>出する際にランダムに抽出</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dirty="0">
                <a:latin typeface="メイリオ" panose="020B0604030504040204" pitchFamily="50" charset="-128"/>
                <a:ea typeface="メイリオ" panose="020B0604030504040204" pitchFamily="50" charset="-128"/>
              </a:rPr>
              <a:t>（最初から順に抽出すると訓練データに偏りが生ずる　</a:t>
            </a:r>
          </a:p>
        </p:txBody>
      </p:sp>
      <p:sp>
        <p:nvSpPr>
          <p:cNvPr id="16" name="テキスト ボックス 15">
            <a:extLst>
              <a:ext uri="{FF2B5EF4-FFF2-40B4-BE49-F238E27FC236}">
                <a16:creationId xmlns:a16="http://schemas.microsoft.com/office/drawing/2014/main" id="{C86DE218-4480-4FAE-A961-994B2525A210}"/>
              </a:ext>
            </a:extLst>
          </p:cNvPr>
          <p:cNvSpPr txBox="1"/>
          <p:nvPr/>
        </p:nvSpPr>
        <p:spPr>
          <a:xfrm>
            <a:off x="428001" y="947498"/>
            <a:ext cx="8101780" cy="830997"/>
          </a:xfrm>
          <a:prstGeom prst="rect">
            <a:avLst/>
          </a:prstGeom>
          <a:noFill/>
        </p:spPr>
        <p:txBody>
          <a:bodyPr wrap="square" rtlCol="0">
            <a:spAutoFit/>
          </a:bodyPr>
          <a:lstStyle/>
          <a:p>
            <a:r>
              <a:rPr kumimoji="1" lang="en-US" altLang="ja-JP" sz="2400" dirty="0" err="1">
                <a:latin typeface="メイリオ" panose="020B0604030504040204" pitchFamily="50" charset="-128"/>
                <a:ea typeface="メイリオ" panose="020B0604030504040204" pitchFamily="50" charset="-128"/>
              </a:rPr>
              <a:t>train_test_split</a:t>
            </a:r>
            <a:r>
              <a:rPr kumimoji="1" lang="en-US" altLang="ja-JP" sz="2400" dirty="0">
                <a:latin typeface="メイリオ" panose="020B0604030504040204" pitchFamily="50" charset="-128"/>
                <a:ea typeface="メイリオ" panose="020B0604030504040204" pitchFamily="50" charset="-128"/>
              </a:rPr>
              <a:t>() : </a:t>
            </a:r>
            <a:r>
              <a:rPr kumimoji="1" lang="ja-JP" altLang="en-US" sz="2400" dirty="0">
                <a:latin typeface="メイリオ" panose="020B0604030504040204" pitchFamily="50" charset="-128"/>
                <a:ea typeface="メイリオ" panose="020B0604030504040204" pitchFamily="50" charset="-128"/>
              </a:rPr>
              <a:t>訓練データとテストデータをもとのデータセットから抽出する関数（メソッド）</a:t>
            </a:r>
          </a:p>
        </p:txBody>
      </p:sp>
      <p:sp>
        <p:nvSpPr>
          <p:cNvPr id="18" name="テキスト ボックス 17">
            <a:extLst>
              <a:ext uri="{FF2B5EF4-FFF2-40B4-BE49-F238E27FC236}">
                <a16:creationId xmlns:a16="http://schemas.microsoft.com/office/drawing/2014/main" id="{B18A157B-0DA7-4E65-8441-D684558EBF92}"/>
              </a:ext>
            </a:extLst>
          </p:cNvPr>
          <p:cNvSpPr txBox="1"/>
          <p:nvPr/>
        </p:nvSpPr>
        <p:spPr>
          <a:xfrm>
            <a:off x="1812776" y="5707447"/>
            <a:ext cx="5493812" cy="1015663"/>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戻り値：</a:t>
            </a:r>
            <a:endParaRPr kumimoji="1" lang="en-US" altLang="ja-JP" dirty="0">
              <a:latin typeface="メイリオ" panose="020B0604030504040204" pitchFamily="50" charset="-128"/>
              <a:ea typeface="メイリオ" panose="020B0604030504040204" pitchFamily="50" charset="-128"/>
            </a:endParaRPr>
          </a:p>
          <a:p>
            <a:pPr algn="l"/>
            <a:r>
              <a:rPr kumimoji="1" lang="ja-JP" altLang="en-US" dirty="0">
                <a:latin typeface="メイリオ" panose="020B0604030504040204" pitchFamily="50" charset="-128"/>
                <a:ea typeface="メイリオ" panose="020B0604030504040204" pitchFamily="50" charset="-128"/>
              </a:rPr>
              <a:t>訓練データ（特徴量），テストデータ（特徴量），</a:t>
            </a:r>
            <a:endParaRPr kumimoji="1" lang="en-US" altLang="ja-JP" dirty="0">
              <a:latin typeface="メイリオ" panose="020B0604030504040204" pitchFamily="50" charset="-128"/>
              <a:ea typeface="メイリオ" panose="020B0604030504040204" pitchFamily="50" charset="-128"/>
            </a:endParaRPr>
          </a:p>
          <a:p>
            <a:pPr algn="l"/>
            <a:r>
              <a:rPr kumimoji="1" lang="ja-JP" altLang="en-US" dirty="0">
                <a:latin typeface="メイリオ" panose="020B0604030504040204" pitchFamily="50" charset="-128"/>
                <a:ea typeface="メイリオ" panose="020B0604030504040204" pitchFamily="50" charset="-128"/>
              </a:rPr>
              <a:t>訓練データ（ラベル），テストデータ（ラベル）</a:t>
            </a:r>
          </a:p>
        </p:txBody>
      </p:sp>
      <p:pic>
        <p:nvPicPr>
          <p:cNvPr id="3" name="Picture 2" descr="Jupyter Notebookの後継？Jupyter Labをつかってみた - いっきのblog">
            <a:extLst>
              <a:ext uri="{FF2B5EF4-FFF2-40B4-BE49-F238E27FC236}">
                <a16:creationId xmlns:a16="http://schemas.microsoft.com/office/drawing/2014/main" id="{F40EB56C-1DCE-DFF9-AF67-22F1C5141C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17616" y="211158"/>
            <a:ext cx="1191086" cy="1301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0826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213EAB8A-A398-4C74-A7B8-DAD004AF59C2}"/>
              </a:ext>
            </a:extLst>
          </p:cNvPr>
          <p:cNvSpPr txBox="1"/>
          <p:nvPr/>
        </p:nvSpPr>
        <p:spPr>
          <a:xfrm>
            <a:off x="4001201" y="789974"/>
            <a:ext cx="7911846" cy="1938992"/>
          </a:xfrm>
          <a:prstGeom prst="rect">
            <a:avLst/>
          </a:prstGeom>
          <a:noFill/>
        </p:spPr>
        <p:txBody>
          <a:bodyPr wrap="none" rtlCol="0">
            <a:spAutoFit/>
          </a:bodyPr>
          <a:lstStyle/>
          <a:p>
            <a:endParaRPr kumimoji="1" lang="en-US" altLang="ja-JP" sz="2400" dirty="0">
              <a:latin typeface="メイリオ" panose="020B0604030504040204" pitchFamily="50" charset="-128"/>
              <a:ea typeface="メイリオ" panose="020B0604030504040204" pitchFamily="50" charset="-128"/>
            </a:endParaRPr>
          </a:p>
          <a:p>
            <a:r>
              <a:rPr kumimoji="1" lang="en-US" altLang="ja-JP" sz="2400" dirty="0">
                <a:latin typeface="メイリオ" panose="020B0604030504040204" pitchFamily="50" charset="-128"/>
                <a:ea typeface="メイリオ" panose="020B0604030504040204" pitchFamily="50" charset="-128"/>
              </a:rPr>
              <a:t>from </a:t>
            </a:r>
            <a:r>
              <a:rPr kumimoji="1" lang="en-US" altLang="ja-JP" sz="2400" dirty="0" err="1">
                <a:latin typeface="メイリオ" panose="020B0604030504040204" pitchFamily="50" charset="-128"/>
                <a:ea typeface="メイリオ" panose="020B0604030504040204" pitchFamily="50" charset="-128"/>
              </a:rPr>
              <a:t>sklearn.neighbors</a:t>
            </a:r>
            <a:r>
              <a:rPr kumimoji="1" lang="en-US" altLang="ja-JP" sz="2400" dirty="0">
                <a:latin typeface="メイリオ" panose="020B0604030504040204" pitchFamily="50" charset="-128"/>
                <a:ea typeface="メイリオ" panose="020B0604030504040204" pitchFamily="50" charset="-128"/>
              </a:rPr>
              <a:t> import </a:t>
            </a:r>
            <a:r>
              <a:rPr kumimoji="1" lang="en-US" altLang="ja-JP" sz="2400" dirty="0" err="1">
                <a:latin typeface="メイリオ" panose="020B0604030504040204" pitchFamily="50" charset="-128"/>
                <a:ea typeface="メイリオ" panose="020B0604030504040204" pitchFamily="50" charset="-128"/>
              </a:rPr>
              <a:t>KNeighborsClassifier</a:t>
            </a:r>
            <a:endParaRPr kumimoji="1" lang="en-US" altLang="ja-JP" sz="2400" dirty="0">
              <a:latin typeface="メイリオ" panose="020B0604030504040204" pitchFamily="50" charset="-128"/>
              <a:ea typeface="メイリオ" panose="020B0604030504040204" pitchFamily="50" charset="-128"/>
            </a:endParaRPr>
          </a:p>
          <a:p>
            <a:endParaRPr kumimoji="1" lang="en-US" altLang="ja-JP" sz="2400" dirty="0">
              <a:latin typeface="メイリオ" panose="020B0604030504040204" pitchFamily="50" charset="-128"/>
              <a:ea typeface="メイリオ" panose="020B0604030504040204" pitchFamily="50" charset="-128"/>
            </a:endParaRPr>
          </a:p>
          <a:p>
            <a:r>
              <a:rPr kumimoji="1" lang="en-US" altLang="ja-JP" sz="2400" dirty="0" err="1">
                <a:latin typeface="メイリオ" panose="020B0604030504040204" pitchFamily="50" charset="-128"/>
                <a:ea typeface="メイリオ" panose="020B0604030504040204" pitchFamily="50" charset="-128"/>
              </a:rPr>
              <a:t>knn</a:t>
            </a:r>
            <a:r>
              <a:rPr kumimoji="1" lang="en-US" altLang="ja-JP" sz="2400" dirty="0">
                <a:latin typeface="メイリオ" panose="020B0604030504040204" pitchFamily="50" charset="-128"/>
                <a:ea typeface="メイリオ" panose="020B0604030504040204" pitchFamily="50" charset="-128"/>
              </a:rPr>
              <a:t> = </a:t>
            </a:r>
            <a:r>
              <a:rPr kumimoji="1" lang="en-US" altLang="ja-JP" sz="2400" dirty="0" err="1">
                <a:latin typeface="メイリオ" panose="020B0604030504040204" pitchFamily="50" charset="-128"/>
                <a:ea typeface="メイリオ" panose="020B0604030504040204" pitchFamily="50" charset="-128"/>
              </a:rPr>
              <a:t>KNeighborsClassifier</a:t>
            </a:r>
            <a:r>
              <a:rPr kumimoji="1" lang="en-US" altLang="ja-JP" sz="2400" dirty="0">
                <a:latin typeface="メイリオ" panose="020B0604030504040204" pitchFamily="50" charset="-128"/>
                <a:ea typeface="メイリオ" panose="020B0604030504040204" pitchFamily="50" charset="-128"/>
              </a:rPr>
              <a:t>(</a:t>
            </a:r>
            <a:r>
              <a:rPr kumimoji="1" lang="en-US" altLang="ja-JP" sz="2400" dirty="0" err="1">
                <a:latin typeface="メイリオ" panose="020B0604030504040204" pitchFamily="50" charset="-128"/>
                <a:ea typeface="メイリオ" panose="020B0604030504040204" pitchFamily="50" charset="-128"/>
              </a:rPr>
              <a:t>n_neighbors</a:t>
            </a:r>
            <a:r>
              <a:rPr kumimoji="1" lang="en-US" altLang="ja-JP" sz="2400" dirty="0">
                <a:latin typeface="メイリオ" panose="020B0604030504040204" pitchFamily="50" charset="-128"/>
                <a:ea typeface="メイリオ" panose="020B0604030504040204" pitchFamily="50" charset="-128"/>
              </a:rPr>
              <a:t>=1)</a:t>
            </a:r>
          </a:p>
          <a:p>
            <a:r>
              <a:rPr kumimoji="1" lang="en-US" altLang="ja-JP" sz="2400" dirty="0" err="1">
                <a:latin typeface="メイリオ" panose="020B0604030504040204" pitchFamily="50" charset="-128"/>
                <a:ea typeface="メイリオ" panose="020B0604030504040204" pitchFamily="50" charset="-128"/>
              </a:rPr>
              <a:t>knn.fit</a:t>
            </a:r>
            <a:r>
              <a:rPr kumimoji="1" lang="en-US" altLang="ja-JP" sz="2400" dirty="0">
                <a:latin typeface="メイリオ" panose="020B0604030504040204" pitchFamily="50" charset="-128"/>
                <a:ea typeface="メイリオ" panose="020B0604030504040204" pitchFamily="50" charset="-128"/>
              </a:rPr>
              <a:t>(</a:t>
            </a:r>
            <a:r>
              <a:rPr kumimoji="1" lang="en-US" altLang="ja-JP" sz="2400" dirty="0" err="1">
                <a:latin typeface="メイリオ" panose="020B0604030504040204" pitchFamily="50" charset="-128"/>
                <a:ea typeface="メイリオ" panose="020B0604030504040204" pitchFamily="50" charset="-128"/>
              </a:rPr>
              <a:t>X_train,Y_train</a:t>
            </a:r>
            <a:r>
              <a:rPr kumimoji="1" lang="en-US" altLang="ja-JP" sz="2400" dirty="0">
                <a:latin typeface="メイリオ" panose="020B0604030504040204" pitchFamily="50" charset="-128"/>
                <a:ea typeface="メイリオ" panose="020B0604030504040204" pitchFamily="50" charset="-128"/>
              </a:rPr>
              <a:t>)</a:t>
            </a:r>
            <a:endParaRPr kumimoji="1" lang="ja-JP" altLang="en-US" sz="2400" dirty="0">
              <a:latin typeface="メイリオ" panose="020B0604030504040204" pitchFamily="50" charset="-128"/>
              <a:ea typeface="メイリオ" panose="020B0604030504040204" pitchFamily="50" charset="-128"/>
            </a:endParaRPr>
          </a:p>
        </p:txBody>
      </p:sp>
      <p:graphicFrame>
        <p:nvGraphicFramePr>
          <p:cNvPr id="6" name="図表 5">
            <a:extLst>
              <a:ext uri="{FF2B5EF4-FFF2-40B4-BE49-F238E27FC236}">
                <a16:creationId xmlns:a16="http://schemas.microsoft.com/office/drawing/2014/main" id="{15906EEF-19A2-46FB-B15C-25266E7345A2}"/>
              </a:ext>
            </a:extLst>
          </p:cNvPr>
          <p:cNvGraphicFramePr/>
          <p:nvPr/>
        </p:nvGraphicFramePr>
        <p:xfrm>
          <a:off x="3763001" y="4252761"/>
          <a:ext cx="5100368" cy="15776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矢印: 下 6">
            <a:extLst>
              <a:ext uri="{FF2B5EF4-FFF2-40B4-BE49-F238E27FC236}">
                <a16:creationId xmlns:a16="http://schemas.microsoft.com/office/drawing/2014/main" id="{EDA5C8BF-099A-4B2A-B2F8-79346682CF68}"/>
              </a:ext>
            </a:extLst>
          </p:cNvPr>
          <p:cNvSpPr/>
          <p:nvPr/>
        </p:nvSpPr>
        <p:spPr>
          <a:xfrm>
            <a:off x="4603104" y="3965280"/>
            <a:ext cx="1130709" cy="46166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41E0F90-2DF3-49CC-AC65-E5A2B5CAB2D3}"/>
              </a:ext>
            </a:extLst>
          </p:cNvPr>
          <p:cNvSpPr txBox="1"/>
          <p:nvPr/>
        </p:nvSpPr>
        <p:spPr>
          <a:xfrm flipH="1">
            <a:off x="3086801" y="3429000"/>
            <a:ext cx="8714824" cy="461665"/>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〇〇</a:t>
            </a:r>
            <a:r>
              <a:rPr kumimoji="1" lang="en-US" altLang="ja-JP" sz="2400" dirty="0">
                <a:latin typeface="メイリオ" panose="020B0604030504040204" pitchFamily="50" charset="-128"/>
                <a:ea typeface="メイリオ" panose="020B0604030504040204" pitchFamily="50" charset="-128"/>
              </a:rPr>
              <a:t>.fit(</a:t>
            </a:r>
            <a:r>
              <a:rPr kumimoji="1" lang="ja-JP" altLang="en-US" sz="2400" dirty="0">
                <a:latin typeface="メイリオ" panose="020B0604030504040204" pitchFamily="50" charset="-128"/>
                <a:ea typeface="メイリオ" panose="020B0604030504040204" pitchFamily="50" charset="-128"/>
              </a:rPr>
              <a:t>訓練データ（特徴量），訓練データ（教師ラベル））</a:t>
            </a:r>
          </a:p>
        </p:txBody>
      </p:sp>
      <p:sp>
        <p:nvSpPr>
          <p:cNvPr id="10" name="テキスト ボックス 9">
            <a:extLst>
              <a:ext uri="{FF2B5EF4-FFF2-40B4-BE49-F238E27FC236}">
                <a16:creationId xmlns:a16="http://schemas.microsoft.com/office/drawing/2014/main" id="{38808BC8-B61F-43EA-BF93-C0858816A44F}"/>
              </a:ext>
            </a:extLst>
          </p:cNvPr>
          <p:cNvSpPr txBox="1"/>
          <p:nvPr/>
        </p:nvSpPr>
        <p:spPr>
          <a:xfrm>
            <a:off x="4001201" y="2664431"/>
            <a:ext cx="3106941" cy="461665"/>
          </a:xfrm>
          <a:prstGeom prst="rect">
            <a:avLst/>
          </a:prstGeom>
          <a:noFill/>
        </p:spPr>
        <p:txBody>
          <a:bodyPr wrap="none" rtlCol="0">
            <a:spAutoFit/>
          </a:bodyPr>
          <a:lstStyle/>
          <a:p>
            <a:pPr algn="l"/>
            <a:r>
              <a:rPr kumimoji="1" lang="en-US" altLang="ja-JP" sz="2400" dirty="0" err="1">
                <a:latin typeface="メイリオ" panose="020B0604030504040204" pitchFamily="50" charset="-128"/>
                <a:ea typeface="メイリオ" panose="020B0604030504040204" pitchFamily="50" charset="-128"/>
              </a:rPr>
              <a:t>knn.predict</a:t>
            </a:r>
            <a:r>
              <a:rPr kumimoji="1" lang="en-US" altLang="ja-JP" sz="2400" dirty="0">
                <a:latin typeface="メイリオ" panose="020B0604030504040204" pitchFamily="50" charset="-128"/>
                <a:ea typeface="メイリオ" panose="020B0604030504040204" pitchFamily="50" charset="-128"/>
              </a:rPr>
              <a:t>(</a:t>
            </a:r>
            <a:r>
              <a:rPr kumimoji="1" lang="en-US" altLang="ja-JP" sz="2400" dirty="0" err="1">
                <a:latin typeface="メイリオ" panose="020B0604030504040204" pitchFamily="50" charset="-128"/>
                <a:ea typeface="メイリオ" panose="020B0604030504040204" pitchFamily="50" charset="-128"/>
              </a:rPr>
              <a:t>X_test</a:t>
            </a:r>
            <a:r>
              <a:rPr kumimoji="1" lang="en-US" altLang="ja-JP" sz="2400" dirty="0">
                <a:latin typeface="メイリオ" panose="020B0604030504040204" pitchFamily="50" charset="-128"/>
                <a:ea typeface="メイリオ" panose="020B0604030504040204" pitchFamily="50" charset="-128"/>
              </a:rPr>
              <a:t>)</a:t>
            </a:r>
            <a:endParaRPr kumimoji="1" lang="ja-JP" altLang="en-US" sz="2400" dirty="0">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8C92C134-8CFE-4A6B-96C4-C2D0A8A9DDA1}"/>
              </a:ext>
            </a:extLst>
          </p:cNvPr>
          <p:cNvSpPr txBox="1"/>
          <p:nvPr/>
        </p:nvSpPr>
        <p:spPr>
          <a:xfrm>
            <a:off x="6313186" y="6322170"/>
            <a:ext cx="5285421" cy="461665"/>
          </a:xfrm>
          <a:prstGeom prst="rect">
            <a:avLst/>
          </a:prstGeom>
          <a:noFill/>
        </p:spPr>
        <p:txBody>
          <a:bodyPr wrap="none" rtlCol="0">
            <a:spAutoFit/>
          </a:bodyPr>
          <a:lstStyle/>
          <a:p>
            <a:r>
              <a:rPr kumimoji="1" lang="ja-JP" altLang="en-US" sz="2400" dirty="0">
                <a:latin typeface="メイリオ" panose="020B0604030504040204" pitchFamily="50" charset="-128"/>
                <a:ea typeface="メイリオ" panose="020B0604030504040204" pitchFamily="50" charset="-128"/>
              </a:rPr>
              <a:t>〇〇</a:t>
            </a:r>
            <a:r>
              <a:rPr kumimoji="1" lang="en-US" altLang="ja-JP" sz="2400" dirty="0">
                <a:latin typeface="メイリオ" panose="020B0604030504040204" pitchFamily="50" charset="-128"/>
                <a:ea typeface="メイリオ" panose="020B0604030504040204" pitchFamily="50" charset="-128"/>
              </a:rPr>
              <a:t>.predict(</a:t>
            </a:r>
            <a:r>
              <a:rPr kumimoji="1" lang="ja-JP" altLang="en-US" sz="2400" dirty="0">
                <a:latin typeface="メイリオ" panose="020B0604030504040204" pitchFamily="50" charset="-128"/>
                <a:ea typeface="メイリオ" panose="020B0604030504040204" pitchFamily="50" charset="-128"/>
              </a:rPr>
              <a:t>訓練データ（特徴量）</a:t>
            </a:r>
            <a:r>
              <a:rPr kumimoji="1" lang="en-US" altLang="ja-JP" sz="2400" dirty="0">
                <a:latin typeface="メイリオ" panose="020B0604030504040204" pitchFamily="50" charset="-128"/>
                <a:ea typeface="メイリオ" panose="020B0604030504040204" pitchFamily="50" charset="-128"/>
              </a:rPr>
              <a:t>)</a:t>
            </a:r>
            <a:endParaRPr kumimoji="1" lang="ja-JP" altLang="en-US" sz="2400" dirty="0">
              <a:latin typeface="メイリオ" panose="020B0604030504040204" pitchFamily="50" charset="-128"/>
              <a:ea typeface="メイリオ" panose="020B0604030504040204" pitchFamily="50" charset="-128"/>
            </a:endParaRPr>
          </a:p>
        </p:txBody>
      </p:sp>
      <p:sp>
        <p:nvSpPr>
          <p:cNvPr id="11" name="矢印: 上 10">
            <a:extLst>
              <a:ext uri="{FF2B5EF4-FFF2-40B4-BE49-F238E27FC236}">
                <a16:creationId xmlns:a16="http://schemas.microsoft.com/office/drawing/2014/main" id="{515883A0-B4B6-4FC5-9A9E-FDF7CBEBB7D0}"/>
              </a:ext>
            </a:extLst>
          </p:cNvPr>
          <p:cNvSpPr/>
          <p:nvPr/>
        </p:nvSpPr>
        <p:spPr>
          <a:xfrm>
            <a:off x="6840495" y="5745653"/>
            <a:ext cx="1107440" cy="46166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A9474025-C6A9-E717-FF23-D473FC9CFAF2}"/>
              </a:ext>
            </a:extLst>
          </p:cNvPr>
          <p:cNvSpPr txBox="1"/>
          <p:nvPr/>
        </p:nvSpPr>
        <p:spPr>
          <a:xfrm>
            <a:off x="157473" y="1875346"/>
            <a:ext cx="3877985"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モデルを実行可能にする➡</a:t>
            </a:r>
          </a:p>
        </p:txBody>
      </p:sp>
      <p:sp>
        <p:nvSpPr>
          <p:cNvPr id="9" name="テキスト ボックス 8">
            <a:extLst>
              <a:ext uri="{FF2B5EF4-FFF2-40B4-BE49-F238E27FC236}">
                <a16:creationId xmlns:a16="http://schemas.microsoft.com/office/drawing/2014/main" id="{2D39FF64-9498-4DDF-8F8D-D8306D1FC7E1}"/>
              </a:ext>
            </a:extLst>
          </p:cNvPr>
          <p:cNvSpPr txBox="1"/>
          <p:nvPr/>
        </p:nvSpPr>
        <p:spPr>
          <a:xfrm>
            <a:off x="2585429" y="2249919"/>
            <a:ext cx="1415772"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学習　➡</a:t>
            </a:r>
          </a:p>
        </p:txBody>
      </p:sp>
      <p:sp>
        <p:nvSpPr>
          <p:cNvPr id="12" name="テキスト ボックス 11">
            <a:extLst>
              <a:ext uri="{FF2B5EF4-FFF2-40B4-BE49-F238E27FC236}">
                <a16:creationId xmlns:a16="http://schemas.microsoft.com/office/drawing/2014/main" id="{2C87422D-60EA-A863-CF0C-B9C536CE92E8}"/>
              </a:ext>
            </a:extLst>
          </p:cNvPr>
          <p:cNvSpPr txBox="1"/>
          <p:nvPr/>
        </p:nvSpPr>
        <p:spPr>
          <a:xfrm>
            <a:off x="223126" y="251688"/>
            <a:ext cx="6750566"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教師あり機械学習のコードパターン</a:t>
            </a:r>
          </a:p>
        </p:txBody>
      </p:sp>
      <p:sp>
        <p:nvSpPr>
          <p:cNvPr id="14" name="テキスト ボックス 13">
            <a:extLst>
              <a:ext uri="{FF2B5EF4-FFF2-40B4-BE49-F238E27FC236}">
                <a16:creationId xmlns:a16="http://schemas.microsoft.com/office/drawing/2014/main" id="{84999BC5-CCD3-36AA-DD71-1EDC3A74C0B4}"/>
              </a:ext>
            </a:extLst>
          </p:cNvPr>
          <p:cNvSpPr txBox="1"/>
          <p:nvPr/>
        </p:nvSpPr>
        <p:spPr>
          <a:xfrm>
            <a:off x="223126" y="756425"/>
            <a:ext cx="6955750"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異なる機械学習モデルを使ってもパターンは同じ</a:t>
            </a:r>
          </a:p>
        </p:txBody>
      </p:sp>
      <p:sp>
        <p:nvSpPr>
          <p:cNvPr id="16" name="テキスト ボックス 15">
            <a:extLst>
              <a:ext uri="{FF2B5EF4-FFF2-40B4-BE49-F238E27FC236}">
                <a16:creationId xmlns:a16="http://schemas.microsoft.com/office/drawing/2014/main" id="{445342D7-F433-AE8A-112E-D82B4C4C20E4}"/>
              </a:ext>
            </a:extLst>
          </p:cNvPr>
          <p:cNvSpPr txBox="1"/>
          <p:nvPr/>
        </p:nvSpPr>
        <p:spPr>
          <a:xfrm>
            <a:off x="3508758" y="2592762"/>
            <a:ext cx="492443"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a:t>
            </a:r>
          </a:p>
        </p:txBody>
      </p:sp>
      <p:sp>
        <p:nvSpPr>
          <p:cNvPr id="17" name="テキスト ボックス 16">
            <a:extLst>
              <a:ext uri="{FF2B5EF4-FFF2-40B4-BE49-F238E27FC236}">
                <a16:creationId xmlns:a16="http://schemas.microsoft.com/office/drawing/2014/main" id="{B753AE42-1B04-4D1F-6D7C-66CEC4D31CF2}"/>
              </a:ext>
            </a:extLst>
          </p:cNvPr>
          <p:cNvSpPr txBox="1"/>
          <p:nvPr/>
        </p:nvSpPr>
        <p:spPr>
          <a:xfrm>
            <a:off x="1567084" y="2624492"/>
            <a:ext cx="2031325"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予測（分類）</a:t>
            </a:r>
          </a:p>
        </p:txBody>
      </p:sp>
    </p:spTree>
    <p:extLst>
      <p:ext uri="{BB962C8B-B14F-4D97-AF65-F5344CB8AC3E}">
        <p14:creationId xmlns:p14="http://schemas.microsoft.com/office/powerpoint/2010/main" val="1779544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EAD8B05-ADAD-4C9A-AD02-D837980A065B}"/>
              </a:ext>
            </a:extLst>
          </p:cNvPr>
          <p:cNvSpPr txBox="1"/>
          <p:nvPr/>
        </p:nvSpPr>
        <p:spPr>
          <a:xfrm>
            <a:off x="423666" y="403751"/>
            <a:ext cx="8763000" cy="584775"/>
          </a:xfrm>
          <a:prstGeom prst="rect">
            <a:avLst/>
          </a:prstGeom>
          <a:noFill/>
        </p:spPr>
        <p:txBody>
          <a:bodyPr wrap="square" rtlCol="0">
            <a:spAutoFit/>
          </a:bodyPr>
          <a:lstStyle/>
          <a:p>
            <a:r>
              <a:rPr kumimoji="1" lang="en-US" altLang="ja-JP" sz="3200" b="1" dirty="0">
                <a:latin typeface="メイリオ" panose="020B0604030504040204" pitchFamily="50" charset="-128"/>
                <a:ea typeface="メイリオ" panose="020B0604030504040204" pitchFamily="50" charset="-128"/>
              </a:rPr>
              <a:t>K</a:t>
            </a:r>
            <a:r>
              <a:rPr kumimoji="1" lang="ja-JP" altLang="en-US" sz="3200" b="1" dirty="0">
                <a:latin typeface="メイリオ" panose="020B0604030504040204" pitchFamily="50" charset="-128"/>
                <a:ea typeface="メイリオ" panose="020B0604030504040204" pitchFamily="50" charset="-128"/>
              </a:rPr>
              <a:t>最近傍法（</a:t>
            </a:r>
            <a:r>
              <a:rPr kumimoji="1" lang="en-US" altLang="ja-JP" sz="3200" b="1" dirty="0">
                <a:latin typeface="メイリオ" panose="020B0604030504040204" pitchFamily="50" charset="-128"/>
                <a:ea typeface="メイリオ" panose="020B0604030504040204" pitchFamily="50" charset="-128"/>
              </a:rPr>
              <a:t>K-nearest neighbor</a:t>
            </a:r>
            <a:r>
              <a:rPr kumimoji="1" lang="ja-JP" altLang="en-US" sz="3200" b="1" dirty="0">
                <a:latin typeface="メイリオ" panose="020B0604030504040204" pitchFamily="50" charset="-128"/>
                <a:ea typeface="メイリオ" panose="020B0604030504040204" pitchFamily="50" charset="-128"/>
              </a:rPr>
              <a:t>）の原理</a:t>
            </a:r>
          </a:p>
        </p:txBody>
      </p:sp>
      <p:pic>
        <p:nvPicPr>
          <p:cNvPr id="2050" name="Picture 2" descr="スクリーンショット 2016-05-04 3.33.02.png">
            <a:extLst>
              <a:ext uri="{FF2B5EF4-FFF2-40B4-BE49-F238E27FC236}">
                <a16:creationId xmlns:a16="http://schemas.microsoft.com/office/drawing/2014/main" id="{776B0F18-8C9E-4FF8-B8B9-8B8769BB57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8080" y="3143592"/>
            <a:ext cx="4497070" cy="3310657"/>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46F5FBE3-EF90-418A-A11F-01C280503425}"/>
              </a:ext>
            </a:extLst>
          </p:cNvPr>
          <p:cNvSpPr txBox="1"/>
          <p:nvPr/>
        </p:nvSpPr>
        <p:spPr>
          <a:xfrm>
            <a:off x="423666" y="1109508"/>
            <a:ext cx="10045279" cy="1077218"/>
          </a:xfrm>
          <a:prstGeom prst="rect">
            <a:avLst/>
          </a:prstGeom>
          <a:noFill/>
        </p:spPr>
        <p:txBody>
          <a:bodyPr wrap="square" rtlCol="0">
            <a:spAutoFit/>
          </a:bodyPr>
          <a:lstStyle/>
          <a:p>
            <a:r>
              <a:rPr kumimoji="1" lang="ja-JP" altLang="en-US" sz="2000" dirty="0">
                <a:latin typeface="メイリオ" panose="020B0604030504040204" pitchFamily="50" charset="-128"/>
                <a:ea typeface="メイリオ" panose="020B0604030504040204" pitchFamily="50" charset="-128"/>
              </a:rPr>
              <a:t>学習データをベクトル空間上にプロットしておき、未知のデータが得られたら、そこから距離が近い順に任意の</a:t>
            </a:r>
            <a:r>
              <a:rPr kumimoji="1" lang="en-US" altLang="ja-JP" sz="2000" dirty="0">
                <a:latin typeface="メイリオ" panose="020B0604030504040204" pitchFamily="50" charset="-128"/>
                <a:ea typeface="メイリオ" panose="020B0604030504040204" pitchFamily="50" charset="-128"/>
              </a:rPr>
              <a:t>K</a:t>
            </a:r>
            <a:r>
              <a:rPr kumimoji="1" lang="ja-JP" altLang="en-US" sz="2000" dirty="0">
                <a:latin typeface="メイリオ" panose="020B0604030504040204" pitchFamily="50" charset="-128"/>
                <a:ea typeface="メイリオ" panose="020B0604030504040204" pitchFamily="50" charset="-128"/>
              </a:rPr>
              <a:t>個を取得し、多数決でデータが属するクラスを推定する。</a:t>
            </a:r>
            <a:endParaRPr kumimoji="1" lang="en-US" altLang="ja-JP" sz="2000" dirty="0">
              <a:latin typeface="メイリオ" panose="020B0604030504040204" pitchFamily="50" charset="-128"/>
              <a:ea typeface="メイリオ" panose="020B0604030504040204" pitchFamily="50" charset="-128"/>
            </a:endParaRPr>
          </a:p>
          <a:p>
            <a:r>
              <a:rPr kumimoji="1" lang="en-US" altLang="ja-JP" sz="2400" b="1" dirty="0">
                <a:latin typeface="メイリオ" panose="020B0604030504040204" pitchFamily="50" charset="-128"/>
                <a:ea typeface="メイリオ" panose="020B0604030504040204" pitchFamily="50" charset="-128"/>
              </a:rPr>
              <a:t>K : </a:t>
            </a:r>
            <a:r>
              <a:rPr kumimoji="1" lang="ja-JP" altLang="en-US" sz="2400" b="1" dirty="0">
                <a:latin typeface="メイリオ" panose="020B0604030504040204" pitchFamily="50" charset="-128"/>
                <a:ea typeface="メイリオ" panose="020B0604030504040204" pitchFamily="50" charset="-128"/>
              </a:rPr>
              <a:t>外生変数（ハイパーパラメータと呼ばれる）</a:t>
            </a:r>
          </a:p>
        </p:txBody>
      </p:sp>
      <p:sp>
        <p:nvSpPr>
          <p:cNvPr id="4" name="テキスト ボックス 3">
            <a:extLst>
              <a:ext uri="{FF2B5EF4-FFF2-40B4-BE49-F238E27FC236}">
                <a16:creationId xmlns:a16="http://schemas.microsoft.com/office/drawing/2014/main" id="{5BB9F9CF-1851-4A5E-AAD5-C53AEF33BB34}"/>
              </a:ext>
            </a:extLst>
          </p:cNvPr>
          <p:cNvSpPr txBox="1"/>
          <p:nvPr/>
        </p:nvSpPr>
        <p:spPr>
          <a:xfrm>
            <a:off x="1035461" y="3129970"/>
            <a:ext cx="4962525" cy="3170099"/>
          </a:xfrm>
          <a:prstGeom prst="rect">
            <a:avLst/>
          </a:prstGeom>
          <a:noFill/>
        </p:spPr>
        <p:txBody>
          <a:bodyPr wrap="square" rtlCol="0">
            <a:spAutoFit/>
          </a:bodyPr>
          <a:lstStyle/>
          <a:p>
            <a:r>
              <a:rPr kumimoji="1" lang="en-US" altLang="ja-JP" sz="2000" dirty="0">
                <a:latin typeface="メイリオ" panose="020B0604030504040204" pitchFamily="50" charset="-128"/>
                <a:ea typeface="メイリオ" panose="020B0604030504040204" pitchFamily="50" charset="-128"/>
              </a:rPr>
              <a:t>1.</a:t>
            </a:r>
            <a:r>
              <a:rPr kumimoji="1" lang="ja-JP" altLang="en-US" sz="2000" dirty="0">
                <a:latin typeface="メイリオ" panose="020B0604030504040204" pitchFamily="50" charset="-128"/>
                <a:ea typeface="メイリオ" panose="020B0604030504040204" pitchFamily="50" charset="-128"/>
              </a:rPr>
              <a:t>既知のデータ</a:t>
            </a:r>
            <a:r>
              <a:rPr kumimoji="1" lang="en-US" altLang="ja-JP" sz="2000" dirty="0">
                <a:latin typeface="メイリオ" panose="020B0604030504040204" pitchFamily="50" charset="-128"/>
                <a:ea typeface="メイリオ" panose="020B0604030504040204" pitchFamily="50" charset="-128"/>
              </a:rPr>
              <a:t>(</a:t>
            </a:r>
            <a:r>
              <a:rPr kumimoji="1" lang="ja-JP" altLang="en-US" sz="2000" dirty="0">
                <a:latin typeface="メイリオ" panose="020B0604030504040204" pitchFamily="50" charset="-128"/>
                <a:ea typeface="メイリオ" panose="020B0604030504040204" pitchFamily="50" charset="-128"/>
              </a:rPr>
              <a:t>学習データ</a:t>
            </a:r>
            <a:r>
              <a:rPr kumimoji="1" lang="en-US" altLang="ja-JP" sz="2000" dirty="0">
                <a:latin typeface="メイリオ" panose="020B0604030504040204" pitchFamily="50" charset="-128"/>
                <a:ea typeface="メイリオ" panose="020B0604030504040204" pitchFamily="50" charset="-128"/>
              </a:rPr>
              <a:t>)</a:t>
            </a:r>
            <a:r>
              <a:rPr kumimoji="1" lang="ja-JP" altLang="en-US" sz="2000" dirty="0">
                <a:latin typeface="メイリオ" panose="020B0604030504040204" pitchFamily="50" charset="-128"/>
                <a:ea typeface="メイリオ" panose="020B0604030504040204" pitchFamily="50" charset="-128"/>
              </a:rPr>
              <a:t>を黄色</a:t>
            </a:r>
            <a:endParaRPr kumimoji="1" lang="en-US" altLang="ja-JP" sz="2000" dirty="0">
              <a:latin typeface="メイリオ" panose="020B0604030504040204" pitchFamily="50" charset="-128"/>
              <a:ea typeface="メイリオ" panose="020B0604030504040204" pitchFamily="50" charset="-128"/>
            </a:endParaRPr>
          </a:p>
          <a:p>
            <a:r>
              <a:rPr kumimoji="1" lang="ja-JP" altLang="en-US" sz="2000" dirty="0">
                <a:latin typeface="メイリオ" panose="020B0604030504040204" pitchFamily="50" charset="-128"/>
                <a:ea typeface="メイリオ" panose="020B0604030504040204" pitchFamily="50" charset="-128"/>
              </a:rPr>
              <a:t>　と紫の丸としてプロットしておく。</a:t>
            </a:r>
            <a:endParaRPr kumimoji="1" lang="en-US" altLang="ja-JP" sz="2000" dirty="0">
              <a:latin typeface="メイリオ" panose="020B0604030504040204" pitchFamily="50" charset="-128"/>
              <a:ea typeface="メイリオ" panose="020B0604030504040204" pitchFamily="50" charset="-128"/>
            </a:endParaRPr>
          </a:p>
          <a:p>
            <a:endParaRPr kumimoji="1" lang="ja-JP" altLang="en-US" sz="2000" dirty="0">
              <a:latin typeface="メイリオ" panose="020B0604030504040204" pitchFamily="50" charset="-128"/>
              <a:ea typeface="メイリオ" panose="020B0604030504040204" pitchFamily="50" charset="-128"/>
            </a:endParaRPr>
          </a:p>
          <a:p>
            <a:r>
              <a:rPr kumimoji="1" lang="en-US" altLang="ja-JP" sz="2000" dirty="0">
                <a:latin typeface="メイリオ" panose="020B0604030504040204" pitchFamily="50" charset="-128"/>
                <a:ea typeface="メイリオ" panose="020B0604030504040204" pitchFamily="50" charset="-128"/>
              </a:rPr>
              <a:t>2.K</a:t>
            </a:r>
            <a:r>
              <a:rPr kumimoji="1" lang="ja-JP" altLang="en-US" sz="2000" dirty="0">
                <a:latin typeface="メイリオ" panose="020B0604030504040204" pitchFamily="50" charset="-128"/>
                <a:ea typeface="メイリオ" panose="020B0604030504040204" pitchFamily="50" charset="-128"/>
              </a:rPr>
              <a:t>の数を決めておく。</a:t>
            </a:r>
            <a:r>
              <a:rPr kumimoji="1" lang="en-US" altLang="ja-JP" sz="2000" dirty="0">
                <a:latin typeface="メイリオ" panose="020B0604030504040204" pitchFamily="50" charset="-128"/>
                <a:ea typeface="メイリオ" panose="020B0604030504040204" pitchFamily="50" charset="-128"/>
              </a:rPr>
              <a:t>K=3</a:t>
            </a:r>
            <a:r>
              <a:rPr kumimoji="1" lang="ja-JP" altLang="en-US" sz="2000" dirty="0">
                <a:latin typeface="メイリオ" panose="020B0604030504040204" pitchFamily="50" charset="-128"/>
                <a:ea typeface="メイリオ" panose="020B0604030504040204" pitchFamily="50" charset="-128"/>
              </a:rPr>
              <a:t>とか。</a:t>
            </a:r>
          </a:p>
          <a:p>
            <a:endParaRPr kumimoji="1" lang="en-US" altLang="ja-JP" sz="2000" dirty="0">
              <a:latin typeface="メイリオ" panose="020B0604030504040204" pitchFamily="50" charset="-128"/>
              <a:ea typeface="メイリオ" panose="020B0604030504040204" pitchFamily="50" charset="-128"/>
            </a:endParaRPr>
          </a:p>
          <a:p>
            <a:r>
              <a:rPr kumimoji="1" lang="en-US" altLang="ja-JP" sz="2000" dirty="0">
                <a:latin typeface="メイリオ" panose="020B0604030504040204" pitchFamily="50" charset="-128"/>
                <a:ea typeface="メイリオ" panose="020B0604030504040204" pitchFamily="50" charset="-128"/>
              </a:rPr>
              <a:t>3.</a:t>
            </a:r>
            <a:r>
              <a:rPr kumimoji="1" lang="ja-JP" altLang="en-US" sz="2000" dirty="0">
                <a:latin typeface="メイリオ" panose="020B0604030504040204" pitchFamily="50" charset="-128"/>
                <a:ea typeface="メイリオ" panose="020B0604030504040204" pitchFamily="50" charset="-128"/>
              </a:rPr>
              <a:t>未知のデータとして赤い星が得られ</a:t>
            </a:r>
            <a:endParaRPr kumimoji="1" lang="en-US" altLang="ja-JP" sz="2000" dirty="0">
              <a:latin typeface="メイリオ" panose="020B0604030504040204" pitchFamily="50" charset="-128"/>
              <a:ea typeface="メイリオ" panose="020B0604030504040204" pitchFamily="50" charset="-128"/>
            </a:endParaRPr>
          </a:p>
          <a:p>
            <a:r>
              <a:rPr kumimoji="1" lang="en-US" altLang="ja-JP" sz="2000" dirty="0">
                <a:latin typeface="メイリオ" panose="020B0604030504040204" pitchFamily="50" charset="-128"/>
                <a:ea typeface="メイリオ" panose="020B0604030504040204" pitchFamily="50" charset="-128"/>
              </a:rPr>
              <a:t>   </a:t>
            </a:r>
            <a:r>
              <a:rPr kumimoji="1" lang="ja-JP" altLang="en-US" sz="2000" dirty="0">
                <a:latin typeface="メイリオ" panose="020B0604030504040204" pitchFamily="50" charset="-128"/>
                <a:ea typeface="メイリオ" panose="020B0604030504040204" pitchFamily="50" charset="-128"/>
              </a:rPr>
              <a:t>たら、近い点から３つ取得する。</a:t>
            </a:r>
          </a:p>
          <a:p>
            <a:endParaRPr kumimoji="1" lang="en-US" altLang="ja-JP" sz="2000" dirty="0">
              <a:latin typeface="メイリオ" panose="020B0604030504040204" pitchFamily="50" charset="-128"/>
              <a:ea typeface="メイリオ" panose="020B0604030504040204" pitchFamily="50" charset="-128"/>
            </a:endParaRPr>
          </a:p>
          <a:p>
            <a:r>
              <a:rPr kumimoji="1" lang="en-US" altLang="ja-JP" sz="2000" dirty="0">
                <a:latin typeface="メイリオ" panose="020B0604030504040204" pitchFamily="50" charset="-128"/>
                <a:ea typeface="メイリオ" panose="020B0604030504040204" pitchFamily="50" charset="-128"/>
              </a:rPr>
              <a:t>4.</a:t>
            </a:r>
            <a:r>
              <a:rPr kumimoji="1" lang="ja-JP" altLang="en-US" sz="2000" dirty="0">
                <a:latin typeface="メイリオ" panose="020B0604030504040204" pitchFamily="50" charset="-128"/>
                <a:ea typeface="メイリオ" panose="020B0604030504040204" pitchFamily="50" charset="-128"/>
              </a:rPr>
              <a:t>その３つのクラスの多数決で、属</a:t>
            </a:r>
            <a:endParaRPr kumimoji="1" lang="en-US" altLang="ja-JP" sz="2000" dirty="0">
              <a:latin typeface="メイリオ" panose="020B0604030504040204" pitchFamily="50" charset="-128"/>
              <a:ea typeface="メイリオ" panose="020B0604030504040204" pitchFamily="50" charset="-128"/>
            </a:endParaRPr>
          </a:p>
          <a:p>
            <a:r>
              <a:rPr kumimoji="1" lang="en-US" altLang="ja-JP" sz="2000" dirty="0">
                <a:latin typeface="メイリオ" panose="020B0604030504040204" pitchFamily="50" charset="-128"/>
                <a:ea typeface="メイリオ" panose="020B0604030504040204" pitchFamily="50" charset="-128"/>
              </a:rPr>
              <a:t>   </a:t>
            </a:r>
            <a:r>
              <a:rPr kumimoji="1" lang="ja-JP" altLang="en-US" sz="2000" dirty="0">
                <a:latin typeface="メイリオ" panose="020B0604030504040204" pitchFamily="50" charset="-128"/>
                <a:ea typeface="メイリオ" panose="020B0604030504040204" pitchFamily="50" charset="-128"/>
              </a:rPr>
              <a:t>するクラスを推定。</a:t>
            </a:r>
          </a:p>
        </p:txBody>
      </p:sp>
      <p:sp>
        <p:nvSpPr>
          <p:cNvPr id="5" name="テキスト ボックス 4">
            <a:extLst>
              <a:ext uri="{FF2B5EF4-FFF2-40B4-BE49-F238E27FC236}">
                <a16:creationId xmlns:a16="http://schemas.microsoft.com/office/drawing/2014/main" id="{6A37156F-29F7-48B9-B399-B65D84A5909B}"/>
              </a:ext>
            </a:extLst>
          </p:cNvPr>
          <p:cNvSpPr txBox="1"/>
          <p:nvPr/>
        </p:nvSpPr>
        <p:spPr>
          <a:xfrm>
            <a:off x="5997986" y="2389516"/>
            <a:ext cx="4727165" cy="707886"/>
          </a:xfrm>
          <a:prstGeom prst="rect">
            <a:avLst/>
          </a:prstGeom>
          <a:noFill/>
        </p:spPr>
        <p:txBody>
          <a:bodyPr wrap="square" rtlCol="0">
            <a:spAutoFit/>
          </a:bodyPr>
          <a:lstStyle/>
          <a:p>
            <a:r>
              <a:rPr kumimoji="1" lang="en-US" altLang="ja-JP" sz="2000" dirty="0">
                <a:latin typeface="メイリオ" panose="020B0604030504040204" pitchFamily="50" charset="-128"/>
                <a:ea typeface="メイリオ" panose="020B0604030504040204" pitchFamily="50" charset="-128"/>
              </a:rPr>
              <a:t>K=3:</a:t>
            </a:r>
            <a:r>
              <a:rPr kumimoji="1" lang="ja-JP" altLang="en-US" sz="2000" dirty="0">
                <a:latin typeface="メイリオ" panose="020B0604030504040204" pitchFamily="50" charset="-128"/>
                <a:ea typeface="メイリオ" panose="020B0604030504040204" pitchFamily="50" charset="-128"/>
              </a:rPr>
              <a:t>☆は</a:t>
            </a:r>
            <a:r>
              <a:rPr kumimoji="1" lang="en-US" altLang="ja-JP" sz="2000" dirty="0">
                <a:latin typeface="メイリオ" panose="020B0604030504040204" pitchFamily="50" charset="-128"/>
                <a:ea typeface="メイリオ" panose="020B0604030504040204" pitchFamily="50" charset="-128"/>
              </a:rPr>
              <a:t>Class B(versicolor)</a:t>
            </a:r>
            <a:r>
              <a:rPr kumimoji="1" lang="ja-JP" altLang="en-US" sz="2000" dirty="0">
                <a:latin typeface="メイリオ" panose="020B0604030504040204" pitchFamily="50" charset="-128"/>
                <a:ea typeface="メイリオ" panose="020B0604030504040204" pitchFamily="50" charset="-128"/>
              </a:rPr>
              <a:t>に属する</a:t>
            </a:r>
            <a:endParaRPr kumimoji="1" lang="en-US" altLang="ja-JP" sz="2000" dirty="0">
              <a:latin typeface="メイリオ" panose="020B0604030504040204" pitchFamily="50" charset="-128"/>
              <a:ea typeface="メイリオ" panose="020B0604030504040204" pitchFamily="50" charset="-128"/>
            </a:endParaRPr>
          </a:p>
          <a:p>
            <a:r>
              <a:rPr kumimoji="1" lang="en-US" altLang="ja-JP" sz="2000" dirty="0">
                <a:latin typeface="メイリオ" panose="020B0604030504040204" pitchFamily="50" charset="-128"/>
                <a:ea typeface="メイリオ" panose="020B0604030504040204" pitchFamily="50" charset="-128"/>
              </a:rPr>
              <a:t>K=6:</a:t>
            </a:r>
            <a:r>
              <a:rPr kumimoji="1" lang="ja-JP" altLang="en-US" sz="2000" dirty="0">
                <a:latin typeface="メイリオ" panose="020B0604030504040204" pitchFamily="50" charset="-128"/>
                <a:ea typeface="メイリオ" panose="020B0604030504040204" pitchFamily="50" charset="-128"/>
              </a:rPr>
              <a:t>☆は</a:t>
            </a:r>
            <a:r>
              <a:rPr kumimoji="1" lang="en-US" altLang="ja-JP" sz="2000" dirty="0">
                <a:latin typeface="メイリオ" panose="020B0604030504040204" pitchFamily="50" charset="-128"/>
                <a:ea typeface="メイリオ" panose="020B0604030504040204" pitchFamily="50" charset="-128"/>
              </a:rPr>
              <a:t>Class A(</a:t>
            </a:r>
            <a:r>
              <a:rPr kumimoji="1" lang="en-US" altLang="ja-JP" sz="2000" dirty="0" err="1">
                <a:latin typeface="メイリオ" panose="020B0604030504040204" pitchFamily="50" charset="-128"/>
                <a:ea typeface="メイリオ" panose="020B0604030504040204" pitchFamily="50" charset="-128"/>
              </a:rPr>
              <a:t>setosa</a:t>
            </a:r>
            <a:r>
              <a:rPr kumimoji="1" lang="en-US" altLang="ja-JP" sz="2000" dirty="0">
                <a:latin typeface="メイリオ" panose="020B0604030504040204" pitchFamily="50" charset="-128"/>
                <a:ea typeface="メイリオ" panose="020B0604030504040204" pitchFamily="50" charset="-128"/>
              </a:rPr>
              <a:t>)</a:t>
            </a:r>
            <a:r>
              <a:rPr kumimoji="1" lang="ja-JP" altLang="en-US" sz="2000" dirty="0">
                <a:latin typeface="メイリオ" panose="020B0604030504040204" pitchFamily="50" charset="-128"/>
                <a:ea typeface="メイリオ" panose="020B0604030504040204" pitchFamily="50" charset="-128"/>
              </a:rPr>
              <a:t>に属する</a:t>
            </a:r>
          </a:p>
        </p:txBody>
      </p:sp>
      <p:sp>
        <p:nvSpPr>
          <p:cNvPr id="6" name="テキスト ボックス 5">
            <a:extLst>
              <a:ext uri="{FF2B5EF4-FFF2-40B4-BE49-F238E27FC236}">
                <a16:creationId xmlns:a16="http://schemas.microsoft.com/office/drawing/2014/main" id="{120A3FA0-780C-4DEF-8A0E-F8B3E139860B}"/>
              </a:ext>
            </a:extLst>
          </p:cNvPr>
          <p:cNvSpPr txBox="1"/>
          <p:nvPr/>
        </p:nvSpPr>
        <p:spPr>
          <a:xfrm>
            <a:off x="1805082" y="2423031"/>
            <a:ext cx="4081567" cy="461665"/>
          </a:xfrm>
          <a:prstGeom prst="rect">
            <a:avLst/>
          </a:prstGeom>
          <a:noFill/>
        </p:spPr>
        <p:txBody>
          <a:bodyPr wrap="none" rtlCol="0">
            <a:spAutoFit/>
          </a:bodyPr>
          <a:lstStyle/>
          <a:p>
            <a:pPr algn="l"/>
            <a:r>
              <a:rPr kumimoji="1" lang="en-US" altLang="ja-JP" sz="2400" u="sng" dirty="0">
                <a:latin typeface="メイリオ" panose="020B0604030504040204" pitchFamily="50" charset="-128"/>
                <a:ea typeface="メイリオ" panose="020B0604030504040204" pitchFamily="50" charset="-128"/>
              </a:rPr>
              <a:t>K</a:t>
            </a:r>
            <a:r>
              <a:rPr kumimoji="1" lang="ja-JP" altLang="en-US" sz="2400" u="sng" dirty="0">
                <a:latin typeface="メイリオ" panose="020B0604030504040204" pitchFamily="50" charset="-128"/>
                <a:ea typeface="メイリオ" panose="020B0604030504040204" pitchFamily="50" charset="-128"/>
              </a:rPr>
              <a:t>が変わると分類が変わる！</a:t>
            </a:r>
            <a:endParaRPr kumimoji="1" lang="en-US" altLang="ja-JP" sz="2400" u="sng"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D668EC5-8973-491D-956E-6E881A5032C4}"/>
              </a:ext>
            </a:extLst>
          </p:cNvPr>
          <p:cNvSpPr txBox="1"/>
          <p:nvPr/>
        </p:nvSpPr>
        <p:spPr>
          <a:xfrm>
            <a:off x="6851375" y="5356609"/>
            <a:ext cx="492443" cy="461665"/>
          </a:xfrm>
          <a:prstGeom prst="rect">
            <a:avLst/>
          </a:prstGeom>
          <a:noFill/>
        </p:spPr>
        <p:txBody>
          <a:bodyPr wrap="none" rtlCol="0">
            <a:spAutoFit/>
          </a:bodyPr>
          <a:lstStyle/>
          <a:p>
            <a:pPr algn="l"/>
            <a:r>
              <a:rPr kumimoji="1" lang="ja-JP" altLang="en-US" sz="2400" dirty="0">
                <a:solidFill>
                  <a:schemeClr val="accent4">
                    <a:lumMod val="60000"/>
                    <a:lumOff val="40000"/>
                  </a:schemeClr>
                </a:solidFill>
                <a:latin typeface="メイリオ" panose="020B0604030504040204" pitchFamily="50" charset="-128"/>
                <a:ea typeface="メイリオ" panose="020B0604030504040204" pitchFamily="50" charset="-128"/>
              </a:rPr>
              <a:t>●</a:t>
            </a:r>
          </a:p>
        </p:txBody>
      </p:sp>
      <p:sp>
        <p:nvSpPr>
          <p:cNvPr id="9" name="テキスト ボックス 8">
            <a:extLst>
              <a:ext uri="{FF2B5EF4-FFF2-40B4-BE49-F238E27FC236}">
                <a16:creationId xmlns:a16="http://schemas.microsoft.com/office/drawing/2014/main" id="{F3DB3951-18BE-4826-A5DD-DEE724020AF2}"/>
              </a:ext>
            </a:extLst>
          </p:cNvPr>
          <p:cNvSpPr txBox="1"/>
          <p:nvPr/>
        </p:nvSpPr>
        <p:spPr>
          <a:xfrm>
            <a:off x="7421219" y="3198168"/>
            <a:ext cx="492443" cy="461665"/>
          </a:xfrm>
          <a:prstGeom prst="rect">
            <a:avLst/>
          </a:prstGeom>
          <a:noFill/>
        </p:spPr>
        <p:txBody>
          <a:bodyPr wrap="none" rtlCol="0">
            <a:spAutoFit/>
          </a:bodyPr>
          <a:lstStyle/>
          <a:p>
            <a:pPr algn="l"/>
            <a:r>
              <a:rPr kumimoji="1" lang="ja-JP" altLang="en-US" sz="2400" dirty="0">
                <a:solidFill>
                  <a:schemeClr val="accent4">
                    <a:lumMod val="60000"/>
                    <a:lumOff val="40000"/>
                  </a:schemeClr>
                </a:solidFill>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1033795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179E7871-07FB-4503-895C-EDC6B26DA6C1}"/>
              </a:ext>
            </a:extLst>
          </p:cNvPr>
          <p:cNvSpPr txBox="1"/>
          <p:nvPr/>
        </p:nvSpPr>
        <p:spPr>
          <a:xfrm>
            <a:off x="429207" y="138998"/>
            <a:ext cx="10692883" cy="584775"/>
          </a:xfrm>
          <a:prstGeom prst="rect">
            <a:avLst/>
          </a:prstGeom>
          <a:noFill/>
        </p:spPr>
        <p:txBody>
          <a:bodyPr wrap="square" rtlCol="0">
            <a:spAutoFit/>
          </a:bodyPr>
          <a:lstStyle/>
          <a:p>
            <a:pPr algn="l"/>
            <a:r>
              <a:rPr kumimoji="1" lang="en-US" altLang="ja-JP" sz="3200" b="1" dirty="0">
                <a:latin typeface="メイリオ" panose="020B0604030504040204" pitchFamily="50" charset="-128"/>
                <a:ea typeface="メイリオ" panose="020B0604030504040204" pitchFamily="50" charset="-128"/>
              </a:rPr>
              <a:t>Iris</a:t>
            </a:r>
            <a:r>
              <a:rPr kumimoji="1" lang="ja-JP" altLang="en-US" sz="3200" b="1" dirty="0">
                <a:latin typeface="メイリオ" panose="020B0604030504040204" pitchFamily="50" charset="-128"/>
                <a:ea typeface="メイリオ" panose="020B0604030504040204" pitchFamily="50" charset="-128"/>
              </a:rPr>
              <a:t>データセットを</a:t>
            </a:r>
            <a:r>
              <a:rPr kumimoji="1" lang="en-US" altLang="ja-JP" sz="3200" b="1" dirty="0">
                <a:latin typeface="メイリオ" panose="020B0604030504040204" pitchFamily="50" charset="-128"/>
                <a:ea typeface="メイリオ" panose="020B0604030504040204" pitchFamily="50" charset="-128"/>
              </a:rPr>
              <a:t>k</a:t>
            </a:r>
            <a:r>
              <a:rPr kumimoji="1" lang="ja-JP" altLang="en-US" sz="3200" b="1" dirty="0">
                <a:latin typeface="メイリオ" panose="020B0604030504040204" pitchFamily="50" charset="-128"/>
                <a:ea typeface="メイリオ" panose="020B0604030504040204" pitchFamily="50" charset="-128"/>
              </a:rPr>
              <a:t>最近傍法で学習・予測する</a:t>
            </a:r>
          </a:p>
        </p:txBody>
      </p:sp>
      <p:sp>
        <p:nvSpPr>
          <p:cNvPr id="4" name="テキスト ボックス 3">
            <a:extLst>
              <a:ext uri="{FF2B5EF4-FFF2-40B4-BE49-F238E27FC236}">
                <a16:creationId xmlns:a16="http://schemas.microsoft.com/office/drawing/2014/main" id="{E9D3345F-1874-493A-9A1E-068FCB9D9D84}"/>
              </a:ext>
            </a:extLst>
          </p:cNvPr>
          <p:cNvSpPr txBox="1"/>
          <p:nvPr/>
        </p:nvSpPr>
        <p:spPr>
          <a:xfrm>
            <a:off x="429208" y="723773"/>
            <a:ext cx="11333586" cy="1938992"/>
          </a:xfrm>
          <a:prstGeom prst="rect">
            <a:avLst/>
          </a:prstGeom>
          <a:noFill/>
        </p:spPr>
        <p:txBody>
          <a:bodyPr wrap="square" rtlCol="0">
            <a:spAutoFit/>
          </a:bodyPr>
          <a:lstStyle/>
          <a:p>
            <a:pPr marL="457200" indent="-457200">
              <a:buFont typeface="+mj-lt"/>
              <a:buAutoNum type="arabicPeriod"/>
            </a:pPr>
            <a:r>
              <a:rPr kumimoji="1" lang="en-US" altLang="ja-JP" sz="2400" dirty="0">
                <a:latin typeface="メイリオ" panose="020B0604030504040204" pitchFamily="50" charset="-128"/>
                <a:ea typeface="メイリオ" panose="020B0604030504040204" pitchFamily="50" charset="-128"/>
              </a:rPr>
              <a:t>Iris</a:t>
            </a:r>
            <a:r>
              <a:rPr kumimoji="1" lang="ja-JP" altLang="en-US" sz="2400" dirty="0">
                <a:latin typeface="メイリオ" panose="020B0604030504040204" pitchFamily="50" charset="-128"/>
                <a:ea typeface="メイリオ" panose="020B0604030504040204" pitchFamily="50" charset="-128"/>
              </a:rPr>
              <a:t>の２つの特徴量</a:t>
            </a:r>
            <a:r>
              <a:rPr kumimoji="1" lang="en-US" altLang="ja-JP" sz="2400" dirty="0">
                <a:latin typeface="メイリオ" panose="020B0604030504040204" pitchFamily="50" charset="-128"/>
                <a:ea typeface="メイリオ" panose="020B0604030504040204" pitchFamily="50" charset="-128"/>
              </a:rPr>
              <a:t>(petal length, petal width)</a:t>
            </a:r>
            <a:r>
              <a:rPr kumimoji="1" lang="ja-JP" altLang="en-US" sz="2400" dirty="0">
                <a:latin typeface="メイリオ" panose="020B0604030504040204" pitchFamily="50" charset="-128"/>
                <a:ea typeface="メイリオ" panose="020B0604030504040204" pitchFamily="50" charset="-128"/>
              </a:rPr>
              <a:t>を選んで</a:t>
            </a:r>
            <a:r>
              <a:rPr kumimoji="1" lang="en-US" altLang="ja-JP" sz="2400" dirty="0">
                <a:latin typeface="メイリオ" panose="020B0604030504040204" pitchFamily="50" charset="-128"/>
                <a:ea typeface="メイリオ" panose="020B0604030504040204" pitchFamily="50" charset="-128"/>
              </a:rPr>
              <a:t>2</a:t>
            </a:r>
            <a:r>
              <a:rPr kumimoji="1" lang="ja-JP" altLang="en-US" sz="2400" dirty="0">
                <a:latin typeface="メイリオ" panose="020B0604030504040204" pitchFamily="50" charset="-128"/>
                <a:ea typeface="メイリオ" panose="020B0604030504040204" pitchFamily="50" charset="-128"/>
              </a:rPr>
              <a:t>次元平面上にプロットしたもの</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教師ラベルでプロットを色分けしたもの）</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実際には</a:t>
            </a:r>
            <a:r>
              <a:rPr kumimoji="1" lang="ja-JP" altLang="en-US" sz="2400" dirty="0">
                <a:solidFill>
                  <a:srgbClr val="FF0000"/>
                </a:solidFill>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の近傍を</a:t>
            </a:r>
            <a:r>
              <a:rPr kumimoji="1" lang="en-US" altLang="ja-JP" sz="2400" dirty="0">
                <a:latin typeface="メイリオ" panose="020B0604030504040204" pitchFamily="50" charset="-128"/>
                <a:ea typeface="メイリオ" panose="020B0604030504040204" pitchFamily="50" charset="-128"/>
              </a:rPr>
              <a:t>4</a:t>
            </a:r>
            <a:r>
              <a:rPr kumimoji="1" lang="ja-JP" altLang="en-US" sz="2400" dirty="0">
                <a:latin typeface="メイリオ" panose="020B0604030504040204" pitchFamily="50" charset="-128"/>
                <a:ea typeface="メイリオ" panose="020B0604030504040204" pitchFamily="50" charset="-128"/>
              </a:rPr>
              <a:t>次元空間内で計算</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en-US" altLang="ja-JP" sz="2400" dirty="0" err="1">
                <a:latin typeface="メイリオ" panose="020B0604030504040204" pitchFamily="50" charset="-128"/>
                <a:ea typeface="メイリオ" panose="020B0604030504040204" pitchFamily="50" charset="-128"/>
              </a:rPr>
              <a:t>n_neighbors</a:t>
            </a:r>
            <a:r>
              <a:rPr kumimoji="1" lang="en-US" altLang="ja-JP" sz="2400" dirty="0">
                <a:latin typeface="メイリオ" panose="020B0604030504040204" pitchFamily="50" charset="-128"/>
                <a:ea typeface="メイリオ" panose="020B0604030504040204" pitchFamily="50" charset="-128"/>
              </a:rPr>
              <a:t>=1 </a:t>
            </a:r>
            <a:r>
              <a:rPr kumimoji="1" lang="ja-JP" altLang="en-US" sz="2400" dirty="0">
                <a:latin typeface="メイリオ" panose="020B0604030504040204" pitchFamily="50" charset="-128"/>
                <a:ea typeface="メイリオ" panose="020B0604030504040204" pitchFamily="50" charset="-128"/>
              </a:rPr>
              <a:t>と</a:t>
            </a:r>
            <a:r>
              <a:rPr kumimoji="1" lang="en-US" altLang="ja-JP" sz="2400" dirty="0">
                <a:latin typeface="メイリオ" panose="020B0604030504040204" pitchFamily="50" charset="-128"/>
                <a:ea typeface="メイリオ" panose="020B0604030504040204" pitchFamily="50" charset="-128"/>
              </a:rPr>
              <a:t>3</a:t>
            </a:r>
            <a:r>
              <a:rPr kumimoji="1" lang="ja-JP" altLang="en-US" sz="2400" dirty="0">
                <a:latin typeface="メイリオ" panose="020B0604030504040204" pitchFamily="50" charset="-128"/>
                <a:ea typeface="メイリオ" panose="020B0604030504040204" pitchFamily="50" charset="-128"/>
              </a:rPr>
              <a:t>とで判別結果がどう変わるかを確認してみてください。</a:t>
            </a:r>
          </a:p>
          <a:p>
            <a:pPr marL="457200" indent="-457200">
              <a:buFont typeface="+mj-lt"/>
              <a:buAutoNum type="arabicPeriod"/>
            </a:pPr>
            <a:endParaRPr kumimoji="1" lang="ja-JP" altLang="en-US" sz="2400"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5ECAAA72-CCF7-462E-AF9A-07ECB7FA914F}"/>
              </a:ext>
            </a:extLst>
          </p:cNvPr>
          <p:cNvSpPr txBox="1"/>
          <p:nvPr/>
        </p:nvSpPr>
        <p:spPr>
          <a:xfrm>
            <a:off x="10006011" y="626685"/>
            <a:ext cx="184731" cy="461665"/>
          </a:xfrm>
          <a:prstGeom prst="rect">
            <a:avLst/>
          </a:prstGeom>
          <a:noFill/>
        </p:spPr>
        <p:txBody>
          <a:bodyPr wrap="none" rtlCol="0">
            <a:spAutoFit/>
          </a:bodyPr>
          <a:lstStyle/>
          <a:p>
            <a:pPr algn="l"/>
            <a:endParaRPr kumimoji="1" lang="ja-JP" altLang="en-US" sz="2400" dirty="0">
              <a:latin typeface="メイリオ" panose="020B0604030504040204" pitchFamily="50" charset="-128"/>
              <a:ea typeface="メイリオ" panose="020B0604030504040204" pitchFamily="50" charset="-128"/>
            </a:endParaRPr>
          </a:p>
        </p:txBody>
      </p:sp>
      <p:pic>
        <p:nvPicPr>
          <p:cNvPr id="14" name="図 13">
            <a:extLst>
              <a:ext uri="{FF2B5EF4-FFF2-40B4-BE49-F238E27FC236}">
                <a16:creationId xmlns:a16="http://schemas.microsoft.com/office/drawing/2014/main" id="{DC39A928-3AB7-071F-C246-1C21E28A04C3}"/>
              </a:ext>
            </a:extLst>
          </p:cNvPr>
          <p:cNvPicPr>
            <a:picLocks noChangeAspect="1"/>
          </p:cNvPicPr>
          <p:nvPr/>
        </p:nvPicPr>
        <p:blipFill>
          <a:blip r:embed="rId2"/>
          <a:stretch>
            <a:fillRect/>
          </a:stretch>
        </p:blipFill>
        <p:spPr>
          <a:xfrm>
            <a:off x="2332653" y="2319769"/>
            <a:ext cx="6717846" cy="4538231"/>
          </a:xfrm>
          <a:prstGeom prst="rect">
            <a:avLst/>
          </a:prstGeom>
        </p:spPr>
      </p:pic>
      <p:pic>
        <p:nvPicPr>
          <p:cNvPr id="15" name="Picture 2" descr="Jupyter Notebookの後継？Jupyter Labをつかってみた - いっきのblog">
            <a:extLst>
              <a:ext uri="{FF2B5EF4-FFF2-40B4-BE49-F238E27FC236}">
                <a16:creationId xmlns:a16="http://schemas.microsoft.com/office/drawing/2014/main" id="{5F65F2B9-9F49-9F1D-3F87-D4ED0C692C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64660" y="2662765"/>
            <a:ext cx="1191086" cy="1301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379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43640BE-330B-45CB-B729-639A43439E65}"/>
              </a:ext>
            </a:extLst>
          </p:cNvPr>
          <p:cNvSpPr txBox="1"/>
          <p:nvPr/>
        </p:nvSpPr>
        <p:spPr>
          <a:xfrm>
            <a:off x="423225" y="701059"/>
            <a:ext cx="10225876" cy="954107"/>
          </a:xfrm>
          <a:prstGeom prst="rect">
            <a:avLst/>
          </a:prstGeom>
          <a:noFill/>
        </p:spPr>
        <p:txBody>
          <a:bodyPr wrap="none" rtlCol="0">
            <a:spAutoFit/>
          </a:bodyPr>
          <a:lstStyle/>
          <a:p>
            <a:pPr marL="342900" indent="-342900">
              <a:buFont typeface="Wingdings" panose="05000000000000000000" pitchFamily="2" charset="2"/>
              <a:buChar char="l"/>
            </a:pPr>
            <a:r>
              <a:rPr kumimoji="1" lang="ja-JP" altLang="en-US" sz="2800" dirty="0">
                <a:latin typeface="メイリオ" panose="020B0604030504040204" pitchFamily="50" charset="-128"/>
                <a:ea typeface="メイリオ" panose="020B0604030504040204" pitchFamily="50" charset="-128"/>
              </a:rPr>
              <a:t>機械学習にはハイパーパラメータが必ずある</a:t>
            </a:r>
            <a:endParaRPr kumimoji="1" lang="en-US" altLang="ja-JP" sz="28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l"/>
            </a:pPr>
            <a:r>
              <a:rPr kumimoji="1" lang="ja-JP" altLang="en-US" sz="2800" dirty="0">
                <a:latin typeface="メイリオ" panose="020B0604030504040204" pitchFamily="50" charset="-128"/>
                <a:ea typeface="メイリオ" panose="020B0604030504040204" pitchFamily="50" charset="-128"/>
              </a:rPr>
              <a:t>ハイパーパラメータをいじると分類結果が変わることがある</a:t>
            </a:r>
          </a:p>
        </p:txBody>
      </p:sp>
      <p:sp>
        <p:nvSpPr>
          <p:cNvPr id="3" name="テキスト ボックス 2">
            <a:extLst>
              <a:ext uri="{FF2B5EF4-FFF2-40B4-BE49-F238E27FC236}">
                <a16:creationId xmlns:a16="http://schemas.microsoft.com/office/drawing/2014/main" id="{ED396D39-2727-483B-9611-D160FFECBD86}"/>
              </a:ext>
            </a:extLst>
          </p:cNvPr>
          <p:cNvSpPr txBox="1"/>
          <p:nvPr/>
        </p:nvSpPr>
        <p:spPr>
          <a:xfrm>
            <a:off x="648302" y="1662145"/>
            <a:ext cx="7133684" cy="830997"/>
          </a:xfrm>
          <a:prstGeom prst="rect">
            <a:avLst/>
          </a:prstGeom>
          <a:noFill/>
        </p:spPr>
        <p:txBody>
          <a:bodyPr wrap="none" rtlCol="0">
            <a:spAutoFit/>
          </a:bodyPr>
          <a:lstStyle/>
          <a:p>
            <a:pPr algn="l"/>
            <a:r>
              <a:rPr kumimoji="1" lang="en-US" altLang="ja-JP" sz="2400" b="1" dirty="0">
                <a:latin typeface="メイリオ" panose="020B0604030504040204" pitchFamily="50" charset="-128"/>
                <a:ea typeface="メイリオ" panose="020B0604030504040204" pitchFamily="50" charset="-128"/>
              </a:rPr>
              <a:t>K</a:t>
            </a:r>
            <a:r>
              <a:rPr kumimoji="1" lang="ja-JP" altLang="en-US" sz="2400" b="1" dirty="0">
                <a:latin typeface="メイリオ" panose="020B0604030504040204" pitchFamily="50" charset="-128"/>
                <a:ea typeface="メイリオ" panose="020B0604030504040204" pitchFamily="50" charset="-128"/>
              </a:rPr>
              <a:t>の取りうる値は、</a:t>
            </a:r>
            <a:r>
              <a:rPr kumimoji="1" lang="en-US" altLang="ja-JP" sz="2400" b="1" dirty="0">
                <a:latin typeface="メイリオ" panose="020B0604030504040204" pitchFamily="50" charset="-128"/>
                <a:ea typeface="メイリオ" panose="020B0604030504040204" pitchFamily="50" charset="-128"/>
              </a:rPr>
              <a:t>1~</a:t>
            </a:r>
            <a:r>
              <a:rPr kumimoji="1" lang="ja-JP" altLang="en-US" sz="2400" b="1" dirty="0">
                <a:latin typeface="メイリオ" panose="020B0604030504040204" pitchFamily="50" charset="-128"/>
                <a:ea typeface="メイリオ" panose="020B0604030504040204" pitchFamily="50" charset="-128"/>
              </a:rPr>
              <a:t>訓練データ総数</a:t>
            </a:r>
            <a:endParaRPr kumimoji="1" lang="en-US" altLang="ja-JP" sz="2400" b="1" dirty="0">
              <a:latin typeface="メイリオ" panose="020B0604030504040204" pitchFamily="50" charset="-128"/>
              <a:ea typeface="メイリオ" panose="020B0604030504040204" pitchFamily="50" charset="-128"/>
            </a:endParaRPr>
          </a:p>
          <a:p>
            <a:pPr algn="l"/>
            <a:r>
              <a:rPr kumimoji="1" lang="ja-JP" altLang="en-US" sz="2400" b="1" dirty="0">
                <a:latin typeface="メイリオ" panose="020B0604030504040204" pitchFamily="50" charset="-128"/>
                <a:ea typeface="メイリオ" panose="020B0604030504040204" pitchFamily="50" charset="-128"/>
              </a:rPr>
              <a:t>もし　</a:t>
            </a:r>
            <a:r>
              <a:rPr kumimoji="1" lang="en-US" altLang="ja-JP" sz="2400" b="1" dirty="0">
                <a:latin typeface="メイリオ" panose="020B0604030504040204" pitchFamily="50" charset="-128"/>
                <a:ea typeface="メイリオ" panose="020B0604030504040204" pitchFamily="50" charset="-128"/>
              </a:rPr>
              <a:t>K=</a:t>
            </a:r>
            <a:r>
              <a:rPr kumimoji="1" lang="ja-JP" altLang="en-US" sz="2400" b="1" dirty="0">
                <a:latin typeface="メイリオ" panose="020B0604030504040204" pitchFamily="50" charset="-128"/>
                <a:ea typeface="メイリオ" panose="020B0604030504040204" pitchFamily="50" charset="-128"/>
              </a:rPr>
              <a:t>訓練データの総数　だとどうなるか？　</a:t>
            </a:r>
          </a:p>
        </p:txBody>
      </p:sp>
      <p:pic>
        <p:nvPicPr>
          <p:cNvPr id="4" name="Picture 2" descr="スクリーンショット 2016-05-04 3.33.02.png">
            <a:extLst>
              <a:ext uri="{FF2B5EF4-FFF2-40B4-BE49-F238E27FC236}">
                <a16:creationId xmlns:a16="http://schemas.microsoft.com/office/drawing/2014/main" id="{ECA6EF13-874C-9976-DCDF-C6339FA97D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1773" y="3184152"/>
            <a:ext cx="4497070" cy="3310657"/>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A4B35D80-1CC8-7B17-7D12-181448E6039A}"/>
              </a:ext>
            </a:extLst>
          </p:cNvPr>
          <p:cNvSpPr txBox="1"/>
          <p:nvPr/>
        </p:nvSpPr>
        <p:spPr>
          <a:xfrm>
            <a:off x="3705068" y="5397169"/>
            <a:ext cx="492443" cy="461665"/>
          </a:xfrm>
          <a:prstGeom prst="rect">
            <a:avLst/>
          </a:prstGeom>
          <a:noFill/>
        </p:spPr>
        <p:txBody>
          <a:bodyPr wrap="none" rtlCol="0">
            <a:spAutoFit/>
          </a:bodyPr>
          <a:lstStyle/>
          <a:p>
            <a:pPr algn="l"/>
            <a:r>
              <a:rPr kumimoji="1" lang="ja-JP" altLang="en-US" sz="2400" dirty="0">
                <a:solidFill>
                  <a:schemeClr val="accent4">
                    <a:lumMod val="60000"/>
                    <a:lumOff val="40000"/>
                  </a:schemeClr>
                </a:solidFill>
                <a:latin typeface="メイリオ" panose="020B0604030504040204" pitchFamily="50" charset="-128"/>
                <a:ea typeface="メイリオ" panose="020B0604030504040204" pitchFamily="50" charset="-128"/>
              </a:rPr>
              <a:t>●</a:t>
            </a:r>
          </a:p>
        </p:txBody>
      </p:sp>
      <p:sp>
        <p:nvSpPr>
          <p:cNvPr id="6" name="テキスト ボックス 5">
            <a:extLst>
              <a:ext uri="{FF2B5EF4-FFF2-40B4-BE49-F238E27FC236}">
                <a16:creationId xmlns:a16="http://schemas.microsoft.com/office/drawing/2014/main" id="{E8043B5C-CE09-9F3C-4731-25A162CE60EA}"/>
              </a:ext>
            </a:extLst>
          </p:cNvPr>
          <p:cNvSpPr txBox="1"/>
          <p:nvPr/>
        </p:nvSpPr>
        <p:spPr>
          <a:xfrm>
            <a:off x="4274912" y="3238728"/>
            <a:ext cx="492443" cy="461665"/>
          </a:xfrm>
          <a:prstGeom prst="rect">
            <a:avLst/>
          </a:prstGeom>
          <a:noFill/>
        </p:spPr>
        <p:txBody>
          <a:bodyPr wrap="none" rtlCol="0">
            <a:spAutoFit/>
          </a:bodyPr>
          <a:lstStyle/>
          <a:p>
            <a:pPr algn="l"/>
            <a:r>
              <a:rPr kumimoji="1" lang="ja-JP" altLang="en-US" sz="2400" dirty="0">
                <a:solidFill>
                  <a:schemeClr val="accent4">
                    <a:lumMod val="60000"/>
                    <a:lumOff val="40000"/>
                  </a:schemeClr>
                </a:solidFill>
                <a:latin typeface="メイリオ" panose="020B0604030504040204" pitchFamily="50" charset="-128"/>
                <a:ea typeface="メイリオ" panose="020B0604030504040204" pitchFamily="50" charset="-128"/>
              </a:rPr>
              <a:t>●</a:t>
            </a:r>
          </a:p>
        </p:txBody>
      </p:sp>
      <p:sp>
        <p:nvSpPr>
          <p:cNvPr id="7" name="テキスト ボックス 6">
            <a:extLst>
              <a:ext uri="{FF2B5EF4-FFF2-40B4-BE49-F238E27FC236}">
                <a16:creationId xmlns:a16="http://schemas.microsoft.com/office/drawing/2014/main" id="{DA7CC0F7-BF69-6193-D074-F5FE31C49068}"/>
              </a:ext>
            </a:extLst>
          </p:cNvPr>
          <p:cNvSpPr txBox="1"/>
          <p:nvPr/>
        </p:nvSpPr>
        <p:spPr>
          <a:xfrm>
            <a:off x="648302" y="2500121"/>
            <a:ext cx="8698215"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K</a:t>
            </a:r>
            <a:r>
              <a:rPr kumimoji="1" lang="ja-JP" altLang="en-US" sz="2400" dirty="0">
                <a:latin typeface="メイリオ" panose="020B0604030504040204" pitchFamily="50" charset="-128"/>
                <a:ea typeface="メイリオ" panose="020B0604030504040204" pitchFamily="50" charset="-128"/>
              </a:rPr>
              <a:t>の値には最適値があるのかもしれない（後ほど説明します）</a:t>
            </a:r>
          </a:p>
        </p:txBody>
      </p:sp>
    </p:spTree>
    <p:extLst>
      <p:ext uri="{BB962C8B-B14F-4D97-AF65-F5344CB8AC3E}">
        <p14:creationId xmlns:p14="http://schemas.microsoft.com/office/powerpoint/2010/main" val="1845806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4E5CC85-811A-45A0-ACC2-777023F628B2}"/>
              </a:ext>
            </a:extLst>
          </p:cNvPr>
          <p:cNvSpPr txBox="1"/>
          <p:nvPr/>
        </p:nvSpPr>
        <p:spPr>
          <a:xfrm>
            <a:off x="222670" y="329966"/>
            <a:ext cx="7160935"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ところで予測結果はあっているのか？</a:t>
            </a:r>
          </a:p>
        </p:txBody>
      </p:sp>
      <p:sp>
        <p:nvSpPr>
          <p:cNvPr id="3" name="テキスト ボックス 2">
            <a:extLst>
              <a:ext uri="{FF2B5EF4-FFF2-40B4-BE49-F238E27FC236}">
                <a16:creationId xmlns:a16="http://schemas.microsoft.com/office/drawing/2014/main" id="{076036BF-BC14-4A0B-B4FD-1B1BDAA0FC15}"/>
              </a:ext>
            </a:extLst>
          </p:cNvPr>
          <p:cNvSpPr txBox="1"/>
          <p:nvPr/>
        </p:nvSpPr>
        <p:spPr>
          <a:xfrm>
            <a:off x="371355" y="1027965"/>
            <a:ext cx="11571829" cy="1200329"/>
          </a:xfrm>
          <a:prstGeom prst="rect">
            <a:avLst/>
          </a:prstGeom>
          <a:noFill/>
        </p:spPr>
        <p:txBody>
          <a:bodyPr wrap="squar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ラベルのない特徴量を投げ込むと分類した結果を返してくれるが、本当にあっているかがわからない</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これでは、学習がうまくいっているのか評価できない</a:t>
            </a:r>
          </a:p>
        </p:txBody>
      </p:sp>
      <p:sp>
        <p:nvSpPr>
          <p:cNvPr id="6" name="テキスト ボックス 5">
            <a:extLst>
              <a:ext uri="{FF2B5EF4-FFF2-40B4-BE49-F238E27FC236}">
                <a16:creationId xmlns:a16="http://schemas.microsoft.com/office/drawing/2014/main" id="{9B97EF18-9CD6-4835-9204-21F7118A193C}"/>
              </a:ext>
            </a:extLst>
          </p:cNvPr>
          <p:cNvSpPr txBox="1"/>
          <p:nvPr/>
        </p:nvSpPr>
        <p:spPr>
          <a:xfrm>
            <a:off x="3468281" y="2497029"/>
            <a:ext cx="4801314" cy="646331"/>
          </a:xfrm>
          <a:prstGeom prst="rect">
            <a:avLst/>
          </a:prstGeom>
          <a:noFill/>
        </p:spPr>
        <p:txBody>
          <a:bodyPr wrap="none" rtlCol="0">
            <a:spAutoFit/>
          </a:bodyPr>
          <a:lstStyle/>
          <a:p>
            <a:pPr algn="l"/>
            <a:r>
              <a:rPr kumimoji="1" lang="ja-JP" altLang="en-US" sz="3600" b="1" dirty="0">
                <a:latin typeface="メイリオ" panose="020B0604030504040204" pitchFamily="50" charset="-128"/>
                <a:ea typeface="メイリオ" panose="020B0604030504040204" pitchFamily="50" charset="-128"/>
              </a:rPr>
              <a:t>答え合わせがしたい！</a:t>
            </a:r>
          </a:p>
        </p:txBody>
      </p:sp>
      <p:sp>
        <p:nvSpPr>
          <p:cNvPr id="7" name="テキスト ボックス 6">
            <a:extLst>
              <a:ext uri="{FF2B5EF4-FFF2-40B4-BE49-F238E27FC236}">
                <a16:creationId xmlns:a16="http://schemas.microsoft.com/office/drawing/2014/main" id="{70C88EAC-D1E0-4F34-AD54-EB854F894C2F}"/>
              </a:ext>
            </a:extLst>
          </p:cNvPr>
          <p:cNvSpPr txBox="1"/>
          <p:nvPr/>
        </p:nvSpPr>
        <p:spPr>
          <a:xfrm>
            <a:off x="3291027" y="3600732"/>
            <a:ext cx="5004896"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prediction = </a:t>
            </a:r>
            <a:r>
              <a:rPr kumimoji="1" lang="en-US" altLang="ja-JP" sz="2400" dirty="0" err="1">
                <a:latin typeface="メイリオ" panose="020B0604030504040204" pitchFamily="50" charset="-128"/>
                <a:ea typeface="メイリオ" panose="020B0604030504040204" pitchFamily="50" charset="-128"/>
              </a:rPr>
              <a:t>knn.predict</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特徴量</a:t>
            </a:r>
            <a:r>
              <a:rPr kumimoji="1" lang="en-US" altLang="ja-JP" sz="2400" dirty="0">
                <a:latin typeface="メイリオ" panose="020B0604030504040204" pitchFamily="50" charset="-128"/>
                <a:ea typeface="メイリオ" panose="020B0604030504040204" pitchFamily="50" charset="-128"/>
              </a:rPr>
              <a:t>)</a:t>
            </a:r>
            <a:endParaRPr kumimoji="1" lang="ja-JP" altLang="en-US" sz="2400" dirty="0">
              <a:latin typeface="メイリオ" panose="020B0604030504040204" pitchFamily="50" charset="-128"/>
              <a:ea typeface="メイリオ" panose="020B0604030504040204" pitchFamily="50" charset="-128"/>
            </a:endParaRPr>
          </a:p>
        </p:txBody>
      </p:sp>
      <p:sp>
        <p:nvSpPr>
          <p:cNvPr id="8" name="矢印: 上 7">
            <a:extLst>
              <a:ext uri="{FF2B5EF4-FFF2-40B4-BE49-F238E27FC236}">
                <a16:creationId xmlns:a16="http://schemas.microsoft.com/office/drawing/2014/main" id="{0B0F6357-64E8-4F7B-9A2E-54108C705731}"/>
              </a:ext>
            </a:extLst>
          </p:cNvPr>
          <p:cNvSpPr/>
          <p:nvPr/>
        </p:nvSpPr>
        <p:spPr>
          <a:xfrm>
            <a:off x="7169991" y="4032560"/>
            <a:ext cx="668594" cy="37362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7B0ED5D8-93F8-40AB-8073-70E2B7D947C2}"/>
              </a:ext>
            </a:extLst>
          </p:cNvPr>
          <p:cNvSpPr txBox="1"/>
          <p:nvPr/>
        </p:nvSpPr>
        <p:spPr>
          <a:xfrm>
            <a:off x="6157269" y="4575476"/>
            <a:ext cx="4740886" cy="830997"/>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本当は正解（教師ラベル）が分かっている特徴量を隠して渡す</a:t>
            </a:r>
          </a:p>
        </p:txBody>
      </p:sp>
      <p:sp>
        <p:nvSpPr>
          <p:cNvPr id="10" name="テキスト ボックス 9">
            <a:extLst>
              <a:ext uri="{FF2B5EF4-FFF2-40B4-BE49-F238E27FC236}">
                <a16:creationId xmlns:a16="http://schemas.microsoft.com/office/drawing/2014/main" id="{13C0254A-2DC8-4BD7-966F-A0D808325479}"/>
              </a:ext>
            </a:extLst>
          </p:cNvPr>
          <p:cNvSpPr txBox="1"/>
          <p:nvPr/>
        </p:nvSpPr>
        <p:spPr>
          <a:xfrm>
            <a:off x="6195660" y="5688719"/>
            <a:ext cx="1298753"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正解：</a:t>
            </a:r>
            <a:r>
              <a:rPr kumimoji="1" lang="en-US" altLang="ja-JP" sz="2400" dirty="0">
                <a:latin typeface="メイリオ" panose="020B0604030504040204" pitchFamily="50" charset="-128"/>
                <a:ea typeface="メイリオ" panose="020B0604030504040204" pitchFamily="50" charset="-128"/>
              </a:rPr>
              <a:t>1</a:t>
            </a:r>
            <a:endParaRPr kumimoji="1" lang="ja-JP" altLang="en-US" sz="2400" dirty="0">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20AC1F67-90DF-4F34-88FC-F3BDF1D4F2DC}"/>
              </a:ext>
            </a:extLst>
          </p:cNvPr>
          <p:cNvSpPr txBox="1"/>
          <p:nvPr/>
        </p:nvSpPr>
        <p:spPr>
          <a:xfrm>
            <a:off x="2337140" y="5688719"/>
            <a:ext cx="2975495"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機械学習の予測 </a:t>
            </a:r>
            <a:r>
              <a:rPr kumimoji="1" lang="en-US" altLang="ja-JP" sz="2400" dirty="0">
                <a:latin typeface="メイリオ" panose="020B0604030504040204" pitchFamily="50" charset="-128"/>
                <a:ea typeface="メイリオ" panose="020B0604030504040204" pitchFamily="50" charset="-128"/>
              </a:rPr>
              <a:t>: 0 </a:t>
            </a:r>
            <a:endParaRPr kumimoji="1" lang="ja-JP" altLang="en-US" sz="2400" dirty="0">
              <a:latin typeface="メイリオ" panose="020B0604030504040204" pitchFamily="50" charset="-128"/>
              <a:ea typeface="メイリオ" panose="020B0604030504040204" pitchFamily="50" charset="-128"/>
            </a:endParaRPr>
          </a:p>
        </p:txBody>
      </p:sp>
      <p:sp>
        <p:nvSpPr>
          <p:cNvPr id="12" name="矢印: 下 11">
            <a:extLst>
              <a:ext uri="{FF2B5EF4-FFF2-40B4-BE49-F238E27FC236}">
                <a16:creationId xmlns:a16="http://schemas.microsoft.com/office/drawing/2014/main" id="{FB52891F-6A5F-49F8-B5B5-4150C0BBA317}"/>
              </a:ext>
            </a:extLst>
          </p:cNvPr>
          <p:cNvSpPr/>
          <p:nvPr/>
        </p:nvSpPr>
        <p:spPr>
          <a:xfrm>
            <a:off x="3709976" y="4182430"/>
            <a:ext cx="825909" cy="123787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矢印: 左右 12">
            <a:extLst>
              <a:ext uri="{FF2B5EF4-FFF2-40B4-BE49-F238E27FC236}">
                <a16:creationId xmlns:a16="http://schemas.microsoft.com/office/drawing/2014/main" id="{EA78B4D0-5833-46A9-A14F-30AF898ECA1A}"/>
              </a:ext>
            </a:extLst>
          </p:cNvPr>
          <p:cNvSpPr/>
          <p:nvPr/>
        </p:nvSpPr>
        <p:spPr>
          <a:xfrm>
            <a:off x="5312635" y="5688718"/>
            <a:ext cx="883025" cy="38081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9EC4604F-3D8E-4925-B438-2967CD616F99}"/>
              </a:ext>
            </a:extLst>
          </p:cNvPr>
          <p:cNvSpPr txBox="1"/>
          <p:nvPr/>
        </p:nvSpPr>
        <p:spPr>
          <a:xfrm>
            <a:off x="4931700" y="6142120"/>
            <a:ext cx="1723549"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答えあわせ</a:t>
            </a:r>
          </a:p>
        </p:txBody>
      </p:sp>
    </p:spTree>
    <p:extLst>
      <p:ext uri="{BB962C8B-B14F-4D97-AF65-F5344CB8AC3E}">
        <p14:creationId xmlns:p14="http://schemas.microsoft.com/office/powerpoint/2010/main" val="29432432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7B7E20D-D805-4E1F-9AEF-9790E6FEC760}"/>
              </a:ext>
            </a:extLst>
          </p:cNvPr>
          <p:cNvSpPr txBox="1"/>
          <p:nvPr/>
        </p:nvSpPr>
        <p:spPr>
          <a:xfrm>
            <a:off x="363050" y="377832"/>
            <a:ext cx="4288353"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学習の性能を評価する</a:t>
            </a:r>
          </a:p>
        </p:txBody>
      </p:sp>
      <p:sp>
        <p:nvSpPr>
          <p:cNvPr id="3" name="テキスト ボックス 2">
            <a:extLst>
              <a:ext uri="{FF2B5EF4-FFF2-40B4-BE49-F238E27FC236}">
                <a16:creationId xmlns:a16="http://schemas.microsoft.com/office/drawing/2014/main" id="{8464492D-B0BB-4BAC-9BC3-36CF9DD0B991}"/>
              </a:ext>
            </a:extLst>
          </p:cNvPr>
          <p:cNvSpPr txBox="1"/>
          <p:nvPr/>
        </p:nvSpPr>
        <p:spPr>
          <a:xfrm>
            <a:off x="432386" y="1074512"/>
            <a:ext cx="9532708" cy="1569660"/>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学習は間違えることもある。どれくらいの正解率かを知りたい</a:t>
            </a:r>
            <a:endParaRPr kumimoji="1" lang="en-US" altLang="ja-JP" sz="2400" dirty="0">
              <a:latin typeface="メイリオ" panose="020B0604030504040204" pitchFamily="50" charset="-128"/>
              <a:ea typeface="メイリオ" panose="020B0604030504040204" pitchFamily="50" charset="-128"/>
            </a:endParaRPr>
          </a:p>
          <a:p>
            <a:pPr algn="l"/>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　正解が分かっている多くのデータから得られる予測結果で</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答え合わせする</a:t>
            </a:r>
          </a:p>
        </p:txBody>
      </p:sp>
      <p:sp>
        <p:nvSpPr>
          <p:cNvPr id="4" name="テキスト ボックス 3">
            <a:extLst>
              <a:ext uri="{FF2B5EF4-FFF2-40B4-BE49-F238E27FC236}">
                <a16:creationId xmlns:a16="http://schemas.microsoft.com/office/drawing/2014/main" id="{03BACBC7-7D9F-4039-B372-EE8123E5A35A}"/>
              </a:ext>
            </a:extLst>
          </p:cNvPr>
          <p:cNvSpPr txBox="1"/>
          <p:nvPr/>
        </p:nvSpPr>
        <p:spPr>
          <a:xfrm>
            <a:off x="2595716" y="2967336"/>
            <a:ext cx="5004896"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prediction = </a:t>
            </a:r>
            <a:r>
              <a:rPr kumimoji="1" lang="en-US" altLang="ja-JP" sz="2400" dirty="0" err="1">
                <a:latin typeface="メイリオ" panose="020B0604030504040204" pitchFamily="50" charset="-128"/>
                <a:ea typeface="メイリオ" panose="020B0604030504040204" pitchFamily="50" charset="-128"/>
              </a:rPr>
              <a:t>knn.predict</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特徴量</a:t>
            </a:r>
            <a:r>
              <a:rPr kumimoji="1" lang="en-US" altLang="ja-JP" sz="2400" dirty="0">
                <a:latin typeface="メイリオ" panose="020B0604030504040204" pitchFamily="50" charset="-128"/>
                <a:ea typeface="メイリオ" panose="020B0604030504040204" pitchFamily="50" charset="-128"/>
              </a:rPr>
              <a:t>)</a:t>
            </a:r>
            <a:endParaRPr kumimoji="1" lang="ja-JP" altLang="en-US" sz="2400"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353DBD5-078F-43A6-B4A1-B19B715DB7DE}"/>
              </a:ext>
            </a:extLst>
          </p:cNvPr>
          <p:cNvSpPr txBox="1"/>
          <p:nvPr/>
        </p:nvSpPr>
        <p:spPr>
          <a:xfrm>
            <a:off x="6358550" y="3636973"/>
            <a:ext cx="3414715" cy="830997"/>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行列なのでたくさんのデータを渡せる</a:t>
            </a:r>
          </a:p>
        </p:txBody>
      </p:sp>
      <p:sp>
        <p:nvSpPr>
          <p:cNvPr id="6" name="矢印: 上 5">
            <a:extLst>
              <a:ext uri="{FF2B5EF4-FFF2-40B4-BE49-F238E27FC236}">
                <a16:creationId xmlns:a16="http://schemas.microsoft.com/office/drawing/2014/main" id="{F69ABB49-F219-43E7-9DC0-64DCC930F5DE}"/>
              </a:ext>
            </a:extLst>
          </p:cNvPr>
          <p:cNvSpPr/>
          <p:nvPr/>
        </p:nvSpPr>
        <p:spPr>
          <a:xfrm>
            <a:off x="6455017" y="3349378"/>
            <a:ext cx="668593" cy="28759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矢印: 下 6">
            <a:extLst>
              <a:ext uri="{FF2B5EF4-FFF2-40B4-BE49-F238E27FC236}">
                <a16:creationId xmlns:a16="http://schemas.microsoft.com/office/drawing/2014/main" id="{0A0DC7AD-6DA5-4C0A-BD63-D155489CC1A7}"/>
              </a:ext>
            </a:extLst>
          </p:cNvPr>
          <p:cNvSpPr/>
          <p:nvPr/>
        </p:nvSpPr>
        <p:spPr>
          <a:xfrm>
            <a:off x="3165988" y="3349378"/>
            <a:ext cx="668593" cy="2875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44FD6E0E-DDB0-4543-ABF6-9F9732002828}"/>
              </a:ext>
            </a:extLst>
          </p:cNvPr>
          <p:cNvSpPr txBox="1"/>
          <p:nvPr/>
        </p:nvSpPr>
        <p:spPr>
          <a:xfrm>
            <a:off x="2507227" y="3636973"/>
            <a:ext cx="3234813" cy="830997"/>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予測結果がベクトルで戻ってくる</a:t>
            </a:r>
          </a:p>
        </p:txBody>
      </p:sp>
      <p:graphicFrame>
        <p:nvGraphicFramePr>
          <p:cNvPr id="10" name="表 9">
            <a:extLst>
              <a:ext uri="{FF2B5EF4-FFF2-40B4-BE49-F238E27FC236}">
                <a16:creationId xmlns:a16="http://schemas.microsoft.com/office/drawing/2014/main" id="{C5040379-EA68-49F7-A519-7CEAD36A8C0F}"/>
              </a:ext>
            </a:extLst>
          </p:cNvPr>
          <p:cNvGraphicFramePr>
            <a:graphicFrameLocks noGrp="1"/>
          </p:cNvGraphicFramePr>
          <p:nvPr/>
        </p:nvGraphicFramePr>
        <p:xfrm>
          <a:off x="3703305" y="4741197"/>
          <a:ext cx="3333136" cy="1854200"/>
        </p:xfrm>
        <a:graphic>
          <a:graphicData uri="http://schemas.openxmlformats.org/drawingml/2006/table">
            <a:tbl>
              <a:tblPr firstRow="1" bandRow="1">
                <a:tableStyleId>{5940675A-B579-460E-94D1-54222C63F5DA}</a:tableStyleId>
              </a:tblPr>
              <a:tblGrid>
                <a:gridCol w="1666568">
                  <a:extLst>
                    <a:ext uri="{9D8B030D-6E8A-4147-A177-3AD203B41FA5}">
                      <a16:colId xmlns:a16="http://schemas.microsoft.com/office/drawing/2014/main" val="486279813"/>
                    </a:ext>
                  </a:extLst>
                </a:gridCol>
                <a:gridCol w="1666568">
                  <a:extLst>
                    <a:ext uri="{9D8B030D-6E8A-4147-A177-3AD203B41FA5}">
                      <a16:colId xmlns:a16="http://schemas.microsoft.com/office/drawing/2014/main" val="80849634"/>
                    </a:ext>
                  </a:extLst>
                </a:gridCol>
              </a:tblGrid>
              <a:tr h="370840">
                <a:tc>
                  <a:txBody>
                    <a:bodyPr/>
                    <a:lstStyle/>
                    <a:p>
                      <a:r>
                        <a:rPr kumimoji="1" lang="en-US" altLang="ja-JP" dirty="0"/>
                        <a:t>prediction</a:t>
                      </a:r>
                      <a:endParaRPr kumimoji="1" lang="ja-JP" altLang="en-US" dirty="0"/>
                    </a:p>
                  </a:txBody>
                  <a:tcPr/>
                </a:tc>
                <a:tc>
                  <a:txBody>
                    <a:bodyPr/>
                    <a:lstStyle/>
                    <a:p>
                      <a:r>
                        <a:rPr kumimoji="1" lang="ja-JP" altLang="en-US" dirty="0"/>
                        <a:t>正解</a:t>
                      </a:r>
                    </a:p>
                  </a:txBody>
                  <a:tcPr/>
                </a:tc>
                <a:extLst>
                  <a:ext uri="{0D108BD9-81ED-4DB2-BD59-A6C34878D82A}">
                    <a16:rowId xmlns:a16="http://schemas.microsoft.com/office/drawing/2014/main" val="3834646976"/>
                  </a:ext>
                </a:extLst>
              </a:tr>
              <a:tr h="370840">
                <a:tc>
                  <a:txBody>
                    <a:bodyPr/>
                    <a:lstStyle/>
                    <a:p>
                      <a:r>
                        <a:rPr kumimoji="1" lang="en-US" altLang="ja-JP" dirty="0"/>
                        <a:t>0</a:t>
                      </a:r>
                      <a:endParaRPr kumimoji="1" lang="ja-JP" altLang="en-US" dirty="0"/>
                    </a:p>
                  </a:txBody>
                  <a:tcPr/>
                </a:tc>
                <a:tc>
                  <a:txBody>
                    <a:bodyPr/>
                    <a:lstStyle/>
                    <a:p>
                      <a:r>
                        <a:rPr kumimoji="1" lang="en-US" altLang="ja-JP" dirty="0"/>
                        <a:t>0</a:t>
                      </a:r>
                      <a:endParaRPr kumimoji="1" lang="ja-JP" altLang="en-US" dirty="0"/>
                    </a:p>
                  </a:txBody>
                  <a:tcPr/>
                </a:tc>
                <a:extLst>
                  <a:ext uri="{0D108BD9-81ED-4DB2-BD59-A6C34878D82A}">
                    <a16:rowId xmlns:a16="http://schemas.microsoft.com/office/drawing/2014/main" val="1319762480"/>
                  </a:ext>
                </a:extLst>
              </a:tr>
              <a:tr h="370840">
                <a:tc>
                  <a:txBody>
                    <a:bodyPr/>
                    <a:lstStyle/>
                    <a:p>
                      <a:r>
                        <a:rPr kumimoji="1" lang="en-US" altLang="ja-JP" dirty="0"/>
                        <a:t>1</a:t>
                      </a:r>
                      <a:endParaRPr kumimoji="1" lang="ja-JP" altLang="en-US" dirty="0"/>
                    </a:p>
                  </a:txBody>
                  <a:tcPr/>
                </a:tc>
                <a:tc>
                  <a:txBody>
                    <a:bodyPr/>
                    <a:lstStyle/>
                    <a:p>
                      <a:r>
                        <a:rPr kumimoji="1" lang="en-US" altLang="ja-JP" dirty="0"/>
                        <a:t>0</a:t>
                      </a:r>
                      <a:endParaRPr kumimoji="1" lang="ja-JP" altLang="en-US" dirty="0"/>
                    </a:p>
                  </a:txBody>
                  <a:tcPr/>
                </a:tc>
                <a:extLst>
                  <a:ext uri="{0D108BD9-81ED-4DB2-BD59-A6C34878D82A}">
                    <a16:rowId xmlns:a16="http://schemas.microsoft.com/office/drawing/2014/main" val="3531587158"/>
                  </a:ext>
                </a:extLst>
              </a:tr>
              <a:tr h="370840">
                <a:tc>
                  <a:txBody>
                    <a:bodyPr/>
                    <a:lstStyle/>
                    <a:p>
                      <a:r>
                        <a:rPr kumimoji="1" lang="en-US" altLang="ja-JP" dirty="0"/>
                        <a:t>2</a:t>
                      </a:r>
                      <a:endParaRPr kumimoji="1" lang="ja-JP" altLang="en-US" dirty="0"/>
                    </a:p>
                  </a:txBody>
                  <a:tcPr/>
                </a:tc>
                <a:tc>
                  <a:txBody>
                    <a:bodyPr/>
                    <a:lstStyle/>
                    <a:p>
                      <a:r>
                        <a:rPr kumimoji="1" lang="en-US" altLang="ja-JP" dirty="0"/>
                        <a:t>2</a:t>
                      </a:r>
                      <a:endParaRPr kumimoji="1" lang="ja-JP" altLang="en-US" dirty="0"/>
                    </a:p>
                  </a:txBody>
                  <a:tcPr/>
                </a:tc>
                <a:extLst>
                  <a:ext uri="{0D108BD9-81ED-4DB2-BD59-A6C34878D82A}">
                    <a16:rowId xmlns:a16="http://schemas.microsoft.com/office/drawing/2014/main" val="227448100"/>
                  </a:ext>
                </a:extLst>
              </a:tr>
              <a:tr h="370840">
                <a:tc>
                  <a:txBody>
                    <a:bodyPr/>
                    <a:lstStyle/>
                    <a:p>
                      <a:r>
                        <a:rPr kumimoji="1" lang="en-US" altLang="ja-JP" dirty="0"/>
                        <a:t>1</a:t>
                      </a:r>
                      <a:endParaRPr kumimoji="1" lang="ja-JP" altLang="en-US" dirty="0"/>
                    </a:p>
                  </a:txBody>
                  <a:tcPr/>
                </a:tc>
                <a:tc>
                  <a:txBody>
                    <a:bodyPr/>
                    <a:lstStyle/>
                    <a:p>
                      <a:r>
                        <a:rPr kumimoji="1" lang="en-US" altLang="ja-JP" dirty="0"/>
                        <a:t>1</a:t>
                      </a:r>
                      <a:endParaRPr kumimoji="1" lang="ja-JP" altLang="en-US" dirty="0"/>
                    </a:p>
                  </a:txBody>
                  <a:tcPr/>
                </a:tc>
                <a:extLst>
                  <a:ext uri="{0D108BD9-81ED-4DB2-BD59-A6C34878D82A}">
                    <a16:rowId xmlns:a16="http://schemas.microsoft.com/office/drawing/2014/main" val="285963233"/>
                  </a:ext>
                </a:extLst>
              </a:tr>
            </a:tbl>
          </a:graphicData>
        </a:graphic>
      </p:graphicFrame>
      <p:sp>
        <p:nvSpPr>
          <p:cNvPr id="12" name="フローチャート: 組合せ 11">
            <a:extLst>
              <a:ext uri="{FF2B5EF4-FFF2-40B4-BE49-F238E27FC236}">
                <a16:creationId xmlns:a16="http://schemas.microsoft.com/office/drawing/2014/main" id="{C1E6C990-97BC-4B2D-87E9-1E074DEB690F}"/>
              </a:ext>
            </a:extLst>
          </p:cNvPr>
          <p:cNvSpPr/>
          <p:nvPr/>
        </p:nvSpPr>
        <p:spPr>
          <a:xfrm>
            <a:off x="4218038" y="4467969"/>
            <a:ext cx="2644878" cy="207972"/>
          </a:xfrm>
          <a:prstGeom prst="flowChartMer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0DBE27C1-C6F6-439A-BED0-B77374269F66}"/>
                  </a:ext>
                </a:extLst>
              </p:cNvPr>
              <p:cNvSpPr txBox="1"/>
              <p:nvPr/>
            </p:nvSpPr>
            <p:spPr>
              <a:xfrm>
                <a:off x="7276371" y="6002735"/>
                <a:ext cx="2899640" cy="592663"/>
              </a:xfrm>
              <a:prstGeom prst="rect">
                <a:avLst/>
              </a:prstGeom>
              <a:noFill/>
            </p:spPr>
            <p:txBody>
              <a:bodyPr wrap="none" lIns="0" tIns="0" rIns="0" bIns="0" rtlCol="0">
                <a:spAutoFit/>
              </a:bodyPr>
              <a:lstStyle/>
              <a:p>
                <a:pPr algn="l"/>
                <a:r>
                  <a:rPr kumimoji="1" lang="ja-JP" altLang="en-US" sz="2000" dirty="0">
                    <a:ea typeface="メイリオ" panose="020B0604030504040204" pitchFamily="50" charset="-128"/>
                  </a:rPr>
                  <a:t>正解</a:t>
                </a:r>
                <a14:m>
                  <m:oMath xmlns:m="http://schemas.openxmlformats.org/officeDocument/2006/math">
                    <m:r>
                      <a:rPr kumimoji="1" lang="ja-JP" altLang="en-US" sz="2000" i="1">
                        <a:latin typeface="Cambria Math" panose="02040503050406030204" pitchFamily="18" charset="0"/>
                        <a:ea typeface="メイリオ" panose="020B0604030504040204" pitchFamily="50" charset="-128"/>
                      </a:rPr>
                      <m:t>率</m:t>
                    </m:r>
                    <m:r>
                      <a:rPr kumimoji="1" lang="en-US" altLang="ja-JP" sz="2000" i="1">
                        <a:latin typeface="Cambria Math" panose="02040503050406030204" pitchFamily="18" charset="0"/>
                        <a:ea typeface="メイリオ" panose="020B0604030504040204" pitchFamily="50" charset="-128"/>
                      </a:rPr>
                      <m:t>=</m:t>
                    </m:r>
                    <m:f>
                      <m:fPr>
                        <m:ctrlPr>
                          <a:rPr kumimoji="1" lang="ja-JP" altLang="en-US" sz="2000" i="1">
                            <a:latin typeface="Cambria Math" panose="02040503050406030204" pitchFamily="18" charset="0"/>
                            <a:ea typeface="メイリオ" panose="020B0604030504040204" pitchFamily="50" charset="-128"/>
                          </a:rPr>
                        </m:ctrlPr>
                      </m:fPr>
                      <m:num>
                        <m:r>
                          <a:rPr kumimoji="1" lang="ja-JP" altLang="en-US" sz="2000" i="1">
                            <a:latin typeface="Cambria Math" panose="02040503050406030204" pitchFamily="18" charset="0"/>
                            <a:ea typeface="メイリオ" panose="020B0604030504040204" pitchFamily="50" charset="-128"/>
                          </a:rPr>
                          <m:t>当たった数</m:t>
                        </m:r>
                      </m:num>
                      <m:den>
                        <m:r>
                          <a:rPr kumimoji="1" lang="ja-JP" altLang="en-US" sz="2000" i="1">
                            <a:latin typeface="Cambria Math" panose="02040503050406030204" pitchFamily="18" charset="0"/>
                            <a:ea typeface="メイリオ" panose="020B0604030504040204" pitchFamily="50" charset="-128"/>
                          </a:rPr>
                          <m:t>テストデータ数</m:t>
                        </m:r>
                      </m:den>
                    </m:f>
                  </m:oMath>
                </a14:m>
                <a:endParaRPr kumimoji="1" lang="ja-JP" altLang="en-US" sz="2000" dirty="0">
                  <a:latin typeface="メイリオ" panose="020B0604030504040204" pitchFamily="50" charset="-128"/>
                  <a:ea typeface="メイリオ" panose="020B0604030504040204" pitchFamily="50" charset="-128"/>
                </a:endParaRPr>
              </a:p>
            </p:txBody>
          </p:sp>
        </mc:Choice>
        <mc:Fallback xmlns="">
          <p:sp>
            <p:nvSpPr>
              <p:cNvPr id="13" name="テキスト ボックス 12">
                <a:extLst>
                  <a:ext uri="{FF2B5EF4-FFF2-40B4-BE49-F238E27FC236}">
                    <a16:creationId xmlns:a16="http://schemas.microsoft.com/office/drawing/2014/main" id="{0DBE27C1-C6F6-439A-BED0-B77374269F66}"/>
                  </a:ext>
                </a:extLst>
              </p:cNvPr>
              <p:cNvSpPr txBox="1">
                <a:spLocks noRot="1" noChangeAspect="1" noMove="1" noResize="1" noEditPoints="1" noAdjustHandles="1" noChangeArrowheads="1" noChangeShapeType="1" noTextEdit="1"/>
              </p:cNvSpPr>
              <p:nvPr/>
            </p:nvSpPr>
            <p:spPr>
              <a:xfrm>
                <a:off x="7276371" y="6002735"/>
                <a:ext cx="2899640" cy="592663"/>
              </a:xfrm>
              <a:prstGeom prst="rect">
                <a:avLst/>
              </a:prstGeom>
              <a:blipFill>
                <a:blip r:embed="rId2"/>
                <a:stretch>
                  <a:fillRect l="-5474" b="-721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49594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正方形/長方形 20">
            <a:extLst>
              <a:ext uri="{FF2B5EF4-FFF2-40B4-BE49-F238E27FC236}">
                <a16:creationId xmlns:a16="http://schemas.microsoft.com/office/drawing/2014/main" id="{9412F902-F9E1-459A-A9B8-72CCED8AF862}"/>
              </a:ext>
            </a:extLst>
          </p:cNvPr>
          <p:cNvSpPr/>
          <p:nvPr/>
        </p:nvSpPr>
        <p:spPr>
          <a:xfrm>
            <a:off x="992582" y="4797520"/>
            <a:ext cx="8651332" cy="1543875"/>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7D008FA6-2285-44B3-BA32-E545DD0FF7B3}"/>
              </a:ext>
            </a:extLst>
          </p:cNvPr>
          <p:cNvSpPr txBox="1"/>
          <p:nvPr/>
        </p:nvSpPr>
        <p:spPr>
          <a:xfrm>
            <a:off x="393912" y="244061"/>
            <a:ext cx="5234125" cy="584775"/>
          </a:xfrm>
          <a:prstGeom prst="rect">
            <a:avLst/>
          </a:prstGeom>
          <a:noFill/>
        </p:spPr>
        <p:txBody>
          <a:bodyPr wrap="none" rtlCol="0">
            <a:spAutoFit/>
          </a:bodyPr>
          <a:lstStyle/>
          <a:p>
            <a:pPr algn="l"/>
            <a:r>
              <a:rPr kumimoji="1" lang="en-US" altLang="ja-JP" sz="3200" b="1" dirty="0" err="1">
                <a:latin typeface="メイリオ" panose="020B0604030504040204" pitchFamily="50" charset="-128"/>
                <a:ea typeface="メイリオ" panose="020B0604030504040204" pitchFamily="50" charset="-128"/>
              </a:rPr>
              <a:t>y_test</a:t>
            </a:r>
            <a:r>
              <a:rPr kumimoji="1" lang="ja-JP" altLang="en-US" sz="3200" b="1" dirty="0">
                <a:latin typeface="メイリオ" panose="020B0604030504040204" pitchFamily="50" charset="-128"/>
                <a:ea typeface="メイリオ" panose="020B0604030504040204" pitchFamily="50" charset="-128"/>
              </a:rPr>
              <a:t>は性能評価用データ</a:t>
            </a:r>
          </a:p>
        </p:txBody>
      </p:sp>
      <p:sp>
        <p:nvSpPr>
          <p:cNvPr id="4" name="テキスト ボックス 3">
            <a:extLst>
              <a:ext uri="{FF2B5EF4-FFF2-40B4-BE49-F238E27FC236}">
                <a16:creationId xmlns:a16="http://schemas.microsoft.com/office/drawing/2014/main" id="{12F5D17A-330A-4773-9813-FDA6B4425533}"/>
              </a:ext>
            </a:extLst>
          </p:cNvPr>
          <p:cNvSpPr txBox="1"/>
          <p:nvPr/>
        </p:nvSpPr>
        <p:spPr>
          <a:xfrm>
            <a:off x="393912" y="933830"/>
            <a:ext cx="11063520" cy="830997"/>
          </a:xfrm>
          <a:prstGeom prst="rect">
            <a:avLst/>
          </a:prstGeom>
          <a:noFill/>
        </p:spPr>
        <p:txBody>
          <a:bodyPr wrap="square" rtlCol="0">
            <a:spAutoFit/>
          </a:bodyPr>
          <a:lstStyle/>
          <a:p>
            <a:pPr algn="l"/>
            <a:r>
              <a:rPr kumimoji="1" lang="en-US" altLang="ja-JP" sz="2400" dirty="0">
                <a:latin typeface="メイリオ" panose="020B0604030504040204" pitchFamily="50" charset="-128"/>
                <a:ea typeface="メイリオ" panose="020B0604030504040204" pitchFamily="50" charset="-128"/>
              </a:rPr>
              <a:t>25%</a:t>
            </a:r>
            <a:r>
              <a:rPr kumimoji="1" lang="ja-JP" altLang="en-US" sz="2400" dirty="0">
                <a:latin typeface="メイリオ" panose="020B0604030504040204" pitchFamily="50" charset="-128"/>
                <a:ea typeface="メイリオ" panose="020B0604030504040204" pitchFamily="50" charset="-128"/>
              </a:rPr>
              <a:t>のテストデータの教師ラベルが必要な理由は、分類性能を確認するため　</a:t>
            </a:r>
            <a:endParaRPr kumimoji="1" lang="en-US" altLang="ja-JP" sz="2400" dirty="0">
              <a:latin typeface="メイリオ" panose="020B0604030504040204" pitchFamily="50" charset="-128"/>
              <a:ea typeface="メイリオ" panose="020B0604030504040204" pitchFamily="50" charset="-128"/>
            </a:endParaRPr>
          </a:p>
          <a:p>
            <a:pPr algn="l"/>
            <a:endParaRPr kumimoji="1" lang="ja-JP" altLang="en-US" sz="2400"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68588B4E-766E-4804-AA5C-57E3934588F1}"/>
              </a:ext>
            </a:extLst>
          </p:cNvPr>
          <p:cNvSpPr txBox="1"/>
          <p:nvPr/>
        </p:nvSpPr>
        <p:spPr>
          <a:xfrm>
            <a:off x="779288" y="2607445"/>
            <a:ext cx="2172903" cy="461665"/>
          </a:xfrm>
          <a:prstGeom prst="rect">
            <a:avLst/>
          </a:prstGeom>
          <a:noFill/>
        </p:spPr>
        <p:txBody>
          <a:bodyPr wrap="none" rtlCol="0">
            <a:spAutoFit/>
          </a:bodyPr>
          <a:lstStyle/>
          <a:p>
            <a:pPr algn="l"/>
            <a:r>
              <a:rPr kumimoji="1" lang="en-US" altLang="ja-JP" sz="2400" b="1" dirty="0" err="1">
                <a:latin typeface="メイリオ" panose="020B0604030504040204" pitchFamily="50" charset="-128"/>
                <a:ea typeface="メイリオ" panose="020B0604030504040204" pitchFamily="50" charset="-128"/>
              </a:rPr>
              <a:t>Iris_dataset</a:t>
            </a:r>
            <a:endParaRPr kumimoji="1" lang="ja-JP" altLang="en-US" sz="2400" b="1" dirty="0">
              <a:latin typeface="メイリオ" panose="020B0604030504040204" pitchFamily="50" charset="-128"/>
              <a:ea typeface="メイリオ" panose="020B0604030504040204" pitchFamily="50" charset="-128"/>
            </a:endParaRPr>
          </a:p>
        </p:txBody>
      </p:sp>
      <mc:AlternateContent xmlns:mc="http://schemas.openxmlformats.org/markup-compatibility/2006">
        <mc:Choice xmlns:a14="http://schemas.microsoft.com/office/drawing/2010/main" Requires="a14">
          <p:sp>
            <p:nvSpPr>
              <p:cNvPr id="8" name="テキスト ボックス 7">
                <a:extLst>
                  <a:ext uri="{FF2B5EF4-FFF2-40B4-BE49-F238E27FC236}">
                    <a16:creationId xmlns:a16="http://schemas.microsoft.com/office/drawing/2014/main" id="{7988AB9B-2519-4D2D-B64F-A50E1978D675}"/>
                  </a:ext>
                </a:extLst>
              </p:cNvPr>
              <p:cNvSpPr txBox="1"/>
              <p:nvPr/>
            </p:nvSpPr>
            <p:spPr>
              <a:xfrm>
                <a:off x="1952043" y="3429989"/>
                <a:ext cx="501740" cy="2305055"/>
              </a:xfrm>
              <a:prstGeom prst="rect">
                <a:avLst/>
              </a:prstGeom>
              <a:noFill/>
            </p:spPr>
            <p:txBody>
              <a:bodyPr wrap="none" lIns="0" tIns="0" rIns="0" bIns="0" rtlCol="0">
                <a:spAutoFit/>
              </a:bodyPr>
              <a:lstStyle/>
              <a:p>
                <a:pPr algn="l"/>
                <a14:m>
                  <m:oMathPara xmlns:m="http://schemas.openxmlformats.org/officeDocument/2006/math">
                    <m:oMath>
                      <m:d>
                        <m:dPr>
                          <m:begChr m:val="["/>
                          <m:endChr m:val="]"/>
                          <m:ctrlPr>
                            <a:rPr kumimoji="1" lang="en-US" altLang="ja-JP" sz="2000" i="1">
                              <a:latin typeface="Cambria Math" panose="02040503050406030204" pitchFamily="18" charset="0"/>
                              <a:ea typeface="メイリオ" panose="020B0604030504040204" pitchFamily="50" charset="-128"/>
                            </a:rPr>
                          </m:ctrlPr>
                        </m:dPr>
                        <m:e>
                          <m:eqArr>
                            <m:eqArrPr>
                              <m:ctrlPr>
                                <a:rPr kumimoji="1" lang="en-US" altLang="ja-JP" sz="2000" i="1">
                                  <a:latin typeface="Cambria Math" panose="02040503050406030204" pitchFamily="18" charset="0"/>
                                  <a:ea typeface="メイリオ" panose="020B0604030504040204" pitchFamily="50" charset="-128"/>
                                </a:rPr>
                              </m:ctrlPr>
                            </m:eqArrPr>
                            <m:e>
                              <m:r>
                                <m:rPr>
                                  <m:brk m:alnAt="7"/>
                                </m:rPr>
                                <a:rPr kumimoji="1" lang="en-US" altLang="ja-JP" sz="2000" i="1">
                                  <a:latin typeface="Cambria Math" panose="02040503050406030204" pitchFamily="18" charset="0"/>
                                  <a:ea typeface="メイリオ" panose="020B0604030504040204" pitchFamily="50" charset="-128"/>
                                </a:rPr>
                                <m:t> </m:t>
                              </m:r>
                            </m:e>
                            <m:e>
                              <m:m>
                                <m:mPr>
                                  <m:mcs>
                                    <m:mc>
                                      <m:mcPr>
                                        <m:count m:val="1"/>
                                        <m:mcJc m:val="center"/>
                                      </m:mcPr>
                                    </m:mc>
                                  </m:mcs>
                                  <m:ctrlPr>
                                    <a:rPr kumimoji="1" lang="en-US" altLang="ja-JP" sz="2000" i="1">
                                      <a:latin typeface="Cambria Math" panose="02040503050406030204" pitchFamily="18" charset="0"/>
                                      <a:ea typeface="メイリオ" panose="020B0604030504040204" pitchFamily="50" charset="-128"/>
                                    </a:rPr>
                                  </m:ctrlPr>
                                </m:mPr>
                                <m:mr>
                                  <m:e>
                                    <m:r>
                                      <m:rPr>
                                        <m:brk m:alnAt="7"/>
                                      </m:rPr>
                                      <a:rPr kumimoji="1" lang="en-US" altLang="ja-JP" sz="2000" i="1">
                                        <a:latin typeface="Cambria Math" panose="02040503050406030204" pitchFamily="18" charset="0"/>
                                        <a:ea typeface="メイリオ" panose="020B0604030504040204" pitchFamily="50" charset="-128"/>
                                      </a:rPr>
                                      <m:t>0</m:t>
                                    </m:r>
                                  </m:e>
                                </m:mr>
                                <m:mr>
                                  <m:e>
                                    <m:r>
                                      <a:rPr kumimoji="1" lang="en-US" altLang="ja-JP" sz="2000" i="1">
                                        <a:latin typeface="Cambria Math" panose="02040503050406030204" pitchFamily="18" charset="0"/>
                                        <a:ea typeface="メイリオ" panose="020B0604030504040204" pitchFamily="50" charset="-128"/>
                                      </a:rPr>
                                      <m:t>1</m:t>
                                    </m:r>
                                  </m:e>
                                </m:mr>
                                <m:mr>
                                  <m:e>
                                    <m:eqArr>
                                      <m:eqArrPr>
                                        <m:ctrlPr>
                                          <a:rPr kumimoji="1" lang="en-US" altLang="ja-JP" sz="2000" i="1">
                                            <a:latin typeface="Cambria Math" panose="02040503050406030204" pitchFamily="18" charset="0"/>
                                            <a:ea typeface="メイリオ" panose="020B0604030504040204" pitchFamily="50" charset="-128"/>
                                          </a:rPr>
                                        </m:ctrlPr>
                                      </m:eqArrPr>
                                      <m:e>
                                        <m:r>
                                          <a:rPr kumimoji="1" lang="en-US" altLang="ja-JP" sz="2000" i="1">
                                            <a:latin typeface="Cambria Math" panose="02040503050406030204" pitchFamily="18" charset="0"/>
                                            <a:ea typeface="メイリオ" panose="020B0604030504040204" pitchFamily="50" charset="-128"/>
                                          </a:rPr>
                                          <m:t>0</m:t>
                                        </m:r>
                                      </m:e>
                                      <m:e>
                                        <m:r>
                                          <a:rPr kumimoji="1" lang="en-US" altLang="ja-JP" sz="2000" i="1">
                                            <a:latin typeface="Cambria Math" panose="02040503050406030204" pitchFamily="18" charset="0"/>
                                            <a:ea typeface="メイリオ" panose="020B0604030504040204" pitchFamily="50" charset="-128"/>
                                          </a:rPr>
                                          <m:t>⋮</m:t>
                                        </m:r>
                                      </m:e>
                                      <m:e/>
                                      <m:e/>
                                      <m:e>
                                        <m:m>
                                          <m:mPr>
                                            <m:mcs>
                                              <m:mc>
                                                <m:mcPr>
                                                  <m:count m:val="1"/>
                                                  <m:mcJc m:val="center"/>
                                                </m:mcPr>
                                              </m:mc>
                                            </m:mcs>
                                            <m:ctrlPr>
                                              <a:rPr kumimoji="1" lang="en-US" altLang="ja-JP" sz="2000" i="1">
                                                <a:latin typeface="Cambria Math" panose="02040503050406030204" pitchFamily="18" charset="0"/>
                                                <a:ea typeface="メイリオ" panose="020B0604030504040204" pitchFamily="50" charset="-128"/>
                                              </a:rPr>
                                            </m:ctrlPr>
                                          </m:mPr>
                                          <m:mr>
                                            <m:e>
                                              <m:r>
                                                <m:rPr>
                                                  <m:brk m:alnAt="7"/>
                                                </m:rPr>
                                                <a:rPr kumimoji="1" lang="en-US" altLang="ja-JP" sz="2000" i="1">
                                                  <a:latin typeface="Cambria Math" panose="02040503050406030204" pitchFamily="18" charset="0"/>
                                                  <a:ea typeface="メイリオ" panose="020B0604030504040204" pitchFamily="50" charset="-128"/>
                                                </a:rPr>
                                                <m:t>1</m:t>
                                              </m:r>
                                            </m:e>
                                          </m:mr>
                                          <m:mr>
                                            <m:e>
                                              <m:r>
                                                <a:rPr kumimoji="1" lang="en-US" altLang="ja-JP" sz="2000" i="1">
                                                  <a:latin typeface="Cambria Math" panose="02040503050406030204" pitchFamily="18" charset="0"/>
                                                  <a:ea typeface="メイリオ" panose="020B0604030504040204" pitchFamily="50" charset="-128"/>
                                                </a:rPr>
                                                <m:t>2</m:t>
                                              </m:r>
                                            </m:e>
                                          </m:mr>
                                        </m:m>
                                      </m:e>
                                    </m:eqArr>
                                  </m:e>
                                </m:mr>
                              </m:m>
                            </m:e>
                          </m:eqArr>
                        </m:e>
                      </m:d>
                    </m:oMath>
                  </m:oMathPara>
                </a14:m>
                <a:endParaRPr kumimoji="1" lang="ja-JP" altLang="en-US" sz="2000" dirty="0">
                  <a:latin typeface="メイリオ" panose="020B0604030504040204" pitchFamily="50" charset="-128"/>
                  <a:ea typeface="メイリオ" panose="020B0604030504040204" pitchFamily="50" charset="-128"/>
                </a:endParaRPr>
              </a:p>
            </p:txBody>
          </p:sp>
        </mc:Choice>
        <mc:Fallback>
          <p:sp>
            <p:nvSpPr>
              <p:cNvPr id="8" name="テキスト ボックス 7">
                <a:extLst>
                  <a:ext uri="{FF2B5EF4-FFF2-40B4-BE49-F238E27FC236}">
                    <a16:creationId xmlns:a16="http://schemas.microsoft.com/office/drawing/2014/main" id="{7988AB9B-2519-4D2D-B64F-A50E1978D675}"/>
                  </a:ext>
                </a:extLst>
              </p:cNvPr>
              <p:cNvSpPr txBox="1">
                <a:spLocks noRot="1" noChangeAspect="1" noMove="1" noResize="1" noEditPoints="1" noAdjustHandles="1" noChangeArrowheads="1" noChangeShapeType="1" noTextEdit="1"/>
              </p:cNvSpPr>
              <p:nvPr/>
            </p:nvSpPr>
            <p:spPr>
              <a:xfrm>
                <a:off x="1952043" y="3429989"/>
                <a:ext cx="501740" cy="2305055"/>
              </a:xfrm>
              <a:prstGeom prst="rect">
                <a:avLst/>
              </a:prstGeom>
              <a:blipFill>
                <a:blip r:embed="rId2"/>
                <a:stretch>
                  <a:fillRect/>
                </a:stretch>
              </a:blipFill>
            </p:spPr>
            <p:txBody>
              <a:bodyPr/>
              <a:lstStyle/>
              <a:p>
                <a:r>
                  <a:rPr lang="ja-JP" altLang="en-US">
                    <a:noFill/>
                  </a:rPr>
                  <a:t> </a:t>
                </a:r>
              </a:p>
            </p:txBody>
          </p:sp>
        </mc:Fallback>
      </mc:AlternateContent>
      <p:sp>
        <p:nvSpPr>
          <p:cNvPr id="9" name="正方形/長方形 8">
            <a:extLst>
              <a:ext uri="{FF2B5EF4-FFF2-40B4-BE49-F238E27FC236}">
                <a16:creationId xmlns:a16="http://schemas.microsoft.com/office/drawing/2014/main" id="{7F614C15-8CC0-4E9C-B951-C85717FF4C42}"/>
              </a:ext>
            </a:extLst>
          </p:cNvPr>
          <p:cNvSpPr/>
          <p:nvPr/>
        </p:nvSpPr>
        <p:spPr>
          <a:xfrm>
            <a:off x="2406716" y="3429989"/>
            <a:ext cx="4572000" cy="2431435"/>
          </a:xfrm>
          <a:prstGeom prst="rect">
            <a:avLst/>
          </a:prstGeom>
        </p:spPr>
        <p:txBody>
          <a:bodyPr>
            <a:spAutoFit/>
          </a:bodyPr>
          <a:lstStyle/>
          <a:p>
            <a:r>
              <a:rPr kumimoji="1" lang="en-US" altLang="ja-JP" sz="2000" dirty="0">
                <a:latin typeface="メイリオ" panose="020B0604030504040204" pitchFamily="50" charset="-128"/>
                <a:ea typeface="メイリオ" panose="020B0604030504040204" pitchFamily="50" charset="-128"/>
              </a:rPr>
              <a:t> [	[5.1,3.5,1.4,0.2]</a:t>
            </a:r>
          </a:p>
          <a:p>
            <a:r>
              <a:rPr kumimoji="1" lang="en-US" altLang="ja-JP" sz="2000" dirty="0">
                <a:latin typeface="メイリオ" panose="020B0604030504040204" pitchFamily="50" charset="-128"/>
                <a:ea typeface="メイリオ" panose="020B0604030504040204" pitchFamily="50" charset="-128"/>
              </a:rPr>
              <a:t>	[4.9,3.0,1.4,0.2]</a:t>
            </a:r>
          </a:p>
          <a:p>
            <a:r>
              <a:rPr kumimoji="1" lang="en-US" altLang="ja-JP" sz="2000" dirty="0">
                <a:latin typeface="メイリオ" panose="020B0604030504040204" pitchFamily="50" charset="-128"/>
                <a:ea typeface="メイリオ" panose="020B0604030504040204" pitchFamily="50" charset="-128"/>
              </a:rPr>
              <a:t>	[4.7,3.2,1.3,0.2]</a:t>
            </a:r>
          </a:p>
          <a:p>
            <a:r>
              <a:rPr kumimoji="1" lang="en-US" altLang="ja-JP" sz="2000" dirty="0">
                <a:latin typeface="メイリオ" panose="020B0604030504040204" pitchFamily="50" charset="-128"/>
                <a:ea typeface="メイリオ" panose="020B0604030504040204" pitchFamily="50" charset="-128"/>
              </a:rPr>
              <a:t>	……………………</a:t>
            </a:r>
          </a:p>
          <a:p>
            <a:endParaRPr kumimoji="1" lang="en-US" altLang="ja-JP" sz="1200" dirty="0">
              <a:latin typeface="メイリオ" panose="020B0604030504040204" pitchFamily="50" charset="-128"/>
              <a:ea typeface="メイリオ" panose="020B0604030504040204" pitchFamily="50" charset="-128"/>
            </a:endParaRPr>
          </a:p>
          <a:p>
            <a:endParaRPr kumimoji="1" lang="en-US" altLang="ja-JP" sz="2000" dirty="0">
              <a:latin typeface="メイリオ" panose="020B0604030504040204" pitchFamily="50" charset="-128"/>
              <a:ea typeface="メイリオ" panose="020B0604030504040204" pitchFamily="50" charset="-128"/>
            </a:endParaRPr>
          </a:p>
          <a:p>
            <a:r>
              <a:rPr kumimoji="1" lang="en-US" altLang="ja-JP" sz="2000" dirty="0">
                <a:latin typeface="メイリオ" panose="020B0604030504040204" pitchFamily="50" charset="-128"/>
                <a:ea typeface="メイリオ" panose="020B0604030504040204" pitchFamily="50" charset="-128"/>
              </a:rPr>
              <a:t>      [4.6,3.1,1.5,0.2]</a:t>
            </a:r>
          </a:p>
          <a:p>
            <a:r>
              <a:rPr kumimoji="1" lang="en-US" altLang="ja-JP" sz="2000" dirty="0">
                <a:latin typeface="メイリオ" panose="020B0604030504040204" pitchFamily="50" charset="-128"/>
                <a:ea typeface="メイリオ" panose="020B0604030504040204" pitchFamily="50" charset="-128"/>
              </a:rPr>
              <a:t>      [5.0,3.6,1.4,0.2]  ]</a:t>
            </a:r>
            <a:endParaRPr lang="ja-JP" altLang="en-US" sz="2000" dirty="0"/>
          </a:p>
        </p:txBody>
      </p:sp>
      <p:sp>
        <p:nvSpPr>
          <p:cNvPr id="10" name="四角形: 角を丸くする 9">
            <a:extLst>
              <a:ext uri="{FF2B5EF4-FFF2-40B4-BE49-F238E27FC236}">
                <a16:creationId xmlns:a16="http://schemas.microsoft.com/office/drawing/2014/main" id="{76AA6E44-5889-4149-8F73-A100D57EF633}"/>
              </a:ext>
            </a:extLst>
          </p:cNvPr>
          <p:cNvSpPr/>
          <p:nvPr/>
        </p:nvSpPr>
        <p:spPr>
          <a:xfrm>
            <a:off x="1358966" y="3429989"/>
            <a:ext cx="4572000" cy="1320935"/>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5FCAFAF8-68BA-4507-8D33-0DBEE1A50C32}"/>
              </a:ext>
            </a:extLst>
          </p:cNvPr>
          <p:cNvSpPr/>
          <p:nvPr/>
        </p:nvSpPr>
        <p:spPr>
          <a:xfrm>
            <a:off x="1298840" y="5182556"/>
            <a:ext cx="4572000" cy="67886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矢印: 右 11">
            <a:extLst>
              <a:ext uri="{FF2B5EF4-FFF2-40B4-BE49-F238E27FC236}">
                <a16:creationId xmlns:a16="http://schemas.microsoft.com/office/drawing/2014/main" id="{9677817A-B81D-4B6B-8369-E23519D39812}"/>
              </a:ext>
            </a:extLst>
          </p:cNvPr>
          <p:cNvSpPr/>
          <p:nvPr/>
        </p:nvSpPr>
        <p:spPr>
          <a:xfrm>
            <a:off x="6017999" y="3818166"/>
            <a:ext cx="367641" cy="75954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矢印: 右 12">
            <a:extLst>
              <a:ext uri="{FF2B5EF4-FFF2-40B4-BE49-F238E27FC236}">
                <a16:creationId xmlns:a16="http://schemas.microsoft.com/office/drawing/2014/main" id="{9C603F60-3A8C-4C3B-B9C7-3C89A8D74C08}"/>
              </a:ext>
            </a:extLst>
          </p:cNvPr>
          <p:cNvSpPr/>
          <p:nvPr/>
        </p:nvSpPr>
        <p:spPr>
          <a:xfrm>
            <a:off x="5998317" y="5163085"/>
            <a:ext cx="367641" cy="75954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B70DBD59-78C5-4B7D-98A4-294DF4687E0F}"/>
              </a:ext>
            </a:extLst>
          </p:cNvPr>
          <p:cNvSpPr txBox="1"/>
          <p:nvPr/>
        </p:nvSpPr>
        <p:spPr>
          <a:xfrm>
            <a:off x="6446625" y="3967105"/>
            <a:ext cx="2526654" cy="830997"/>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訓練データ </a:t>
            </a:r>
            <a:r>
              <a:rPr kumimoji="1" lang="en-US" altLang="ja-JP" sz="2400" dirty="0">
                <a:latin typeface="メイリオ" panose="020B0604030504040204" pitchFamily="50" charset="-128"/>
                <a:ea typeface="メイリオ" panose="020B0604030504040204" pitchFamily="50" charset="-128"/>
              </a:rPr>
              <a:t>75%</a:t>
            </a:r>
          </a:p>
          <a:p>
            <a:pPr algn="l"/>
            <a:r>
              <a:rPr kumimoji="1" lang="ja-JP" altLang="en-US" sz="2400" dirty="0">
                <a:latin typeface="メイリオ" panose="020B0604030504040204" pitchFamily="50" charset="-128"/>
                <a:ea typeface="メイリオ" panose="020B0604030504040204" pitchFamily="50" charset="-128"/>
              </a:rPr>
              <a:t>（訓練セット）</a:t>
            </a:r>
          </a:p>
        </p:txBody>
      </p:sp>
      <p:sp>
        <p:nvSpPr>
          <p:cNvPr id="15" name="テキスト ボックス 14">
            <a:extLst>
              <a:ext uri="{FF2B5EF4-FFF2-40B4-BE49-F238E27FC236}">
                <a16:creationId xmlns:a16="http://schemas.microsoft.com/office/drawing/2014/main" id="{0124C6C1-56A6-4740-8FDE-BF0B49045610}"/>
              </a:ext>
            </a:extLst>
          </p:cNvPr>
          <p:cNvSpPr txBox="1"/>
          <p:nvPr/>
        </p:nvSpPr>
        <p:spPr>
          <a:xfrm>
            <a:off x="6399459" y="5264177"/>
            <a:ext cx="3156154" cy="1077218"/>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テストデータ </a:t>
            </a:r>
            <a:r>
              <a:rPr kumimoji="1" lang="en-US" altLang="ja-JP" sz="2400" dirty="0">
                <a:latin typeface="メイリオ" panose="020B0604030504040204" pitchFamily="50" charset="-128"/>
                <a:ea typeface="メイリオ" panose="020B0604030504040204" pitchFamily="50" charset="-128"/>
              </a:rPr>
              <a:t>25%</a:t>
            </a:r>
          </a:p>
          <a:p>
            <a:pPr algn="l"/>
            <a:r>
              <a:rPr kumimoji="1" lang="ja-JP" altLang="en-US" sz="2000" dirty="0">
                <a:latin typeface="メイリオ" panose="020B0604030504040204" pitchFamily="50" charset="-128"/>
                <a:ea typeface="メイリオ" panose="020B0604030504040204" pitchFamily="50" charset="-128"/>
              </a:rPr>
              <a:t>（テストセット、ホールドアウトセット）</a:t>
            </a:r>
          </a:p>
        </p:txBody>
      </p:sp>
      <p:sp>
        <p:nvSpPr>
          <p:cNvPr id="17" name="テキスト ボックス 16">
            <a:extLst>
              <a:ext uri="{FF2B5EF4-FFF2-40B4-BE49-F238E27FC236}">
                <a16:creationId xmlns:a16="http://schemas.microsoft.com/office/drawing/2014/main" id="{D646BB55-06F1-484D-809E-A0B7753B2A67}"/>
              </a:ext>
            </a:extLst>
          </p:cNvPr>
          <p:cNvSpPr txBox="1"/>
          <p:nvPr/>
        </p:nvSpPr>
        <p:spPr>
          <a:xfrm>
            <a:off x="779288" y="1593823"/>
            <a:ext cx="9858467" cy="830997"/>
          </a:xfrm>
          <a:prstGeom prst="rect">
            <a:avLst/>
          </a:prstGeom>
          <a:noFill/>
        </p:spPr>
        <p:txBody>
          <a:bodyPr wrap="square" rtlCol="0">
            <a:spAutoFit/>
          </a:bodyPr>
          <a:lstStyle/>
          <a:p>
            <a:r>
              <a:rPr kumimoji="1" lang="en-US" altLang="ja-JP" sz="2400" dirty="0" err="1">
                <a:latin typeface="メイリオ" panose="020B0604030504040204" pitchFamily="50" charset="-128"/>
                <a:ea typeface="メイリオ" panose="020B0604030504040204" pitchFamily="50" charset="-128"/>
              </a:rPr>
              <a:t>X_train</a:t>
            </a:r>
            <a:r>
              <a:rPr kumimoji="1" lang="en-US" altLang="ja-JP" sz="2400" dirty="0">
                <a:latin typeface="メイリオ" panose="020B0604030504040204" pitchFamily="50" charset="-128"/>
                <a:ea typeface="メイリオ" panose="020B0604030504040204" pitchFamily="50" charset="-128"/>
              </a:rPr>
              <a:t>, </a:t>
            </a:r>
            <a:r>
              <a:rPr kumimoji="1" lang="en-US" altLang="ja-JP" sz="2400" dirty="0" err="1">
                <a:latin typeface="メイリオ" panose="020B0604030504040204" pitchFamily="50" charset="-128"/>
                <a:ea typeface="メイリオ" panose="020B0604030504040204" pitchFamily="50" charset="-128"/>
              </a:rPr>
              <a:t>X_test</a:t>
            </a:r>
            <a:r>
              <a:rPr kumimoji="1" lang="en-US" altLang="ja-JP" sz="2400" dirty="0">
                <a:latin typeface="メイリオ" panose="020B0604030504040204" pitchFamily="50" charset="-128"/>
                <a:ea typeface="メイリオ" panose="020B0604030504040204" pitchFamily="50" charset="-128"/>
              </a:rPr>
              <a:t>, </a:t>
            </a:r>
            <a:r>
              <a:rPr kumimoji="1" lang="en-US" altLang="ja-JP" sz="2400" dirty="0" err="1">
                <a:latin typeface="メイリオ" panose="020B0604030504040204" pitchFamily="50" charset="-128"/>
                <a:ea typeface="メイリオ" panose="020B0604030504040204" pitchFamily="50" charset="-128"/>
              </a:rPr>
              <a:t>y_train</a:t>
            </a:r>
            <a:r>
              <a:rPr kumimoji="1" lang="en-US" altLang="ja-JP" sz="2400" dirty="0">
                <a:latin typeface="メイリオ" panose="020B0604030504040204" pitchFamily="50" charset="-128"/>
                <a:ea typeface="メイリオ" panose="020B0604030504040204" pitchFamily="50" charset="-128"/>
              </a:rPr>
              <a:t>, </a:t>
            </a:r>
            <a:r>
              <a:rPr kumimoji="1" lang="en-US" altLang="ja-JP" sz="2400" dirty="0" err="1">
                <a:latin typeface="メイリオ" panose="020B0604030504040204" pitchFamily="50" charset="-128"/>
                <a:ea typeface="メイリオ" panose="020B0604030504040204" pitchFamily="50" charset="-128"/>
              </a:rPr>
              <a:t>y_test</a:t>
            </a:r>
            <a:endParaRPr kumimoji="1" lang="en-US" altLang="ja-JP" sz="2400" dirty="0">
              <a:latin typeface="メイリオ" panose="020B0604030504040204" pitchFamily="50" charset="-128"/>
              <a:ea typeface="メイリオ" panose="020B0604030504040204" pitchFamily="50" charset="-128"/>
            </a:endParaRPr>
          </a:p>
          <a:p>
            <a:r>
              <a:rPr kumimoji="1" lang="en-US" altLang="ja-JP" sz="2400" dirty="0">
                <a:latin typeface="メイリオ" panose="020B0604030504040204" pitchFamily="50" charset="-128"/>
                <a:ea typeface="メイリオ" panose="020B0604030504040204" pitchFamily="50" charset="-128"/>
              </a:rPr>
              <a:t> =</a:t>
            </a:r>
            <a:r>
              <a:rPr kumimoji="1" lang="en-US" altLang="ja-JP" sz="2400" dirty="0" err="1">
                <a:latin typeface="メイリオ" panose="020B0604030504040204" pitchFamily="50" charset="-128"/>
                <a:ea typeface="メイリオ" panose="020B0604030504040204" pitchFamily="50" charset="-128"/>
              </a:rPr>
              <a:t>train_test_split</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特徴量</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教師ラベル</a:t>
            </a:r>
            <a:r>
              <a:rPr kumimoji="1" lang="en-US" altLang="ja-JP" sz="2400" dirty="0">
                <a:latin typeface="メイリオ" panose="020B0604030504040204" pitchFamily="50" charset="-128"/>
                <a:ea typeface="メイリオ" panose="020B0604030504040204" pitchFamily="50" charset="-128"/>
              </a:rPr>
              <a:t>,</a:t>
            </a:r>
            <a:r>
              <a:rPr kumimoji="1" lang="en-US" altLang="ja-JP" sz="2400" dirty="0" err="1">
                <a:latin typeface="メイリオ" panose="020B0604030504040204" pitchFamily="50" charset="-128"/>
                <a:ea typeface="メイリオ" panose="020B0604030504040204" pitchFamily="50" charset="-128"/>
              </a:rPr>
              <a:t>random_state</a:t>
            </a:r>
            <a:r>
              <a:rPr kumimoji="1" lang="en-US" altLang="ja-JP" sz="2400" dirty="0">
                <a:latin typeface="メイリオ" panose="020B0604030504040204" pitchFamily="50" charset="-128"/>
                <a:ea typeface="メイリオ" panose="020B0604030504040204" pitchFamily="50" charset="-128"/>
              </a:rPr>
              <a:t>=0)</a:t>
            </a:r>
            <a:endParaRPr kumimoji="1" lang="ja-JP" altLang="en-US" sz="2400" dirty="0">
              <a:latin typeface="メイリオ" panose="020B0604030504040204" pitchFamily="50" charset="-128"/>
              <a:ea typeface="メイリオ" panose="020B0604030504040204" pitchFamily="50" charset="-128"/>
            </a:endParaRPr>
          </a:p>
        </p:txBody>
      </p:sp>
      <p:sp>
        <p:nvSpPr>
          <p:cNvPr id="2" name="テキスト ボックス 1">
            <a:extLst>
              <a:ext uri="{FF2B5EF4-FFF2-40B4-BE49-F238E27FC236}">
                <a16:creationId xmlns:a16="http://schemas.microsoft.com/office/drawing/2014/main" id="{36E4E164-9495-41BD-BE38-437EA577118B}"/>
              </a:ext>
            </a:extLst>
          </p:cNvPr>
          <p:cNvSpPr txBox="1"/>
          <p:nvPr/>
        </p:nvSpPr>
        <p:spPr>
          <a:xfrm>
            <a:off x="1610413" y="3076475"/>
            <a:ext cx="1062663" cy="400110"/>
          </a:xfrm>
          <a:prstGeom prst="rect">
            <a:avLst/>
          </a:prstGeom>
          <a:noFill/>
        </p:spPr>
        <p:txBody>
          <a:bodyPr wrap="none" rtlCol="0">
            <a:spAutoFit/>
          </a:bodyPr>
          <a:lstStyle/>
          <a:p>
            <a:pPr algn="l"/>
            <a:r>
              <a:rPr kumimoji="1" lang="en-US" altLang="ja-JP" sz="2000" dirty="0" err="1">
                <a:latin typeface="メイリオ" panose="020B0604030504040204" pitchFamily="50" charset="-128"/>
                <a:ea typeface="メイリオ" panose="020B0604030504040204" pitchFamily="50" charset="-128"/>
              </a:rPr>
              <a:t>y_train</a:t>
            </a:r>
            <a:endParaRPr kumimoji="1" lang="ja-JP" altLang="en-US" sz="2000"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DBF814B9-083C-47D8-B67C-BDB5F352616C}"/>
              </a:ext>
            </a:extLst>
          </p:cNvPr>
          <p:cNvSpPr txBox="1"/>
          <p:nvPr/>
        </p:nvSpPr>
        <p:spPr>
          <a:xfrm>
            <a:off x="3507894" y="3076475"/>
            <a:ext cx="1088311" cy="400110"/>
          </a:xfrm>
          <a:prstGeom prst="rect">
            <a:avLst/>
          </a:prstGeom>
          <a:noFill/>
        </p:spPr>
        <p:txBody>
          <a:bodyPr wrap="none" rtlCol="0">
            <a:spAutoFit/>
          </a:bodyPr>
          <a:lstStyle/>
          <a:p>
            <a:pPr algn="l"/>
            <a:r>
              <a:rPr kumimoji="1" lang="en-US" altLang="ja-JP" sz="2000" dirty="0" err="1">
                <a:latin typeface="メイリオ" panose="020B0604030504040204" pitchFamily="50" charset="-128"/>
                <a:ea typeface="メイリオ" panose="020B0604030504040204" pitchFamily="50" charset="-128"/>
              </a:rPr>
              <a:t>X_train</a:t>
            </a:r>
            <a:endParaRPr kumimoji="1" lang="ja-JP" altLang="en-US" sz="2000"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BE6AE30F-4F71-4138-8AF2-509FB777C7F5}"/>
              </a:ext>
            </a:extLst>
          </p:cNvPr>
          <p:cNvSpPr txBox="1"/>
          <p:nvPr/>
        </p:nvSpPr>
        <p:spPr>
          <a:xfrm>
            <a:off x="1640747" y="4812250"/>
            <a:ext cx="960519" cy="400110"/>
          </a:xfrm>
          <a:prstGeom prst="rect">
            <a:avLst/>
          </a:prstGeom>
          <a:solidFill>
            <a:srgbClr val="FFFFFF"/>
          </a:solidFill>
        </p:spPr>
        <p:txBody>
          <a:bodyPr wrap="none" rtlCol="0">
            <a:spAutoFit/>
          </a:bodyPr>
          <a:lstStyle/>
          <a:p>
            <a:pPr algn="l"/>
            <a:r>
              <a:rPr kumimoji="1" lang="en-US" altLang="ja-JP" sz="2000" dirty="0" err="1">
                <a:solidFill>
                  <a:srgbClr val="FF0000"/>
                </a:solidFill>
                <a:latin typeface="メイリオ" panose="020B0604030504040204" pitchFamily="50" charset="-128"/>
                <a:ea typeface="メイリオ" panose="020B0604030504040204" pitchFamily="50" charset="-128"/>
              </a:rPr>
              <a:t>y_test</a:t>
            </a:r>
            <a:endParaRPr kumimoji="1" lang="ja-JP" altLang="en-US" sz="2000" dirty="0">
              <a:solidFill>
                <a:srgbClr val="FF0000"/>
              </a:solidFill>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711E573B-59EF-4280-9EC2-8B3B47113BE1}"/>
              </a:ext>
            </a:extLst>
          </p:cNvPr>
          <p:cNvSpPr txBox="1"/>
          <p:nvPr/>
        </p:nvSpPr>
        <p:spPr>
          <a:xfrm>
            <a:off x="3538228" y="4812250"/>
            <a:ext cx="986167" cy="400110"/>
          </a:xfrm>
          <a:prstGeom prst="rect">
            <a:avLst/>
          </a:prstGeom>
          <a:noFill/>
        </p:spPr>
        <p:txBody>
          <a:bodyPr wrap="none" rtlCol="0">
            <a:spAutoFit/>
          </a:bodyPr>
          <a:lstStyle/>
          <a:p>
            <a:pPr algn="l"/>
            <a:r>
              <a:rPr kumimoji="1" lang="en-US" altLang="ja-JP" sz="2000" dirty="0" err="1">
                <a:latin typeface="メイリオ" panose="020B0604030504040204" pitchFamily="50" charset="-128"/>
                <a:ea typeface="メイリオ" panose="020B0604030504040204" pitchFamily="50" charset="-128"/>
              </a:rPr>
              <a:t>X_test</a:t>
            </a:r>
            <a:endParaRPr kumimoji="1" lang="ja-JP" altLang="en-US" sz="2000" dirty="0">
              <a:latin typeface="メイリオ" panose="020B0604030504040204" pitchFamily="50" charset="-128"/>
              <a:ea typeface="メイリオ" panose="020B0604030504040204" pitchFamily="50" charset="-128"/>
            </a:endParaRPr>
          </a:p>
        </p:txBody>
      </p:sp>
      <p:sp>
        <p:nvSpPr>
          <p:cNvPr id="5" name="吹き出し: 四角形 4">
            <a:extLst>
              <a:ext uri="{FF2B5EF4-FFF2-40B4-BE49-F238E27FC236}">
                <a16:creationId xmlns:a16="http://schemas.microsoft.com/office/drawing/2014/main" id="{92C01BDB-ACD5-D081-40EB-1A3A0267312E}"/>
              </a:ext>
            </a:extLst>
          </p:cNvPr>
          <p:cNvSpPr/>
          <p:nvPr/>
        </p:nvSpPr>
        <p:spPr>
          <a:xfrm>
            <a:off x="4524395" y="1593823"/>
            <a:ext cx="1103642" cy="390816"/>
          </a:xfrm>
          <a:prstGeom prst="wedgeRectCallout">
            <a:avLst>
              <a:gd name="adj1" fmla="val 81076"/>
              <a:gd name="adj2" fmla="val -63845"/>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4E859767-315F-AF3B-214B-4D0D29EBABFF}"/>
              </a:ext>
            </a:extLst>
          </p:cNvPr>
          <p:cNvSpPr txBox="1"/>
          <p:nvPr/>
        </p:nvSpPr>
        <p:spPr>
          <a:xfrm>
            <a:off x="5998317" y="1362990"/>
            <a:ext cx="2646878" cy="461665"/>
          </a:xfrm>
          <a:prstGeom prst="rect">
            <a:avLst/>
          </a:prstGeom>
          <a:noFill/>
        </p:spPr>
        <p:txBody>
          <a:bodyPr wrap="none" rtlCol="0">
            <a:spAutoFit/>
          </a:bodyPr>
          <a:lstStyle/>
          <a:p>
            <a:pPr algn="l"/>
            <a:r>
              <a:rPr kumimoji="1" lang="ja-JP" altLang="en-US" sz="2400" b="1" i="1" dirty="0">
                <a:latin typeface="メイリオ" panose="020B0604030504040204" pitchFamily="50" charset="-128"/>
                <a:ea typeface="メイリオ" panose="020B0604030504040204" pitchFamily="50" charset="-128"/>
              </a:rPr>
              <a:t>予測だけなら不要</a:t>
            </a:r>
          </a:p>
        </p:txBody>
      </p:sp>
    </p:spTree>
    <p:extLst>
      <p:ext uri="{BB962C8B-B14F-4D97-AF65-F5344CB8AC3E}">
        <p14:creationId xmlns:p14="http://schemas.microsoft.com/office/powerpoint/2010/main" val="36758981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19D4C3C-F3B9-4942-AD12-223831D2F8D8}"/>
              </a:ext>
            </a:extLst>
          </p:cNvPr>
          <p:cNvSpPr txBox="1"/>
          <p:nvPr/>
        </p:nvSpPr>
        <p:spPr>
          <a:xfrm>
            <a:off x="471442" y="209297"/>
            <a:ext cx="9225602" cy="1077218"/>
          </a:xfrm>
          <a:prstGeom prst="rect">
            <a:avLst/>
          </a:prstGeom>
          <a:noFill/>
        </p:spPr>
        <p:txBody>
          <a:bodyPr wrap="square" rtlCol="0">
            <a:spAutoFit/>
          </a:bodyPr>
          <a:lstStyle/>
          <a:p>
            <a:pPr algn="l"/>
            <a:r>
              <a:rPr kumimoji="1" lang="ja-JP" altLang="en-US" sz="3200" b="1" dirty="0">
                <a:latin typeface="メイリオ" panose="020B0604030504040204" pitchFamily="50" charset="-128"/>
                <a:ea typeface="メイリオ" panose="020B0604030504040204" pitchFamily="50" charset="-128"/>
              </a:rPr>
              <a:t>テストデータの教師ラベル</a:t>
            </a:r>
            <a:r>
              <a:rPr kumimoji="1" lang="en-US" altLang="ja-JP" sz="3200" b="1" dirty="0">
                <a:latin typeface="メイリオ" panose="020B0604030504040204" pitchFamily="50" charset="-128"/>
                <a:ea typeface="メイリオ" panose="020B0604030504040204" pitchFamily="50" charset="-128"/>
              </a:rPr>
              <a:t>(</a:t>
            </a:r>
            <a:r>
              <a:rPr kumimoji="1" lang="en-US" altLang="ja-JP" sz="3200" b="1" dirty="0" err="1">
                <a:latin typeface="メイリオ" panose="020B0604030504040204" pitchFamily="50" charset="-128"/>
                <a:ea typeface="メイリオ" panose="020B0604030504040204" pitchFamily="50" charset="-128"/>
              </a:rPr>
              <a:t>y_test</a:t>
            </a:r>
            <a:r>
              <a:rPr kumimoji="1" lang="en-US" altLang="ja-JP" sz="3200" b="1" dirty="0">
                <a:latin typeface="メイリオ" panose="020B0604030504040204" pitchFamily="50" charset="-128"/>
                <a:ea typeface="メイリオ" panose="020B0604030504040204" pitchFamily="50" charset="-128"/>
              </a:rPr>
              <a:t>)</a:t>
            </a:r>
            <a:r>
              <a:rPr kumimoji="1" lang="ja-JP" altLang="en-US" sz="3200" b="1" dirty="0">
                <a:latin typeface="メイリオ" panose="020B0604030504040204" pitchFamily="50" charset="-128"/>
                <a:ea typeface="メイリオ" panose="020B0604030504040204" pitchFamily="50" charset="-128"/>
              </a:rPr>
              <a:t>をもとに正解率（精度）を計算する</a:t>
            </a:r>
          </a:p>
        </p:txBody>
      </p:sp>
      <p:graphicFrame>
        <p:nvGraphicFramePr>
          <p:cNvPr id="3" name="表 2">
            <a:extLst>
              <a:ext uri="{FF2B5EF4-FFF2-40B4-BE49-F238E27FC236}">
                <a16:creationId xmlns:a16="http://schemas.microsoft.com/office/drawing/2014/main" id="{E39EAF7A-6BD4-4B5C-AC6E-53812DF2D38A}"/>
              </a:ext>
            </a:extLst>
          </p:cNvPr>
          <p:cNvGraphicFramePr>
            <a:graphicFrameLocks noGrp="1"/>
          </p:cNvGraphicFramePr>
          <p:nvPr/>
        </p:nvGraphicFramePr>
        <p:xfrm>
          <a:off x="4301536" y="1774137"/>
          <a:ext cx="3333136" cy="2286000"/>
        </p:xfrm>
        <a:graphic>
          <a:graphicData uri="http://schemas.openxmlformats.org/drawingml/2006/table">
            <a:tbl>
              <a:tblPr firstRow="1" bandRow="1">
                <a:tableStyleId>{5940675A-B579-460E-94D1-54222C63F5DA}</a:tableStyleId>
              </a:tblPr>
              <a:tblGrid>
                <a:gridCol w="1666568">
                  <a:extLst>
                    <a:ext uri="{9D8B030D-6E8A-4147-A177-3AD203B41FA5}">
                      <a16:colId xmlns:a16="http://schemas.microsoft.com/office/drawing/2014/main" val="486279813"/>
                    </a:ext>
                  </a:extLst>
                </a:gridCol>
                <a:gridCol w="1666568">
                  <a:extLst>
                    <a:ext uri="{9D8B030D-6E8A-4147-A177-3AD203B41FA5}">
                      <a16:colId xmlns:a16="http://schemas.microsoft.com/office/drawing/2014/main" val="80849634"/>
                    </a:ext>
                  </a:extLst>
                </a:gridCol>
              </a:tblGrid>
              <a:tr h="370840">
                <a:tc>
                  <a:txBody>
                    <a:bodyPr/>
                    <a:lstStyle/>
                    <a:p>
                      <a:pPr algn="ctr"/>
                      <a:r>
                        <a:rPr kumimoji="1" lang="en-US" altLang="ja-JP" sz="2400" dirty="0"/>
                        <a:t>prediction</a:t>
                      </a:r>
                      <a:endParaRPr kumimoji="1" lang="ja-JP" altLang="en-US" sz="2400" dirty="0"/>
                    </a:p>
                  </a:txBody>
                  <a:tcPr/>
                </a:tc>
                <a:tc>
                  <a:txBody>
                    <a:bodyPr/>
                    <a:lstStyle/>
                    <a:p>
                      <a:pPr algn="ctr"/>
                      <a:r>
                        <a:rPr kumimoji="1" lang="en-US" altLang="ja-JP" sz="2400" dirty="0" err="1"/>
                        <a:t>y_test</a:t>
                      </a:r>
                      <a:endParaRPr kumimoji="1" lang="ja-JP" altLang="en-US" sz="2400" dirty="0"/>
                    </a:p>
                  </a:txBody>
                  <a:tcPr/>
                </a:tc>
                <a:extLst>
                  <a:ext uri="{0D108BD9-81ED-4DB2-BD59-A6C34878D82A}">
                    <a16:rowId xmlns:a16="http://schemas.microsoft.com/office/drawing/2014/main" val="3834646976"/>
                  </a:ext>
                </a:extLst>
              </a:tr>
              <a:tr h="370840">
                <a:tc>
                  <a:txBody>
                    <a:bodyPr/>
                    <a:lstStyle/>
                    <a:p>
                      <a:pPr algn="ctr"/>
                      <a:r>
                        <a:rPr kumimoji="1" lang="en-US" altLang="ja-JP" sz="2400" dirty="0"/>
                        <a:t>0</a:t>
                      </a:r>
                      <a:endParaRPr kumimoji="1" lang="ja-JP" altLang="en-US" sz="2400" dirty="0"/>
                    </a:p>
                  </a:txBody>
                  <a:tcPr/>
                </a:tc>
                <a:tc>
                  <a:txBody>
                    <a:bodyPr/>
                    <a:lstStyle/>
                    <a:p>
                      <a:pPr algn="ctr"/>
                      <a:r>
                        <a:rPr kumimoji="1" lang="en-US" altLang="ja-JP" sz="2400" dirty="0"/>
                        <a:t>0</a:t>
                      </a:r>
                      <a:endParaRPr kumimoji="1" lang="ja-JP" altLang="en-US" sz="2400" dirty="0"/>
                    </a:p>
                  </a:txBody>
                  <a:tcPr/>
                </a:tc>
                <a:extLst>
                  <a:ext uri="{0D108BD9-81ED-4DB2-BD59-A6C34878D82A}">
                    <a16:rowId xmlns:a16="http://schemas.microsoft.com/office/drawing/2014/main" val="1319762480"/>
                  </a:ext>
                </a:extLst>
              </a:tr>
              <a:tr h="370840">
                <a:tc>
                  <a:txBody>
                    <a:bodyPr/>
                    <a:lstStyle/>
                    <a:p>
                      <a:pPr algn="ctr"/>
                      <a:r>
                        <a:rPr kumimoji="1" lang="en-US" altLang="ja-JP" sz="2400" dirty="0"/>
                        <a:t>1</a:t>
                      </a:r>
                      <a:endParaRPr kumimoji="1" lang="ja-JP" altLang="en-US" sz="2400" dirty="0"/>
                    </a:p>
                  </a:txBody>
                  <a:tcPr/>
                </a:tc>
                <a:tc>
                  <a:txBody>
                    <a:bodyPr/>
                    <a:lstStyle/>
                    <a:p>
                      <a:pPr algn="ctr"/>
                      <a:r>
                        <a:rPr kumimoji="1" lang="en-US" altLang="ja-JP" sz="2400" dirty="0"/>
                        <a:t>0</a:t>
                      </a:r>
                      <a:endParaRPr kumimoji="1" lang="ja-JP" altLang="en-US" sz="2400" dirty="0"/>
                    </a:p>
                  </a:txBody>
                  <a:tcPr/>
                </a:tc>
                <a:extLst>
                  <a:ext uri="{0D108BD9-81ED-4DB2-BD59-A6C34878D82A}">
                    <a16:rowId xmlns:a16="http://schemas.microsoft.com/office/drawing/2014/main" val="3531587158"/>
                  </a:ext>
                </a:extLst>
              </a:tr>
              <a:tr h="370840">
                <a:tc>
                  <a:txBody>
                    <a:bodyPr/>
                    <a:lstStyle/>
                    <a:p>
                      <a:pPr algn="ctr"/>
                      <a:r>
                        <a:rPr kumimoji="1" lang="en-US" altLang="ja-JP" sz="2400" dirty="0"/>
                        <a:t>2</a:t>
                      </a:r>
                      <a:endParaRPr kumimoji="1" lang="ja-JP" altLang="en-US" sz="2400" dirty="0"/>
                    </a:p>
                  </a:txBody>
                  <a:tcPr/>
                </a:tc>
                <a:tc>
                  <a:txBody>
                    <a:bodyPr/>
                    <a:lstStyle/>
                    <a:p>
                      <a:pPr algn="ctr"/>
                      <a:r>
                        <a:rPr kumimoji="1" lang="en-US" altLang="ja-JP" sz="2400" dirty="0"/>
                        <a:t>2</a:t>
                      </a:r>
                      <a:endParaRPr kumimoji="1" lang="ja-JP" altLang="en-US" sz="2400" dirty="0"/>
                    </a:p>
                  </a:txBody>
                  <a:tcPr/>
                </a:tc>
                <a:extLst>
                  <a:ext uri="{0D108BD9-81ED-4DB2-BD59-A6C34878D82A}">
                    <a16:rowId xmlns:a16="http://schemas.microsoft.com/office/drawing/2014/main" val="227448100"/>
                  </a:ext>
                </a:extLst>
              </a:tr>
              <a:tr h="370840">
                <a:tc>
                  <a:txBody>
                    <a:bodyPr/>
                    <a:lstStyle/>
                    <a:p>
                      <a:pPr algn="ctr"/>
                      <a:r>
                        <a:rPr kumimoji="1" lang="en-US" altLang="ja-JP" sz="2400" dirty="0"/>
                        <a:t>1</a:t>
                      </a:r>
                      <a:endParaRPr kumimoji="1" lang="ja-JP" altLang="en-US" sz="2400" dirty="0"/>
                    </a:p>
                  </a:txBody>
                  <a:tcPr/>
                </a:tc>
                <a:tc>
                  <a:txBody>
                    <a:bodyPr/>
                    <a:lstStyle/>
                    <a:p>
                      <a:pPr algn="ctr"/>
                      <a:r>
                        <a:rPr kumimoji="1" lang="en-US" altLang="ja-JP" sz="2400" dirty="0"/>
                        <a:t>1</a:t>
                      </a:r>
                      <a:endParaRPr kumimoji="1" lang="ja-JP" altLang="en-US" sz="2400" dirty="0"/>
                    </a:p>
                  </a:txBody>
                  <a:tcPr/>
                </a:tc>
                <a:extLst>
                  <a:ext uri="{0D108BD9-81ED-4DB2-BD59-A6C34878D82A}">
                    <a16:rowId xmlns:a16="http://schemas.microsoft.com/office/drawing/2014/main" val="285963233"/>
                  </a:ext>
                </a:extLst>
              </a:tr>
            </a:tbl>
          </a:graphicData>
        </a:graphic>
      </p:graphicFrame>
      <p:sp>
        <p:nvSpPr>
          <p:cNvPr id="4" name="テキスト ボックス 3">
            <a:extLst>
              <a:ext uri="{FF2B5EF4-FFF2-40B4-BE49-F238E27FC236}">
                <a16:creationId xmlns:a16="http://schemas.microsoft.com/office/drawing/2014/main" id="{E6D7C9ED-5A51-45C2-9C92-2409807A6F66}"/>
              </a:ext>
            </a:extLst>
          </p:cNvPr>
          <p:cNvSpPr txBox="1"/>
          <p:nvPr/>
        </p:nvSpPr>
        <p:spPr>
          <a:xfrm>
            <a:off x="3378589" y="1286515"/>
            <a:ext cx="504497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prediction = </a:t>
            </a:r>
            <a:r>
              <a:rPr kumimoji="1" lang="en-US" altLang="ja-JP" sz="2400" dirty="0" err="1">
                <a:latin typeface="メイリオ" panose="020B0604030504040204" pitchFamily="50" charset="-128"/>
                <a:ea typeface="メイリオ" panose="020B0604030504040204" pitchFamily="50" charset="-128"/>
              </a:rPr>
              <a:t>knn.predict</a:t>
            </a:r>
            <a:r>
              <a:rPr kumimoji="1" lang="en-US" altLang="ja-JP" sz="2400" dirty="0">
                <a:latin typeface="メイリオ" panose="020B0604030504040204" pitchFamily="50" charset="-128"/>
                <a:ea typeface="メイリオ" panose="020B0604030504040204" pitchFamily="50" charset="-128"/>
              </a:rPr>
              <a:t>(</a:t>
            </a:r>
            <a:r>
              <a:rPr kumimoji="1" lang="en-US" altLang="ja-JP" sz="2400" dirty="0" err="1">
                <a:latin typeface="メイリオ" panose="020B0604030504040204" pitchFamily="50" charset="-128"/>
                <a:ea typeface="メイリオ" panose="020B0604030504040204" pitchFamily="50" charset="-128"/>
              </a:rPr>
              <a:t>X_test</a:t>
            </a:r>
            <a:r>
              <a:rPr kumimoji="1" lang="en-US" altLang="ja-JP" sz="2400" dirty="0">
                <a:latin typeface="メイリオ" panose="020B0604030504040204" pitchFamily="50" charset="-128"/>
                <a:ea typeface="メイリオ" panose="020B0604030504040204" pitchFamily="50" charset="-128"/>
              </a:rPr>
              <a:t>)</a:t>
            </a:r>
            <a:endParaRPr kumimoji="1" lang="ja-JP" altLang="en-US" sz="2400" dirty="0">
              <a:latin typeface="メイリオ" panose="020B0604030504040204" pitchFamily="50" charset="-128"/>
              <a:ea typeface="メイリオ" panose="020B0604030504040204" pitchFamily="50" charset="-128"/>
            </a:endParaRPr>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C1789357-46C5-4425-8CEA-EE41AA78A9C1}"/>
                  </a:ext>
                </a:extLst>
              </p:cNvPr>
              <p:cNvSpPr txBox="1"/>
              <p:nvPr/>
            </p:nvSpPr>
            <p:spPr>
              <a:xfrm>
                <a:off x="3768439" y="4245806"/>
                <a:ext cx="4918013" cy="782907"/>
              </a:xfrm>
              <a:prstGeom prst="rect">
                <a:avLst/>
              </a:prstGeom>
              <a:noFill/>
            </p:spPr>
            <p:txBody>
              <a:bodyPr wrap="none" lIns="0" tIns="0" rIns="0" bIns="0" rtlCol="0">
                <a:spAutoFit/>
              </a:bodyPr>
              <a:lstStyle/>
              <a:p>
                <a:pPr/>
                <a14:m>
                  <m:oMathPara xmlns:m="http://schemas.openxmlformats.org/officeDocument/2006/math">
                    <m:oMath>
                      <m:f>
                        <m:fPr>
                          <m:ctrlPr>
                            <a:rPr kumimoji="1" lang="en-US" altLang="ja-JP" sz="2400" b="0" i="0" smtClean="0">
                              <a:latin typeface="Cambria Math" panose="02040503050406030204" pitchFamily="18" charset="0"/>
                              <a:ea typeface="メイリオ" panose="020B0604030504040204" pitchFamily="50" charset="-128"/>
                            </a:rPr>
                          </m:ctrlPr>
                        </m:fPr>
                        <m:num>
                          <m:r>
                            <m:rPr>
                              <m:nor/>
                            </m:rPr>
                            <a:rPr kumimoji="1" lang="en-US" altLang="ja-JP" sz="2400" b="0" i="0" smtClean="0">
                              <a:latin typeface="Cambria Math" panose="02040503050406030204" pitchFamily="18" charset="0"/>
                              <a:ea typeface="メイリオ" panose="020B0604030504040204" pitchFamily="50" charset="-128"/>
                            </a:rPr>
                            <m:t>(</m:t>
                          </m:r>
                          <m:r>
                            <m:rPr>
                              <m:nor/>
                            </m:rPr>
                            <a:rPr kumimoji="1" lang="en-US" altLang="ja-JP" sz="2400" i="0" dirty="0">
                              <a:latin typeface="メイリオ" panose="020B0604030504040204" pitchFamily="50" charset="-128"/>
                              <a:ea typeface="メイリオ" panose="020B0604030504040204" pitchFamily="50" charset="-128"/>
                            </a:rPr>
                            <m:t>Prediction == y_test</m:t>
                          </m:r>
                          <m:r>
                            <m:rPr>
                              <m:nor/>
                            </m:rPr>
                            <a:rPr kumimoji="1" lang="en-US" altLang="ja-JP" sz="2400" b="0" i="0" dirty="0" smtClean="0">
                              <a:latin typeface="メイリオ" panose="020B0604030504040204" pitchFamily="50" charset="-128"/>
                              <a:ea typeface="メイリオ" panose="020B0604030504040204" pitchFamily="50" charset="-128"/>
                            </a:rPr>
                            <m:t>)</m:t>
                          </m:r>
                          <m:r>
                            <m:rPr>
                              <m:nor/>
                            </m:rPr>
                            <a:rPr kumimoji="1" lang="en-US" altLang="ja-JP" sz="2400" i="0" dirty="0">
                              <a:latin typeface="メイリオ" panose="020B0604030504040204" pitchFamily="50" charset="-128"/>
                              <a:ea typeface="メイリオ" panose="020B0604030504040204" pitchFamily="50" charset="-128"/>
                            </a:rPr>
                            <m:t> </m:t>
                          </m:r>
                          <m:r>
                            <m:rPr>
                              <m:nor/>
                            </m:rPr>
                            <a:rPr kumimoji="1" lang="ja-JP" altLang="en-US" sz="2400" i="0" dirty="0">
                              <a:latin typeface="メイリオ" panose="020B0604030504040204" pitchFamily="50" charset="-128"/>
                              <a:ea typeface="メイリオ" panose="020B0604030504040204" pitchFamily="50" charset="-128"/>
                            </a:rPr>
                            <m:t>である数 </m:t>
                          </m:r>
                        </m:num>
                        <m:den>
                          <m:r>
                            <a:rPr kumimoji="1" lang="ja-JP" altLang="en-US" sz="2400" i="1">
                              <a:latin typeface="Cambria Math" panose="02040503050406030204" pitchFamily="18" charset="0"/>
                              <a:ea typeface="メイリオ" panose="020B0604030504040204" pitchFamily="50" charset="-128"/>
                            </a:rPr>
                            <m:t>テストデータ総数</m:t>
                          </m:r>
                        </m:den>
                      </m:f>
                    </m:oMath>
                  </m:oMathPara>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8" name="テキスト ボックス 7">
                <a:extLst>
                  <a:ext uri="{FF2B5EF4-FFF2-40B4-BE49-F238E27FC236}">
                    <a16:creationId xmlns:a16="http://schemas.microsoft.com/office/drawing/2014/main" id="{C1789357-46C5-4425-8CEA-EE41AA78A9C1}"/>
                  </a:ext>
                </a:extLst>
              </p:cNvPr>
              <p:cNvSpPr txBox="1">
                <a:spLocks noRot="1" noChangeAspect="1" noMove="1" noResize="1" noEditPoints="1" noAdjustHandles="1" noChangeArrowheads="1" noChangeShapeType="1" noTextEdit="1"/>
              </p:cNvSpPr>
              <p:nvPr/>
            </p:nvSpPr>
            <p:spPr>
              <a:xfrm>
                <a:off x="3768439" y="4245806"/>
                <a:ext cx="4918013" cy="782907"/>
              </a:xfrm>
              <a:prstGeom prst="rect">
                <a:avLst/>
              </a:prstGeom>
              <a:blipFill>
                <a:blip r:embed="rId2"/>
                <a:stretch>
                  <a:fillRect/>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0EE5BF6E-0889-40E6-A645-1568ECBDDAC7}"/>
              </a:ext>
            </a:extLst>
          </p:cNvPr>
          <p:cNvSpPr txBox="1"/>
          <p:nvPr/>
        </p:nvSpPr>
        <p:spPr>
          <a:xfrm>
            <a:off x="1243253" y="5571485"/>
            <a:ext cx="2339102" cy="461665"/>
          </a:xfrm>
          <a:prstGeom prst="rect">
            <a:avLst/>
          </a:prstGeom>
          <a:noFill/>
        </p:spPr>
        <p:txBody>
          <a:bodyPr wrap="none" rtlCol="0">
            <a:spAutoFit/>
          </a:bodyPr>
          <a:lstStyle/>
          <a:p>
            <a:pPr algn="l"/>
            <a:r>
              <a:rPr kumimoji="1" lang="ja-JP" altLang="en-US" sz="2400" b="1" u="sng" dirty="0">
                <a:latin typeface="メイリオ" panose="020B0604030504040204" pitchFamily="50" charset="-128"/>
                <a:ea typeface="メイリオ" panose="020B0604030504040204" pitchFamily="50" charset="-128"/>
              </a:rPr>
              <a:t>精度計算の構文</a:t>
            </a:r>
          </a:p>
        </p:txBody>
      </p:sp>
      <p:sp>
        <p:nvSpPr>
          <p:cNvPr id="11" name="テキスト ボックス 10">
            <a:extLst>
              <a:ext uri="{FF2B5EF4-FFF2-40B4-BE49-F238E27FC236}">
                <a16:creationId xmlns:a16="http://schemas.microsoft.com/office/drawing/2014/main" id="{170C62DA-DFC2-48DC-A385-F3B714B316D8}"/>
              </a:ext>
            </a:extLst>
          </p:cNvPr>
          <p:cNvSpPr txBox="1"/>
          <p:nvPr/>
        </p:nvSpPr>
        <p:spPr>
          <a:xfrm>
            <a:off x="1211073" y="5967076"/>
            <a:ext cx="9225602"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インスタンス</a:t>
            </a:r>
            <a:r>
              <a:rPr kumimoji="1" lang="en-US" altLang="ja-JP" sz="2400" dirty="0">
                <a:latin typeface="メイリオ" panose="020B0604030504040204" pitchFamily="50" charset="-128"/>
                <a:ea typeface="メイリオ" panose="020B0604030504040204" pitchFamily="50" charset="-128"/>
              </a:rPr>
              <a:t>.score(</a:t>
            </a:r>
            <a:r>
              <a:rPr kumimoji="1" lang="ja-JP" altLang="en-US" sz="2400" dirty="0">
                <a:latin typeface="メイリオ" panose="020B0604030504040204" pitchFamily="50" charset="-128"/>
                <a:ea typeface="メイリオ" panose="020B0604030504040204" pitchFamily="50" charset="-128"/>
              </a:rPr>
              <a:t>テスト特徴量行列，テストラベルベクトル）</a:t>
            </a:r>
          </a:p>
        </p:txBody>
      </p:sp>
    </p:spTree>
    <p:extLst>
      <p:ext uri="{BB962C8B-B14F-4D97-AF65-F5344CB8AC3E}">
        <p14:creationId xmlns:p14="http://schemas.microsoft.com/office/powerpoint/2010/main" val="27462651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7005EF3-72F0-4B62-8776-63ED41F7E447}"/>
              </a:ext>
            </a:extLst>
          </p:cNvPr>
          <p:cNvSpPr txBox="1"/>
          <p:nvPr/>
        </p:nvSpPr>
        <p:spPr>
          <a:xfrm>
            <a:off x="3387566" y="2366236"/>
            <a:ext cx="5416868" cy="2308324"/>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機械学習のデータセットは、かならず</a:t>
            </a:r>
            <a:endParaRPr kumimoji="1" lang="en-US" altLang="ja-JP" sz="2400" dirty="0">
              <a:latin typeface="メイリオ" panose="020B0604030504040204" pitchFamily="50" charset="-128"/>
              <a:ea typeface="メイリオ" panose="020B0604030504040204" pitchFamily="50" charset="-128"/>
            </a:endParaRPr>
          </a:p>
          <a:p>
            <a:pPr algn="l"/>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訓練データ（学習用）</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テストデータ（性能評価用）</a:t>
            </a:r>
            <a:endParaRPr kumimoji="1" lang="en-US" altLang="ja-JP" sz="2400" dirty="0">
              <a:latin typeface="メイリオ" panose="020B0604030504040204" pitchFamily="50" charset="-128"/>
              <a:ea typeface="メイリオ" panose="020B0604030504040204" pitchFamily="50" charset="-128"/>
            </a:endParaRPr>
          </a:p>
          <a:p>
            <a:pPr algn="l"/>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を用意する</a:t>
            </a:r>
          </a:p>
        </p:txBody>
      </p:sp>
    </p:spTree>
    <p:extLst>
      <p:ext uri="{BB962C8B-B14F-4D97-AF65-F5344CB8AC3E}">
        <p14:creationId xmlns:p14="http://schemas.microsoft.com/office/powerpoint/2010/main" val="14231111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F4DE640-1DD0-400D-AE43-C05B6E13A0D3}"/>
              </a:ext>
            </a:extLst>
          </p:cNvPr>
          <p:cNvSpPr txBox="1"/>
          <p:nvPr/>
        </p:nvSpPr>
        <p:spPr>
          <a:xfrm>
            <a:off x="2002572" y="2798371"/>
            <a:ext cx="8186857" cy="830997"/>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機械学習の性能とはテストデータの当てはまり精度である</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（訓練データの当てはまりではない）</a:t>
            </a:r>
          </a:p>
        </p:txBody>
      </p:sp>
    </p:spTree>
    <p:extLst>
      <p:ext uri="{BB962C8B-B14F-4D97-AF65-F5344CB8AC3E}">
        <p14:creationId xmlns:p14="http://schemas.microsoft.com/office/powerpoint/2010/main" val="38168606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8687512-F8BC-5314-6DA6-139A971A1146}"/>
              </a:ext>
            </a:extLst>
          </p:cNvPr>
          <p:cNvSpPr txBox="1"/>
          <p:nvPr/>
        </p:nvSpPr>
        <p:spPr>
          <a:xfrm>
            <a:off x="397523" y="325369"/>
            <a:ext cx="2646878"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特徴量の選択</a:t>
            </a:r>
          </a:p>
        </p:txBody>
      </p:sp>
      <p:pic>
        <p:nvPicPr>
          <p:cNvPr id="3" name="Picture 8">
            <a:extLst>
              <a:ext uri="{FF2B5EF4-FFF2-40B4-BE49-F238E27FC236}">
                <a16:creationId xmlns:a16="http://schemas.microsoft.com/office/drawing/2014/main" id="{6AF5253D-FE5E-2DCC-5266-DC15FB4CF3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758" y="1811197"/>
            <a:ext cx="6867341" cy="5149612"/>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8794EB1B-8596-2018-AED7-392176AECCF4}"/>
              </a:ext>
            </a:extLst>
          </p:cNvPr>
          <p:cNvSpPr txBox="1"/>
          <p:nvPr/>
        </p:nvSpPr>
        <p:spPr>
          <a:xfrm>
            <a:off x="503854" y="1026367"/>
            <a:ext cx="10711542" cy="1569660"/>
          </a:xfrm>
          <a:prstGeom prst="rect">
            <a:avLst/>
          </a:prstGeom>
          <a:noFill/>
        </p:spPr>
        <p:txBody>
          <a:bodyPr wrap="squar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学習・予測に対する貢献度は特徴量によって異なるはず</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もしかしたら、</a:t>
            </a:r>
            <a:r>
              <a:rPr kumimoji="1" lang="en-US" altLang="ja-JP" sz="2400" dirty="0">
                <a:latin typeface="メイリオ" panose="020B0604030504040204" pitchFamily="50" charset="-128"/>
                <a:ea typeface="メイリオ" panose="020B0604030504040204" pitchFamily="50" charset="-128"/>
              </a:rPr>
              <a:t>4</a:t>
            </a:r>
            <a:r>
              <a:rPr kumimoji="1" lang="ja-JP" altLang="en-US" sz="2400" dirty="0">
                <a:latin typeface="メイリオ" panose="020B0604030504040204" pitchFamily="50" charset="-128"/>
                <a:ea typeface="メイリオ" panose="020B0604030504040204" pitchFamily="50" charset="-128"/>
              </a:rPr>
              <a:t>つの特徴量の内、</a:t>
            </a:r>
            <a:r>
              <a:rPr kumimoji="1" lang="en-US" altLang="ja-JP" sz="2400" dirty="0">
                <a:latin typeface="メイリオ" panose="020B0604030504040204" pitchFamily="50" charset="-128"/>
                <a:ea typeface="メイリオ" panose="020B0604030504040204" pitchFamily="50" charset="-128"/>
              </a:rPr>
              <a:t>2</a:t>
            </a:r>
            <a:r>
              <a:rPr kumimoji="1" lang="ja-JP" altLang="en-US" sz="2400" dirty="0">
                <a:latin typeface="メイリオ" panose="020B0604030504040204" pitchFamily="50" charset="-128"/>
                <a:ea typeface="メイリオ" panose="020B0604030504040204" pitchFamily="50" charset="-128"/>
              </a:rPr>
              <a:t>つでもそれなりに判別できるかもしれない</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どの特徴量がどれくらい予測に効くのか、見極めをつけるには？</a:t>
            </a:r>
          </a:p>
        </p:txBody>
      </p:sp>
      <p:pic>
        <p:nvPicPr>
          <p:cNvPr id="5" name="Picture 2" descr="Jupyter Notebookの後継？Jupyter Labをつかってみた - いっきのblog">
            <a:extLst>
              <a:ext uri="{FF2B5EF4-FFF2-40B4-BE49-F238E27FC236}">
                <a16:creationId xmlns:a16="http://schemas.microsoft.com/office/drawing/2014/main" id="{9208657E-A68F-8395-AD2E-C8FDBFD779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72692" y="158056"/>
            <a:ext cx="1059560" cy="1158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4711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ED3521F-8723-496B-90A9-6DF9474ED1A2}"/>
              </a:ext>
            </a:extLst>
          </p:cNvPr>
          <p:cNvSpPr txBox="1"/>
          <p:nvPr/>
        </p:nvSpPr>
        <p:spPr>
          <a:xfrm>
            <a:off x="967162" y="1027739"/>
            <a:ext cx="7714959" cy="584775"/>
          </a:xfrm>
          <a:prstGeom prst="rect">
            <a:avLst/>
          </a:prstGeom>
          <a:noFill/>
        </p:spPr>
        <p:txBody>
          <a:bodyPr wrap="square" rtlCol="0">
            <a:spAutoFit/>
          </a:bodyPr>
          <a:lstStyle/>
          <a:p>
            <a:r>
              <a:rPr kumimoji="1" lang="ja-JP" altLang="en-US" sz="3200" b="1" dirty="0">
                <a:latin typeface="メイリオ" panose="020B0604030504040204" pitchFamily="50" charset="-128"/>
                <a:ea typeface="メイリオ" panose="020B0604030504040204" pitchFamily="50" charset="-128"/>
              </a:rPr>
              <a:t>機械学習の初歩まとめ</a:t>
            </a:r>
            <a:endParaRPr kumimoji="1" lang="en-US" altLang="ja-JP" sz="2000" b="1"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00792915-2CE0-4915-81BD-F2F5ED1B7DA2}"/>
              </a:ext>
            </a:extLst>
          </p:cNvPr>
          <p:cNvSpPr txBox="1"/>
          <p:nvPr/>
        </p:nvSpPr>
        <p:spPr>
          <a:xfrm>
            <a:off x="967162" y="1754194"/>
            <a:ext cx="8048998" cy="830997"/>
          </a:xfrm>
          <a:prstGeom prst="rect">
            <a:avLst/>
          </a:prstGeom>
          <a:noFill/>
        </p:spPr>
        <p:txBody>
          <a:bodyPr wrap="none" rtlCol="0">
            <a:spAutoFit/>
          </a:bodyPr>
          <a:lstStyle/>
          <a:p>
            <a:pPr marL="342900" indent="-342900">
              <a:buFont typeface="Wingdings" panose="05000000000000000000" pitchFamily="2" charset="2"/>
              <a:buChar char="u"/>
            </a:pPr>
            <a:r>
              <a:rPr kumimoji="1" lang="ja-JP" altLang="en-US" sz="2400" dirty="0">
                <a:latin typeface="メイリオ" panose="020B0604030504040204" pitchFamily="50" charset="-128"/>
                <a:ea typeface="メイリオ" panose="020B0604030504040204" pitchFamily="50" charset="-128"/>
              </a:rPr>
              <a:t>データセット：</a:t>
            </a:r>
            <a:r>
              <a:rPr kumimoji="1" lang="en-US" altLang="ja-JP" sz="2400" dirty="0">
                <a:latin typeface="メイリオ" panose="020B0604030504040204" pitchFamily="50" charset="-128"/>
                <a:ea typeface="メイリオ" panose="020B0604030504040204" pitchFamily="50" charset="-128"/>
              </a:rPr>
              <a:t>Iris(</a:t>
            </a:r>
            <a:r>
              <a:rPr kumimoji="1" lang="ja-JP" altLang="en-US" sz="2400" dirty="0">
                <a:latin typeface="メイリオ" panose="020B0604030504040204" pitchFamily="50" charset="-128"/>
                <a:ea typeface="メイリオ" panose="020B0604030504040204" pitchFamily="50" charset="-128"/>
              </a:rPr>
              <a:t>教師ラベル</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品種，特徴量</a:t>
            </a:r>
            <a:r>
              <a:rPr kumimoji="1" lang="en-US" altLang="ja-JP" sz="2400" dirty="0">
                <a:latin typeface="メイリオ" panose="020B0604030504040204" pitchFamily="50" charset="-128"/>
                <a:ea typeface="メイリオ" panose="020B0604030504040204" pitchFamily="50" charset="-128"/>
              </a:rPr>
              <a:t>4</a:t>
            </a:r>
            <a:r>
              <a:rPr kumimoji="1" lang="ja-JP" altLang="en-US" sz="2400" dirty="0">
                <a:latin typeface="メイリオ" panose="020B0604030504040204" pitchFamily="50" charset="-128"/>
                <a:ea typeface="メイリオ" panose="020B0604030504040204" pitchFamily="50" charset="-128"/>
              </a:rPr>
              <a:t>次元）</a:t>
            </a:r>
            <a:endParaRPr kumimoji="1" lang="en-US" altLang="ja-JP" sz="24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u"/>
            </a:pPr>
            <a:r>
              <a:rPr kumimoji="1" lang="ja-JP" altLang="en-US" sz="2400" dirty="0">
                <a:latin typeface="メイリオ" panose="020B0604030504040204" pitchFamily="50" charset="-128"/>
                <a:ea typeface="メイリオ" panose="020B0604030504040204" pitchFamily="50" charset="-128"/>
              </a:rPr>
              <a:t>機械学習器（モデル）：</a:t>
            </a:r>
            <a:r>
              <a:rPr kumimoji="1" lang="en-US" altLang="ja-JP" sz="2400" dirty="0">
                <a:latin typeface="メイリオ" panose="020B0604030504040204" pitchFamily="50" charset="-128"/>
                <a:ea typeface="メイリオ" panose="020B0604030504040204" pitchFamily="50" charset="-128"/>
              </a:rPr>
              <a:t>k</a:t>
            </a:r>
            <a:r>
              <a:rPr kumimoji="1" lang="ja-JP" altLang="en-US" sz="2400" dirty="0">
                <a:latin typeface="メイリオ" panose="020B0604030504040204" pitchFamily="50" charset="-128"/>
                <a:ea typeface="メイリオ" panose="020B0604030504040204" pitchFamily="50" charset="-128"/>
              </a:rPr>
              <a:t>最近傍法</a:t>
            </a:r>
          </a:p>
        </p:txBody>
      </p:sp>
      <p:sp>
        <p:nvSpPr>
          <p:cNvPr id="4" name="テキスト ボックス 3">
            <a:extLst>
              <a:ext uri="{FF2B5EF4-FFF2-40B4-BE49-F238E27FC236}">
                <a16:creationId xmlns:a16="http://schemas.microsoft.com/office/drawing/2014/main" id="{11285370-FCFF-4098-AFA1-C0040F713847}"/>
              </a:ext>
            </a:extLst>
          </p:cNvPr>
          <p:cNvSpPr txBox="1"/>
          <p:nvPr/>
        </p:nvSpPr>
        <p:spPr>
          <a:xfrm>
            <a:off x="967162" y="2726871"/>
            <a:ext cx="8274766" cy="3046988"/>
          </a:xfrm>
          <a:prstGeom prst="rect">
            <a:avLst/>
          </a:prstGeom>
          <a:noFill/>
        </p:spPr>
        <p:txBody>
          <a:bodyPr wrap="none" rtlCol="0">
            <a:spAutoFit/>
          </a:bodyPr>
          <a:lstStyle/>
          <a:p>
            <a:r>
              <a:rPr kumimoji="1" lang="en-US" altLang="ja-JP" sz="2400" dirty="0">
                <a:latin typeface="メイリオ" panose="020B0604030504040204" pitchFamily="50" charset="-128"/>
                <a:ea typeface="メイリオ" panose="020B0604030504040204" pitchFamily="50" charset="-128"/>
              </a:rPr>
              <a:t>1. </a:t>
            </a:r>
            <a:r>
              <a:rPr kumimoji="1" lang="ja-JP" altLang="en-US" sz="2400" dirty="0">
                <a:latin typeface="メイリオ" panose="020B0604030504040204" pitchFamily="50" charset="-128"/>
                <a:ea typeface="メイリオ" panose="020B0604030504040204" pitchFamily="50" charset="-128"/>
              </a:rPr>
              <a:t>データセットを訓練セットとテストセットに分離</a:t>
            </a:r>
            <a:endParaRPr kumimoji="1" lang="en-US" altLang="ja-JP" sz="2400" dirty="0">
              <a:latin typeface="メイリオ" panose="020B0604030504040204" pitchFamily="50" charset="-128"/>
              <a:ea typeface="メイリオ" panose="020B0604030504040204" pitchFamily="50" charset="-128"/>
            </a:endParaRPr>
          </a:p>
          <a:p>
            <a:r>
              <a:rPr kumimoji="1" lang="en-US" altLang="ja-JP" sz="2400" dirty="0">
                <a:latin typeface="メイリオ" panose="020B0604030504040204" pitchFamily="50" charset="-128"/>
                <a:ea typeface="メイリオ" panose="020B0604030504040204" pitchFamily="50" charset="-128"/>
              </a:rPr>
              <a:t>    </a:t>
            </a:r>
            <a:r>
              <a:rPr kumimoji="1" lang="en-US" altLang="ja-JP" sz="2400" dirty="0" err="1">
                <a:latin typeface="メイリオ" panose="020B0604030504040204" pitchFamily="50" charset="-128"/>
                <a:ea typeface="メイリオ" panose="020B0604030504040204" pitchFamily="50" charset="-128"/>
              </a:rPr>
              <a:t>X_train,X_test,Y_train,Y_test</a:t>
            </a:r>
            <a:r>
              <a:rPr kumimoji="1" lang="en-US" altLang="ja-JP" sz="2400" dirty="0">
                <a:latin typeface="メイリオ" panose="020B0604030504040204" pitchFamily="50" charset="-128"/>
                <a:ea typeface="メイリオ" panose="020B0604030504040204" pitchFamily="50" charset="-128"/>
              </a:rPr>
              <a:t> = </a:t>
            </a:r>
            <a:r>
              <a:rPr kumimoji="1" lang="en-US" altLang="ja-JP" sz="2400" dirty="0" err="1">
                <a:latin typeface="メイリオ" panose="020B0604030504040204" pitchFamily="50" charset="-128"/>
                <a:ea typeface="メイリオ" panose="020B0604030504040204" pitchFamily="50" charset="-128"/>
              </a:rPr>
              <a:t>train_test_split</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　</a:t>
            </a:r>
            <a:r>
              <a:rPr kumimoji="1" lang="en-US" altLang="ja-JP" sz="2400" dirty="0">
                <a:latin typeface="メイリオ" panose="020B0604030504040204" pitchFamily="50" charset="-128"/>
                <a:ea typeface="メイリオ" panose="020B0604030504040204" pitchFamily="50" charset="-128"/>
              </a:rPr>
              <a:t>)</a:t>
            </a:r>
          </a:p>
          <a:p>
            <a:r>
              <a:rPr kumimoji="1" lang="en-US" altLang="ja-JP" sz="2400" dirty="0">
                <a:latin typeface="メイリオ" panose="020B0604030504040204" pitchFamily="50" charset="-128"/>
                <a:ea typeface="メイリオ" panose="020B0604030504040204" pitchFamily="50" charset="-128"/>
              </a:rPr>
              <a:t>2. </a:t>
            </a:r>
            <a:r>
              <a:rPr kumimoji="1" lang="ja-JP" altLang="en-US" sz="2400" dirty="0">
                <a:latin typeface="メイリオ" panose="020B0604030504040204" pitchFamily="50" charset="-128"/>
                <a:ea typeface="メイリオ" panose="020B0604030504040204" pitchFamily="50" charset="-128"/>
              </a:rPr>
              <a:t>機械学習のインスタンス化</a:t>
            </a:r>
            <a:endParaRPr kumimoji="1" lang="en-US" altLang="ja-JP" sz="2400" dirty="0">
              <a:latin typeface="メイリオ" panose="020B0604030504040204" pitchFamily="50" charset="-128"/>
              <a:ea typeface="メイリオ" panose="020B0604030504040204" pitchFamily="50" charset="-128"/>
            </a:endParaRPr>
          </a:p>
          <a:p>
            <a:r>
              <a:rPr kumimoji="1" lang="en-US" altLang="ja-JP" sz="2400" dirty="0">
                <a:latin typeface="メイリオ" panose="020B0604030504040204" pitchFamily="50" charset="-128"/>
                <a:ea typeface="メイリオ" panose="020B0604030504040204" pitchFamily="50" charset="-128"/>
              </a:rPr>
              <a:t>    </a:t>
            </a:r>
            <a:r>
              <a:rPr kumimoji="1" lang="en-US" altLang="ja-JP" sz="2400" dirty="0" err="1">
                <a:latin typeface="メイリオ" panose="020B0604030504040204" pitchFamily="50" charset="-128"/>
                <a:ea typeface="メイリオ" panose="020B0604030504040204" pitchFamily="50" charset="-128"/>
              </a:rPr>
              <a:t>knn</a:t>
            </a:r>
            <a:r>
              <a:rPr kumimoji="1" lang="en-US" altLang="ja-JP" sz="2400" dirty="0">
                <a:latin typeface="メイリオ" panose="020B0604030504040204" pitchFamily="50" charset="-128"/>
                <a:ea typeface="メイリオ" panose="020B0604030504040204" pitchFamily="50" charset="-128"/>
              </a:rPr>
              <a:t> = </a:t>
            </a:r>
            <a:r>
              <a:rPr kumimoji="1" lang="en-US" altLang="ja-JP" sz="2400" dirty="0" err="1">
                <a:latin typeface="メイリオ" panose="020B0604030504040204" pitchFamily="50" charset="-128"/>
                <a:ea typeface="メイリオ" panose="020B0604030504040204" pitchFamily="50" charset="-128"/>
              </a:rPr>
              <a:t>KNeighborsClassifier</a:t>
            </a:r>
            <a:r>
              <a:rPr kumimoji="1" lang="en-US" altLang="ja-JP" sz="2400" dirty="0">
                <a:latin typeface="メイリオ" panose="020B0604030504040204" pitchFamily="50" charset="-128"/>
                <a:ea typeface="メイリオ" panose="020B0604030504040204" pitchFamily="50" charset="-128"/>
              </a:rPr>
              <a:t>(</a:t>
            </a:r>
            <a:r>
              <a:rPr kumimoji="1" lang="en-US" altLang="ja-JP" sz="2400" dirty="0" err="1">
                <a:latin typeface="メイリオ" panose="020B0604030504040204" pitchFamily="50" charset="-128"/>
                <a:ea typeface="メイリオ" panose="020B0604030504040204" pitchFamily="50" charset="-128"/>
              </a:rPr>
              <a:t>n_neighbors</a:t>
            </a:r>
            <a:r>
              <a:rPr kumimoji="1" lang="en-US" altLang="ja-JP" sz="2400" dirty="0">
                <a:latin typeface="メイリオ" panose="020B0604030504040204" pitchFamily="50" charset="-128"/>
                <a:ea typeface="メイリオ" panose="020B0604030504040204" pitchFamily="50" charset="-128"/>
              </a:rPr>
              <a:t>=1)</a:t>
            </a:r>
          </a:p>
          <a:p>
            <a:r>
              <a:rPr kumimoji="1" lang="en-US" altLang="ja-JP" sz="2400" dirty="0">
                <a:latin typeface="メイリオ" panose="020B0604030504040204" pitchFamily="50" charset="-128"/>
                <a:ea typeface="メイリオ" panose="020B0604030504040204" pitchFamily="50" charset="-128"/>
              </a:rPr>
              <a:t>3. </a:t>
            </a:r>
            <a:r>
              <a:rPr kumimoji="1" lang="ja-JP" altLang="en-US" sz="2400" dirty="0">
                <a:latin typeface="メイリオ" panose="020B0604030504040204" pitchFamily="50" charset="-128"/>
                <a:ea typeface="メイリオ" panose="020B0604030504040204" pitchFamily="50" charset="-128"/>
              </a:rPr>
              <a:t>学習</a:t>
            </a:r>
            <a:endParaRPr kumimoji="1" lang="en-US" altLang="ja-JP" sz="2400" dirty="0">
              <a:latin typeface="メイリオ" panose="020B0604030504040204" pitchFamily="50" charset="-128"/>
              <a:ea typeface="メイリオ" panose="020B0604030504040204" pitchFamily="50" charset="-128"/>
            </a:endParaRPr>
          </a:p>
          <a:p>
            <a:r>
              <a:rPr kumimoji="1" lang="en-US" altLang="ja-JP" sz="2400" dirty="0">
                <a:latin typeface="メイリオ" panose="020B0604030504040204" pitchFamily="50" charset="-128"/>
                <a:ea typeface="メイリオ" panose="020B0604030504040204" pitchFamily="50" charset="-128"/>
              </a:rPr>
              <a:t>    </a:t>
            </a:r>
            <a:r>
              <a:rPr kumimoji="1" lang="en-US" altLang="ja-JP" sz="2400" dirty="0" err="1">
                <a:latin typeface="メイリオ" panose="020B0604030504040204" pitchFamily="50" charset="-128"/>
                <a:ea typeface="メイリオ" panose="020B0604030504040204" pitchFamily="50" charset="-128"/>
              </a:rPr>
              <a:t>knn.fit</a:t>
            </a:r>
            <a:r>
              <a:rPr kumimoji="1" lang="en-US" altLang="ja-JP" sz="2400" dirty="0">
                <a:latin typeface="メイリオ" panose="020B0604030504040204" pitchFamily="50" charset="-128"/>
                <a:ea typeface="メイリオ" panose="020B0604030504040204" pitchFamily="50" charset="-128"/>
              </a:rPr>
              <a:t>(</a:t>
            </a:r>
            <a:r>
              <a:rPr kumimoji="1" lang="en-US" altLang="ja-JP" sz="2400" dirty="0" err="1">
                <a:latin typeface="メイリオ" panose="020B0604030504040204" pitchFamily="50" charset="-128"/>
                <a:ea typeface="メイリオ" panose="020B0604030504040204" pitchFamily="50" charset="-128"/>
              </a:rPr>
              <a:t>X_train,Y_train</a:t>
            </a:r>
            <a:r>
              <a:rPr kumimoji="1" lang="en-US" altLang="ja-JP" sz="2400" dirty="0">
                <a:latin typeface="メイリオ" panose="020B0604030504040204" pitchFamily="50" charset="-128"/>
                <a:ea typeface="メイリオ" panose="020B0604030504040204" pitchFamily="50" charset="-128"/>
              </a:rPr>
              <a:t>)</a:t>
            </a:r>
          </a:p>
          <a:p>
            <a:r>
              <a:rPr kumimoji="1" lang="en-US" altLang="ja-JP" sz="2400" dirty="0">
                <a:latin typeface="メイリオ" panose="020B0604030504040204" pitchFamily="50" charset="-128"/>
                <a:ea typeface="メイリオ" panose="020B0604030504040204" pitchFamily="50" charset="-128"/>
              </a:rPr>
              <a:t>4. </a:t>
            </a:r>
            <a:r>
              <a:rPr kumimoji="1" lang="ja-JP" altLang="en-US" sz="2400" dirty="0">
                <a:latin typeface="メイリオ" panose="020B0604030504040204" pitchFamily="50" charset="-128"/>
                <a:ea typeface="メイリオ" panose="020B0604030504040204" pitchFamily="50" charset="-128"/>
              </a:rPr>
              <a:t>予測（分類）</a:t>
            </a:r>
            <a:endParaRPr kumimoji="1" lang="en-US" altLang="ja-JP" sz="2400" dirty="0">
              <a:latin typeface="メイリオ" panose="020B0604030504040204" pitchFamily="50" charset="-128"/>
              <a:ea typeface="メイリオ" panose="020B0604030504040204" pitchFamily="50" charset="-128"/>
            </a:endParaRPr>
          </a:p>
          <a:p>
            <a:r>
              <a:rPr kumimoji="1" lang="en-US" altLang="ja-JP" sz="2400" dirty="0">
                <a:latin typeface="メイリオ" panose="020B0604030504040204" pitchFamily="50" charset="-128"/>
                <a:ea typeface="メイリオ" panose="020B0604030504040204" pitchFamily="50" charset="-128"/>
              </a:rPr>
              <a:t>    </a:t>
            </a:r>
            <a:r>
              <a:rPr kumimoji="1" lang="en-US" altLang="ja-JP" sz="2400" dirty="0" err="1">
                <a:latin typeface="メイリオ" panose="020B0604030504040204" pitchFamily="50" charset="-128"/>
                <a:ea typeface="メイリオ" panose="020B0604030504040204" pitchFamily="50" charset="-128"/>
              </a:rPr>
              <a:t>y_pred</a:t>
            </a:r>
            <a:r>
              <a:rPr kumimoji="1" lang="en-US" altLang="ja-JP" sz="2400" dirty="0">
                <a:latin typeface="メイリオ" panose="020B0604030504040204" pitchFamily="50" charset="-128"/>
                <a:ea typeface="メイリオ" panose="020B0604030504040204" pitchFamily="50" charset="-128"/>
              </a:rPr>
              <a:t> = </a:t>
            </a:r>
            <a:r>
              <a:rPr kumimoji="1" lang="en-US" altLang="ja-JP" sz="2400" dirty="0" err="1">
                <a:latin typeface="メイリオ" panose="020B0604030504040204" pitchFamily="50" charset="-128"/>
                <a:ea typeface="メイリオ" panose="020B0604030504040204" pitchFamily="50" charset="-128"/>
              </a:rPr>
              <a:t>knn.predict</a:t>
            </a:r>
            <a:r>
              <a:rPr kumimoji="1" lang="en-US" altLang="ja-JP" sz="2400" dirty="0">
                <a:latin typeface="メイリオ" panose="020B0604030504040204" pitchFamily="50" charset="-128"/>
                <a:ea typeface="メイリオ" panose="020B0604030504040204" pitchFamily="50" charset="-128"/>
              </a:rPr>
              <a:t>(</a:t>
            </a:r>
            <a:r>
              <a:rPr kumimoji="1" lang="en-US" altLang="ja-JP" sz="2400" dirty="0" err="1">
                <a:latin typeface="メイリオ" panose="020B0604030504040204" pitchFamily="50" charset="-128"/>
                <a:ea typeface="メイリオ" panose="020B0604030504040204" pitchFamily="50" charset="-128"/>
              </a:rPr>
              <a:t>X_test</a:t>
            </a:r>
            <a:r>
              <a:rPr kumimoji="1" lang="en-US" altLang="ja-JP" sz="2400" dirty="0">
                <a:latin typeface="メイリオ" panose="020B0604030504040204" pitchFamily="50" charset="-128"/>
                <a:ea typeface="メイリオ" panose="020B0604030504040204" pitchFamily="50" charset="-128"/>
              </a:rPr>
              <a:t>)</a:t>
            </a:r>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801876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A2A9E52-8FF7-3191-24B7-A241EFB418F4}"/>
              </a:ext>
            </a:extLst>
          </p:cNvPr>
          <p:cNvSpPr txBox="1"/>
          <p:nvPr/>
        </p:nvSpPr>
        <p:spPr>
          <a:xfrm>
            <a:off x="2080726" y="2743200"/>
            <a:ext cx="8392041"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機械学習プログラミングとオブジェクト指向</a:t>
            </a:r>
          </a:p>
        </p:txBody>
      </p:sp>
      <p:sp>
        <p:nvSpPr>
          <p:cNvPr id="3" name="テキスト ボックス 2">
            <a:extLst>
              <a:ext uri="{FF2B5EF4-FFF2-40B4-BE49-F238E27FC236}">
                <a16:creationId xmlns:a16="http://schemas.microsoft.com/office/drawing/2014/main" id="{A565C2F3-CCCB-E61B-8E6F-30D22165DAD9}"/>
              </a:ext>
            </a:extLst>
          </p:cNvPr>
          <p:cNvSpPr txBox="1"/>
          <p:nvPr/>
        </p:nvSpPr>
        <p:spPr>
          <a:xfrm>
            <a:off x="3069772" y="3750906"/>
            <a:ext cx="6647974"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機械学習は全てオブジェクト指向で記述される</a:t>
            </a:r>
          </a:p>
        </p:txBody>
      </p:sp>
    </p:spTree>
    <p:extLst>
      <p:ext uri="{BB962C8B-B14F-4D97-AF65-F5344CB8AC3E}">
        <p14:creationId xmlns:p14="http://schemas.microsoft.com/office/powerpoint/2010/main" val="31912263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852453C-1E43-4FB0-9221-F16816C929C3}"/>
              </a:ext>
            </a:extLst>
          </p:cNvPr>
          <p:cNvSpPr txBox="1"/>
          <p:nvPr/>
        </p:nvSpPr>
        <p:spPr>
          <a:xfrm>
            <a:off x="393085" y="250275"/>
            <a:ext cx="8392041" cy="1077218"/>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プログラミングの重要概念</a:t>
            </a:r>
            <a:endParaRPr kumimoji="1" lang="en-US" altLang="ja-JP" sz="3200" b="1" dirty="0">
              <a:latin typeface="メイリオ" panose="020B0604030504040204" pitchFamily="50" charset="-128"/>
              <a:ea typeface="メイリオ" panose="020B0604030504040204" pitchFamily="50" charset="-128"/>
            </a:endParaRPr>
          </a:p>
          <a:p>
            <a:pPr algn="l"/>
            <a:r>
              <a:rPr kumimoji="1" lang="ja-JP" altLang="en-US" sz="3200" b="1" dirty="0">
                <a:latin typeface="メイリオ" panose="020B0604030504040204" pitchFamily="50" charset="-128"/>
                <a:ea typeface="メイリオ" panose="020B0604030504040204" pitchFamily="50" charset="-128"/>
              </a:rPr>
              <a:t>「クラスとインスタンス（オブジェクト）」</a:t>
            </a:r>
          </a:p>
        </p:txBody>
      </p:sp>
      <p:sp>
        <p:nvSpPr>
          <p:cNvPr id="3" name="テキスト ボックス 2">
            <a:extLst>
              <a:ext uri="{FF2B5EF4-FFF2-40B4-BE49-F238E27FC236}">
                <a16:creationId xmlns:a16="http://schemas.microsoft.com/office/drawing/2014/main" id="{5FEC8281-5E17-4EBA-B44F-F67901249F0C}"/>
              </a:ext>
            </a:extLst>
          </p:cNvPr>
          <p:cNvSpPr txBox="1"/>
          <p:nvPr/>
        </p:nvSpPr>
        <p:spPr>
          <a:xfrm>
            <a:off x="633182" y="978833"/>
            <a:ext cx="7911846" cy="1938992"/>
          </a:xfrm>
          <a:prstGeom prst="rect">
            <a:avLst/>
          </a:prstGeom>
          <a:noFill/>
        </p:spPr>
        <p:txBody>
          <a:bodyPr wrap="none" rtlCol="0">
            <a:spAutoFit/>
          </a:bodyPr>
          <a:lstStyle/>
          <a:p>
            <a:endParaRPr kumimoji="1" lang="en-US" altLang="ja-JP" sz="2400" dirty="0">
              <a:latin typeface="メイリオ" panose="020B0604030504040204" pitchFamily="50" charset="-128"/>
              <a:ea typeface="メイリオ" panose="020B0604030504040204" pitchFamily="50" charset="-128"/>
            </a:endParaRPr>
          </a:p>
          <a:p>
            <a:r>
              <a:rPr kumimoji="1" lang="en-US" altLang="ja-JP" sz="2400" dirty="0">
                <a:latin typeface="メイリオ" panose="020B0604030504040204" pitchFamily="50" charset="-128"/>
                <a:ea typeface="メイリオ" panose="020B0604030504040204" pitchFamily="50" charset="-128"/>
              </a:rPr>
              <a:t>from </a:t>
            </a:r>
            <a:r>
              <a:rPr kumimoji="1" lang="en-US" altLang="ja-JP" sz="2400" dirty="0" err="1">
                <a:latin typeface="メイリオ" panose="020B0604030504040204" pitchFamily="50" charset="-128"/>
                <a:ea typeface="メイリオ" panose="020B0604030504040204" pitchFamily="50" charset="-128"/>
              </a:rPr>
              <a:t>sklearn.neighbors</a:t>
            </a:r>
            <a:r>
              <a:rPr kumimoji="1" lang="en-US" altLang="ja-JP" sz="2400" dirty="0">
                <a:latin typeface="メイリオ" panose="020B0604030504040204" pitchFamily="50" charset="-128"/>
                <a:ea typeface="メイリオ" panose="020B0604030504040204" pitchFamily="50" charset="-128"/>
              </a:rPr>
              <a:t> import </a:t>
            </a:r>
            <a:r>
              <a:rPr kumimoji="1" lang="en-US" altLang="ja-JP" sz="2400" dirty="0" err="1">
                <a:latin typeface="メイリオ" panose="020B0604030504040204" pitchFamily="50" charset="-128"/>
                <a:ea typeface="メイリオ" panose="020B0604030504040204" pitchFamily="50" charset="-128"/>
              </a:rPr>
              <a:t>KNeighborsClassifier</a:t>
            </a:r>
            <a:endParaRPr kumimoji="1" lang="en-US" altLang="ja-JP" sz="2400" dirty="0">
              <a:latin typeface="メイリオ" panose="020B0604030504040204" pitchFamily="50" charset="-128"/>
              <a:ea typeface="メイリオ" panose="020B0604030504040204" pitchFamily="50" charset="-128"/>
            </a:endParaRPr>
          </a:p>
          <a:p>
            <a:endParaRPr kumimoji="1" lang="en-US" altLang="ja-JP" sz="2400" dirty="0">
              <a:latin typeface="メイリオ" panose="020B0604030504040204" pitchFamily="50" charset="-128"/>
              <a:ea typeface="メイリオ" panose="020B0604030504040204" pitchFamily="50" charset="-128"/>
            </a:endParaRPr>
          </a:p>
          <a:p>
            <a:r>
              <a:rPr kumimoji="1" lang="en-US" altLang="ja-JP" sz="2400" b="1" dirty="0" err="1">
                <a:latin typeface="メイリオ" panose="020B0604030504040204" pitchFamily="50" charset="-128"/>
                <a:ea typeface="メイリオ" panose="020B0604030504040204" pitchFamily="50" charset="-128"/>
              </a:rPr>
              <a:t>knn</a:t>
            </a:r>
            <a:r>
              <a:rPr kumimoji="1" lang="en-US" altLang="ja-JP" sz="2400" b="1" dirty="0">
                <a:latin typeface="メイリオ" panose="020B0604030504040204" pitchFamily="50" charset="-128"/>
                <a:ea typeface="メイリオ" panose="020B0604030504040204" pitchFamily="50" charset="-128"/>
              </a:rPr>
              <a:t> = </a:t>
            </a:r>
            <a:r>
              <a:rPr kumimoji="1" lang="en-US" altLang="ja-JP" sz="2400" b="1" dirty="0" err="1">
                <a:latin typeface="メイリオ" panose="020B0604030504040204" pitchFamily="50" charset="-128"/>
                <a:ea typeface="メイリオ" panose="020B0604030504040204" pitchFamily="50" charset="-128"/>
              </a:rPr>
              <a:t>KNeighborsClassifier</a:t>
            </a:r>
            <a:r>
              <a:rPr kumimoji="1" lang="en-US" altLang="ja-JP" sz="2400" b="1" dirty="0">
                <a:latin typeface="メイリオ" panose="020B0604030504040204" pitchFamily="50" charset="-128"/>
                <a:ea typeface="メイリオ" panose="020B0604030504040204" pitchFamily="50" charset="-128"/>
              </a:rPr>
              <a:t>(</a:t>
            </a:r>
            <a:r>
              <a:rPr kumimoji="1" lang="en-US" altLang="ja-JP" sz="2400" b="1" dirty="0" err="1">
                <a:latin typeface="メイリオ" panose="020B0604030504040204" pitchFamily="50" charset="-128"/>
                <a:ea typeface="メイリオ" panose="020B0604030504040204" pitchFamily="50" charset="-128"/>
              </a:rPr>
              <a:t>n_neighbors</a:t>
            </a:r>
            <a:r>
              <a:rPr kumimoji="1" lang="en-US" altLang="ja-JP" sz="2400" b="1" dirty="0">
                <a:latin typeface="メイリオ" panose="020B0604030504040204" pitchFamily="50" charset="-128"/>
                <a:ea typeface="メイリオ" panose="020B0604030504040204" pitchFamily="50" charset="-128"/>
              </a:rPr>
              <a:t>=1)</a:t>
            </a:r>
          </a:p>
          <a:p>
            <a:r>
              <a:rPr kumimoji="1" lang="en-US" altLang="ja-JP" sz="2400" dirty="0" err="1">
                <a:latin typeface="メイリオ" panose="020B0604030504040204" pitchFamily="50" charset="-128"/>
                <a:ea typeface="メイリオ" panose="020B0604030504040204" pitchFamily="50" charset="-128"/>
              </a:rPr>
              <a:t>knn.fit</a:t>
            </a:r>
            <a:r>
              <a:rPr kumimoji="1" lang="en-US" altLang="ja-JP" sz="2400" dirty="0">
                <a:latin typeface="メイリオ" panose="020B0604030504040204" pitchFamily="50" charset="-128"/>
                <a:ea typeface="メイリオ" panose="020B0604030504040204" pitchFamily="50" charset="-128"/>
              </a:rPr>
              <a:t>(</a:t>
            </a:r>
            <a:r>
              <a:rPr kumimoji="1" lang="en-US" altLang="ja-JP" sz="2400" dirty="0" err="1">
                <a:latin typeface="メイリオ" panose="020B0604030504040204" pitchFamily="50" charset="-128"/>
                <a:ea typeface="メイリオ" panose="020B0604030504040204" pitchFamily="50" charset="-128"/>
              </a:rPr>
              <a:t>X_train,Y_train</a:t>
            </a:r>
            <a:r>
              <a:rPr kumimoji="1" lang="en-US" altLang="ja-JP" sz="2400" dirty="0">
                <a:latin typeface="メイリオ" panose="020B0604030504040204" pitchFamily="50" charset="-128"/>
                <a:ea typeface="メイリオ" panose="020B0604030504040204" pitchFamily="50" charset="-128"/>
              </a:rPr>
              <a:t>)</a:t>
            </a:r>
            <a:endParaRPr kumimoji="1" lang="ja-JP" altLang="en-US" sz="2400" dirty="0">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1EC0A178-5398-486B-A31B-055E8C43B8DA}"/>
              </a:ext>
            </a:extLst>
          </p:cNvPr>
          <p:cNvSpPr txBox="1"/>
          <p:nvPr/>
        </p:nvSpPr>
        <p:spPr>
          <a:xfrm>
            <a:off x="2320414" y="3549446"/>
            <a:ext cx="184731" cy="461665"/>
          </a:xfrm>
          <a:prstGeom prst="rect">
            <a:avLst/>
          </a:prstGeom>
          <a:noFill/>
        </p:spPr>
        <p:txBody>
          <a:bodyPr wrap="none" rtlCol="0">
            <a:spAutoFit/>
          </a:bodyPr>
          <a:lstStyle/>
          <a:p>
            <a:pPr algn="l"/>
            <a:endParaRPr kumimoji="1" lang="ja-JP" altLang="en-US" sz="2400" dirty="0">
              <a:latin typeface="メイリオ" panose="020B0604030504040204" pitchFamily="50" charset="-128"/>
              <a:ea typeface="メイリオ" panose="020B0604030504040204" pitchFamily="50" charset="-128"/>
            </a:endParaRPr>
          </a:p>
        </p:txBody>
      </p:sp>
      <p:sp>
        <p:nvSpPr>
          <p:cNvPr id="5" name="矢印: 上 4">
            <a:extLst>
              <a:ext uri="{FF2B5EF4-FFF2-40B4-BE49-F238E27FC236}">
                <a16:creationId xmlns:a16="http://schemas.microsoft.com/office/drawing/2014/main" id="{0F94BF65-E6CB-4570-9F82-6D157829E815}"/>
              </a:ext>
            </a:extLst>
          </p:cNvPr>
          <p:cNvSpPr/>
          <p:nvPr/>
        </p:nvSpPr>
        <p:spPr>
          <a:xfrm>
            <a:off x="5871676" y="2530894"/>
            <a:ext cx="894735" cy="57027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2A52463D-E872-4053-8F02-1C5C82904630}"/>
              </a:ext>
            </a:extLst>
          </p:cNvPr>
          <p:cNvSpPr txBox="1"/>
          <p:nvPr/>
        </p:nvSpPr>
        <p:spPr>
          <a:xfrm>
            <a:off x="5306189" y="3174904"/>
            <a:ext cx="3773790"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K</a:t>
            </a:r>
            <a:r>
              <a:rPr kumimoji="1" lang="ja-JP" altLang="en-US" sz="2400" dirty="0">
                <a:latin typeface="メイリオ" panose="020B0604030504040204" pitchFamily="50" charset="-128"/>
                <a:ea typeface="メイリオ" panose="020B0604030504040204" pitchFamily="50" charset="-128"/>
              </a:rPr>
              <a:t>（ハイパーパラメータ）</a:t>
            </a:r>
          </a:p>
        </p:txBody>
      </p:sp>
      <p:sp>
        <p:nvSpPr>
          <p:cNvPr id="7" name="正方形/長方形 6">
            <a:extLst>
              <a:ext uri="{FF2B5EF4-FFF2-40B4-BE49-F238E27FC236}">
                <a16:creationId xmlns:a16="http://schemas.microsoft.com/office/drawing/2014/main" id="{6EEEECE5-2AAD-491B-AFD9-CB23C9073B01}"/>
              </a:ext>
            </a:extLst>
          </p:cNvPr>
          <p:cNvSpPr/>
          <p:nvPr/>
        </p:nvSpPr>
        <p:spPr>
          <a:xfrm>
            <a:off x="2631447" y="3896404"/>
            <a:ext cx="7276616" cy="1938993"/>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914984EE-4A51-4628-B073-551F90F2A08D}"/>
              </a:ext>
            </a:extLst>
          </p:cNvPr>
          <p:cNvSpPr txBox="1"/>
          <p:nvPr/>
        </p:nvSpPr>
        <p:spPr>
          <a:xfrm>
            <a:off x="2947597" y="3641046"/>
            <a:ext cx="6644319" cy="461665"/>
          </a:xfrm>
          <a:prstGeom prst="rect">
            <a:avLst/>
          </a:prstGeom>
          <a:solidFill>
            <a:schemeClr val="bg1"/>
          </a:solidFill>
        </p:spPr>
        <p:txBody>
          <a:bodyPr wrap="none" rtlCol="0">
            <a:spAutoFit/>
          </a:bodyPr>
          <a:lstStyle/>
          <a:p>
            <a:r>
              <a:rPr kumimoji="1" lang="en-US" altLang="ja-JP" sz="2400" dirty="0">
                <a:latin typeface="メイリオ" panose="020B0604030504040204" pitchFamily="50" charset="-128"/>
                <a:ea typeface="メイリオ" panose="020B0604030504040204" pitchFamily="50" charset="-128"/>
              </a:rPr>
              <a:t>K</a:t>
            </a:r>
            <a:r>
              <a:rPr kumimoji="1" lang="ja-JP" altLang="en-US" sz="2400" dirty="0">
                <a:latin typeface="メイリオ" panose="020B0604030504040204" pitchFamily="50" charset="-128"/>
                <a:ea typeface="メイリオ" panose="020B0604030504040204" pitchFamily="50" charset="-128"/>
              </a:rPr>
              <a:t>最近傍法クラス：</a:t>
            </a:r>
            <a:r>
              <a:rPr kumimoji="1" lang="en-US" altLang="ja-JP" sz="2400" b="1" dirty="0" err="1">
                <a:latin typeface="メイリオ" panose="020B0604030504040204" pitchFamily="50" charset="-128"/>
                <a:ea typeface="メイリオ" panose="020B0604030504040204" pitchFamily="50" charset="-128"/>
              </a:rPr>
              <a:t>KNeighborsClassifier</a:t>
            </a:r>
            <a:r>
              <a:rPr kumimoji="1" lang="en-US" altLang="ja-JP" sz="2400" b="1" dirty="0">
                <a:latin typeface="メイリオ" panose="020B0604030504040204" pitchFamily="50" charset="-128"/>
                <a:ea typeface="メイリオ" panose="020B0604030504040204" pitchFamily="50" charset="-128"/>
              </a:rPr>
              <a:t>( )</a:t>
            </a:r>
            <a:endParaRPr kumimoji="1" lang="ja-JP" altLang="en-US" sz="2400" dirty="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4E1B68C4-501E-4A93-A145-E6A848691274}"/>
              </a:ext>
            </a:extLst>
          </p:cNvPr>
          <p:cNvSpPr txBox="1"/>
          <p:nvPr/>
        </p:nvSpPr>
        <p:spPr>
          <a:xfrm>
            <a:off x="3352801" y="4453502"/>
            <a:ext cx="2056973"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K=1</a:t>
            </a:r>
            <a:r>
              <a:rPr kumimoji="1" lang="ja-JP" altLang="en-US" sz="2400" dirty="0">
                <a:latin typeface="メイリオ" panose="020B0604030504040204" pitchFamily="50" charset="-128"/>
                <a:ea typeface="メイリオ" panose="020B0604030504040204" pitchFamily="50" charset="-128"/>
              </a:rPr>
              <a:t>最近傍法</a:t>
            </a:r>
          </a:p>
        </p:txBody>
      </p:sp>
      <p:sp>
        <p:nvSpPr>
          <p:cNvPr id="10" name="テキスト ボックス 9">
            <a:extLst>
              <a:ext uri="{FF2B5EF4-FFF2-40B4-BE49-F238E27FC236}">
                <a16:creationId xmlns:a16="http://schemas.microsoft.com/office/drawing/2014/main" id="{B7FA2CE7-323D-4660-AC55-E8D52B02B7E7}"/>
              </a:ext>
            </a:extLst>
          </p:cNvPr>
          <p:cNvSpPr txBox="1"/>
          <p:nvPr/>
        </p:nvSpPr>
        <p:spPr>
          <a:xfrm>
            <a:off x="6630432" y="4776438"/>
            <a:ext cx="2056973"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K=2</a:t>
            </a:r>
            <a:r>
              <a:rPr kumimoji="1" lang="ja-JP" altLang="en-US" sz="2400" dirty="0">
                <a:latin typeface="メイリオ" panose="020B0604030504040204" pitchFamily="50" charset="-128"/>
                <a:ea typeface="メイリオ" panose="020B0604030504040204" pitchFamily="50" charset="-128"/>
              </a:rPr>
              <a:t>最近傍法</a:t>
            </a:r>
          </a:p>
        </p:txBody>
      </p:sp>
      <p:sp>
        <p:nvSpPr>
          <p:cNvPr id="11" name="楕円 10">
            <a:extLst>
              <a:ext uri="{FF2B5EF4-FFF2-40B4-BE49-F238E27FC236}">
                <a16:creationId xmlns:a16="http://schemas.microsoft.com/office/drawing/2014/main" id="{691CE054-9732-41D3-B014-CE6C74D0782F}"/>
              </a:ext>
            </a:extLst>
          </p:cNvPr>
          <p:cNvSpPr/>
          <p:nvPr/>
        </p:nvSpPr>
        <p:spPr>
          <a:xfrm>
            <a:off x="2994938" y="4262170"/>
            <a:ext cx="2772697" cy="844327"/>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BAA00FD3-55EF-4B30-A8FE-7F3F66BA7CEE}"/>
              </a:ext>
            </a:extLst>
          </p:cNvPr>
          <p:cNvSpPr/>
          <p:nvPr/>
        </p:nvSpPr>
        <p:spPr>
          <a:xfrm>
            <a:off x="6319044" y="4612202"/>
            <a:ext cx="2772697" cy="844327"/>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9CAE9301-FEE9-4A2C-BABA-20FA47CBDA6C}"/>
              </a:ext>
            </a:extLst>
          </p:cNvPr>
          <p:cNvSpPr txBox="1"/>
          <p:nvPr/>
        </p:nvSpPr>
        <p:spPr>
          <a:xfrm>
            <a:off x="2328164" y="5850170"/>
            <a:ext cx="7625806" cy="1015663"/>
          </a:xfrm>
          <a:prstGeom prst="rect">
            <a:avLst/>
          </a:prstGeom>
          <a:noFill/>
        </p:spPr>
        <p:txBody>
          <a:bodyPr wrap="none" rtlCol="0">
            <a:spAutoFit/>
          </a:bodyPr>
          <a:lstStyle/>
          <a:p>
            <a:pPr marL="342900" indent="-342900">
              <a:buFont typeface="Wingdings" panose="05000000000000000000" pitchFamily="2" charset="2"/>
              <a:buChar char="l"/>
            </a:pPr>
            <a:r>
              <a:rPr kumimoji="1" lang="en-US" altLang="ja-JP" sz="2000" dirty="0">
                <a:latin typeface="メイリオ" panose="020B0604030504040204" pitchFamily="50" charset="-128"/>
                <a:ea typeface="メイリオ" panose="020B0604030504040204" pitchFamily="50" charset="-128"/>
              </a:rPr>
              <a:t>K</a:t>
            </a:r>
            <a:r>
              <a:rPr kumimoji="1" lang="ja-JP" altLang="en-US" sz="2000" dirty="0">
                <a:latin typeface="メイリオ" panose="020B0604030504040204" pitchFamily="50" charset="-128"/>
                <a:ea typeface="メイリオ" panose="020B0604030504040204" pitchFamily="50" charset="-128"/>
              </a:rPr>
              <a:t>を決めた時点で初めて最近傍法は具現化する</a:t>
            </a:r>
            <a:endParaRPr kumimoji="1" lang="en-US" altLang="ja-JP" sz="20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l"/>
            </a:pPr>
            <a:r>
              <a:rPr kumimoji="1" lang="ja-JP" altLang="en-US" sz="2000" dirty="0">
                <a:latin typeface="メイリオ" panose="020B0604030504040204" pitchFamily="50" charset="-128"/>
                <a:ea typeface="メイリオ" panose="020B0604030504040204" pitchFamily="50" charset="-128"/>
              </a:rPr>
              <a:t>具現化した最近傍法をインスタンス（オブジェクト）と呼ぶ</a:t>
            </a:r>
            <a:endParaRPr kumimoji="1" lang="en-US" altLang="ja-JP" sz="20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l"/>
            </a:pPr>
            <a:r>
              <a:rPr kumimoji="1" lang="en-US" altLang="ja-JP" sz="2000" dirty="0">
                <a:latin typeface="メイリオ" panose="020B0604030504040204" pitchFamily="50" charset="-128"/>
                <a:ea typeface="メイリオ" panose="020B0604030504040204" pitchFamily="50" charset="-128"/>
              </a:rPr>
              <a:t>K</a:t>
            </a:r>
            <a:r>
              <a:rPr kumimoji="1" lang="ja-JP" altLang="en-US" sz="2000" dirty="0">
                <a:latin typeface="メイリオ" panose="020B0604030504040204" pitchFamily="50" charset="-128"/>
                <a:ea typeface="メイリオ" panose="020B0604030504040204" pitchFamily="50" charset="-128"/>
              </a:rPr>
              <a:t>が未定の最近傍法は抽象的なひな形のようなもの（クラス）</a:t>
            </a:r>
          </a:p>
        </p:txBody>
      </p:sp>
      <p:sp>
        <p:nvSpPr>
          <p:cNvPr id="15" name="テキスト ボックス 14">
            <a:extLst>
              <a:ext uri="{FF2B5EF4-FFF2-40B4-BE49-F238E27FC236}">
                <a16:creationId xmlns:a16="http://schemas.microsoft.com/office/drawing/2014/main" id="{B1112ACC-E208-4288-AE5C-3FE073A9C2D6}"/>
              </a:ext>
            </a:extLst>
          </p:cNvPr>
          <p:cNvSpPr txBox="1"/>
          <p:nvPr/>
        </p:nvSpPr>
        <p:spPr>
          <a:xfrm>
            <a:off x="3409976" y="5084336"/>
            <a:ext cx="1569660" cy="369332"/>
          </a:xfrm>
          <a:prstGeom prst="rect">
            <a:avLst/>
          </a:prstGeom>
          <a:noFill/>
        </p:spPr>
        <p:txBody>
          <a:bodyPr wrap="none" rtlCol="0">
            <a:spAutoFit/>
          </a:bodyPr>
          <a:lstStyle/>
          <a:p>
            <a:pPr algn="l"/>
            <a:r>
              <a:rPr kumimoji="1" lang="ja-JP" altLang="en-US" dirty="0">
                <a:latin typeface="メイリオ" panose="020B0604030504040204" pitchFamily="50" charset="-128"/>
                <a:ea typeface="メイリオ" panose="020B0604030504040204" pitchFamily="50" charset="-128"/>
              </a:rPr>
              <a:t>インスタンス</a:t>
            </a:r>
          </a:p>
        </p:txBody>
      </p:sp>
      <p:sp>
        <p:nvSpPr>
          <p:cNvPr id="16" name="テキスト ボックス 15">
            <a:extLst>
              <a:ext uri="{FF2B5EF4-FFF2-40B4-BE49-F238E27FC236}">
                <a16:creationId xmlns:a16="http://schemas.microsoft.com/office/drawing/2014/main" id="{1379D64D-EC0E-4A15-B144-900536CD2F16}"/>
              </a:ext>
            </a:extLst>
          </p:cNvPr>
          <p:cNvSpPr txBox="1"/>
          <p:nvPr/>
        </p:nvSpPr>
        <p:spPr>
          <a:xfrm>
            <a:off x="7036730" y="5386071"/>
            <a:ext cx="1569660" cy="369332"/>
          </a:xfrm>
          <a:prstGeom prst="rect">
            <a:avLst/>
          </a:prstGeom>
          <a:noFill/>
        </p:spPr>
        <p:txBody>
          <a:bodyPr wrap="none" rtlCol="0">
            <a:spAutoFit/>
          </a:bodyPr>
          <a:lstStyle/>
          <a:p>
            <a:pPr algn="l"/>
            <a:r>
              <a:rPr kumimoji="1" lang="ja-JP" altLang="en-US" dirty="0">
                <a:latin typeface="メイリオ" panose="020B0604030504040204" pitchFamily="50" charset="-128"/>
                <a:ea typeface="メイリオ" panose="020B0604030504040204" pitchFamily="50" charset="-128"/>
              </a:rPr>
              <a:t>インスタンス</a:t>
            </a:r>
          </a:p>
        </p:txBody>
      </p:sp>
    </p:spTree>
    <p:extLst>
      <p:ext uri="{BB962C8B-B14F-4D97-AF65-F5344CB8AC3E}">
        <p14:creationId xmlns:p14="http://schemas.microsoft.com/office/powerpoint/2010/main" val="2565098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F9EA26CA-BC4A-49A1-8020-10A7322E755D}"/>
              </a:ext>
            </a:extLst>
          </p:cNvPr>
          <p:cNvSpPr/>
          <p:nvPr/>
        </p:nvSpPr>
        <p:spPr>
          <a:xfrm>
            <a:off x="2546555" y="922226"/>
            <a:ext cx="7403690" cy="461665"/>
          </a:xfrm>
          <a:prstGeom prst="rect">
            <a:avLst/>
          </a:prstGeom>
        </p:spPr>
        <p:txBody>
          <a:bodyPr wrap="square">
            <a:spAutoFit/>
          </a:bodyPr>
          <a:lstStyle/>
          <a:p>
            <a:r>
              <a:rPr kumimoji="1" lang="en-US" altLang="ja-JP" sz="2400" b="1" dirty="0" err="1">
                <a:latin typeface="メイリオ" panose="020B0604030504040204" pitchFamily="50" charset="-128"/>
                <a:ea typeface="メイリオ" panose="020B0604030504040204" pitchFamily="50" charset="-128"/>
              </a:rPr>
              <a:t>knn</a:t>
            </a:r>
            <a:r>
              <a:rPr kumimoji="1" lang="en-US" altLang="ja-JP" sz="2400" b="1" dirty="0">
                <a:latin typeface="メイリオ" panose="020B0604030504040204" pitchFamily="50" charset="-128"/>
                <a:ea typeface="メイリオ" panose="020B0604030504040204" pitchFamily="50" charset="-128"/>
              </a:rPr>
              <a:t> = </a:t>
            </a:r>
            <a:r>
              <a:rPr kumimoji="1" lang="en-US" altLang="ja-JP" sz="2400" b="1" dirty="0" err="1">
                <a:latin typeface="メイリオ" panose="020B0604030504040204" pitchFamily="50" charset="-128"/>
                <a:ea typeface="メイリオ" panose="020B0604030504040204" pitchFamily="50" charset="-128"/>
              </a:rPr>
              <a:t>KNeighborsClassifier</a:t>
            </a:r>
            <a:r>
              <a:rPr kumimoji="1" lang="en-US" altLang="ja-JP" sz="2400" b="1" dirty="0">
                <a:latin typeface="メイリオ" panose="020B0604030504040204" pitchFamily="50" charset="-128"/>
                <a:ea typeface="メイリオ" panose="020B0604030504040204" pitchFamily="50" charset="-128"/>
              </a:rPr>
              <a:t>(</a:t>
            </a:r>
            <a:r>
              <a:rPr kumimoji="1" lang="en-US" altLang="ja-JP" sz="2400" b="1" dirty="0" err="1">
                <a:latin typeface="メイリオ" panose="020B0604030504040204" pitchFamily="50" charset="-128"/>
                <a:ea typeface="メイリオ" panose="020B0604030504040204" pitchFamily="50" charset="-128"/>
              </a:rPr>
              <a:t>n_neighbors</a:t>
            </a:r>
            <a:r>
              <a:rPr kumimoji="1" lang="en-US" altLang="ja-JP" sz="2400" b="1" dirty="0">
                <a:latin typeface="メイリオ" panose="020B0604030504040204" pitchFamily="50" charset="-128"/>
                <a:ea typeface="メイリオ" panose="020B0604030504040204" pitchFamily="50" charset="-128"/>
              </a:rPr>
              <a:t>=1)</a:t>
            </a:r>
          </a:p>
        </p:txBody>
      </p:sp>
      <p:sp>
        <p:nvSpPr>
          <p:cNvPr id="3" name="左中かっこ 2">
            <a:extLst>
              <a:ext uri="{FF2B5EF4-FFF2-40B4-BE49-F238E27FC236}">
                <a16:creationId xmlns:a16="http://schemas.microsoft.com/office/drawing/2014/main" id="{B18A0FBE-B2DA-4DAB-844E-25088B68FB23}"/>
              </a:ext>
            </a:extLst>
          </p:cNvPr>
          <p:cNvSpPr/>
          <p:nvPr/>
        </p:nvSpPr>
        <p:spPr>
          <a:xfrm rot="16200000">
            <a:off x="6527390" y="-1409701"/>
            <a:ext cx="462116" cy="6049297"/>
          </a:xfrm>
          <a:prstGeom prst="leftBrace">
            <a:avLst>
              <a:gd name="adj1" fmla="val 1684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A6EBBEB1-1AD5-4BCF-AF05-7F430DE6F174}"/>
              </a:ext>
            </a:extLst>
          </p:cNvPr>
          <p:cNvSpPr txBox="1"/>
          <p:nvPr/>
        </p:nvSpPr>
        <p:spPr>
          <a:xfrm>
            <a:off x="5594555" y="2025445"/>
            <a:ext cx="3089307"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クラス</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パラメータ）</a:t>
            </a:r>
          </a:p>
        </p:txBody>
      </p:sp>
      <p:sp>
        <p:nvSpPr>
          <p:cNvPr id="6" name="左中かっこ 5">
            <a:extLst>
              <a:ext uri="{FF2B5EF4-FFF2-40B4-BE49-F238E27FC236}">
                <a16:creationId xmlns:a16="http://schemas.microsoft.com/office/drawing/2014/main" id="{4671A500-641B-45D6-A575-926E40F7859F}"/>
              </a:ext>
            </a:extLst>
          </p:cNvPr>
          <p:cNvSpPr/>
          <p:nvPr/>
        </p:nvSpPr>
        <p:spPr>
          <a:xfrm rot="16200000">
            <a:off x="2804765" y="1280425"/>
            <a:ext cx="245807" cy="62457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C7B66508-FC67-4D8A-8FA8-5CFDDEFCBA3C}"/>
              </a:ext>
            </a:extLst>
          </p:cNvPr>
          <p:cNvSpPr txBox="1"/>
          <p:nvPr/>
        </p:nvSpPr>
        <p:spPr>
          <a:xfrm>
            <a:off x="2124516" y="1846007"/>
            <a:ext cx="2031325"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インスタンス</a:t>
            </a:r>
          </a:p>
        </p:txBody>
      </p:sp>
      <p:sp>
        <p:nvSpPr>
          <p:cNvPr id="9" name="テキスト ボックス 8">
            <a:extLst>
              <a:ext uri="{FF2B5EF4-FFF2-40B4-BE49-F238E27FC236}">
                <a16:creationId xmlns:a16="http://schemas.microsoft.com/office/drawing/2014/main" id="{7EB5173E-4BEC-4F3F-8D79-E93C38EFCA3B}"/>
              </a:ext>
            </a:extLst>
          </p:cNvPr>
          <p:cNvSpPr txBox="1"/>
          <p:nvPr/>
        </p:nvSpPr>
        <p:spPr>
          <a:xfrm>
            <a:off x="6947047" y="3882947"/>
            <a:ext cx="2030877" cy="461665"/>
          </a:xfrm>
          <a:prstGeom prst="rect">
            <a:avLst/>
          </a:prstGeom>
          <a:noFill/>
        </p:spPr>
        <p:txBody>
          <a:bodyPr wrap="none" rtlCol="0">
            <a:spAutoFit/>
          </a:bodyPr>
          <a:lstStyle/>
          <a:p>
            <a:pPr algn="l"/>
            <a:r>
              <a:rPr kumimoji="1" lang="en-US" altLang="ja-JP" sz="2400" dirty="0" err="1">
                <a:latin typeface="メイリオ" panose="020B0604030504040204" pitchFamily="50" charset="-128"/>
                <a:ea typeface="メイリオ" panose="020B0604030504040204" pitchFamily="50" charset="-128"/>
              </a:rPr>
              <a:t>knn.fit</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引数</a:t>
            </a:r>
            <a:r>
              <a:rPr kumimoji="1" lang="en-US" altLang="ja-JP" sz="2400" dirty="0">
                <a:latin typeface="メイリオ" panose="020B0604030504040204" pitchFamily="50" charset="-128"/>
                <a:ea typeface="メイリオ" panose="020B0604030504040204" pitchFamily="50" charset="-128"/>
              </a:rPr>
              <a:t>)</a:t>
            </a:r>
            <a:endParaRPr kumimoji="1" lang="ja-JP" altLang="en-US" sz="2400"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5ECC3FE-647B-4936-B028-13DF7831F9FB}"/>
              </a:ext>
            </a:extLst>
          </p:cNvPr>
          <p:cNvSpPr txBox="1"/>
          <p:nvPr/>
        </p:nvSpPr>
        <p:spPr>
          <a:xfrm>
            <a:off x="6532730" y="4392770"/>
            <a:ext cx="4562467" cy="461665"/>
          </a:xfrm>
          <a:prstGeom prst="rect">
            <a:avLst/>
          </a:prstGeom>
          <a:noFill/>
        </p:spPr>
        <p:txBody>
          <a:bodyPr wrap="none" rtlCol="0">
            <a:spAutoFit/>
          </a:bodyPr>
          <a:lstStyle/>
          <a:p>
            <a:pPr algn="l"/>
            <a:r>
              <a:rPr kumimoji="1" lang="ja-JP" altLang="en-US" sz="2400" b="1" dirty="0">
                <a:latin typeface="メイリオ" panose="020B0604030504040204" pitchFamily="50" charset="-128"/>
                <a:ea typeface="メイリオ" panose="020B0604030504040204" pitchFamily="50" charset="-128"/>
              </a:rPr>
              <a:t>インスタンス名</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メソッド</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引数</a:t>
            </a:r>
            <a:r>
              <a:rPr kumimoji="1" lang="en-US" altLang="ja-JP" sz="2400" dirty="0">
                <a:latin typeface="メイリオ" panose="020B0604030504040204" pitchFamily="50" charset="-128"/>
                <a:ea typeface="メイリオ" panose="020B0604030504040204" pitchFamily="50" charset="-128"/>
              </a:rPr>
              <a:t>)</a:t>
            </a:r>
            <a:endParaRPr kumimoji="1" lang="ja-JP" altLang="en-US" sz="24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7497D28D-852B-4790-A764-6677A4BEDCE1}"/>
              </a:ext>
            </a:extLst>
          </p:cNvPr>
          <p:cNvSpPr txBox="1"/>
          <p:nvPr/>
        </p:nvSpPr>
        <p:spPr>
          <a:xfrm>
            <a:off x="1515972" y="231822"/>
            <a:ext cx="10033516"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インスタンス変数にはデータが入ってるわけではない</a:t>
            </a:r>
          </a:p>
        </p:txBody>
      </p:sp>
      <p:sp>
        <p:nvSpPr>
          <p:cNvPr id="12" name="テキスト ボックス 11">
            <a:extLst>
              <a:ext uri="{FF2B5EF4-FFF2-40B4-BE49-F238E27FC236}">
                <a16:creationId xmlns:a16="http://schemas.microsoft.com/office/drawing/2014/main" id="{EB1D7505-853C-4E38-88A1-7310CA4D8866}"/>
              </a:ext>
            </a:extLst>
          </p:cNvPr>
          <p:cNvSpPr txBox="1"/>
          <p:nvPr/>
        </p:nvSpPr>
        <p:spPr>
          <a:xfrm>
            <a:off x="2265128" y="2796521"/>
            <a:ext cx="8186857"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インスタンスの中には、関数（メソッド）が入っている！</a:t>
            </a:r>
          </a:p>
        </p:txBody>
      </p:sp>
      <p:sp>
        <p:nvSpPr>
          <p:cNvPr id="13" name="テキスト ボックス 12">
            <a:extLst>
              <a:ext uri="{FF2B5EF4-FFF2-40B4-BE49-F238E27FC236}">
                <a16:creationId xmlns:a16="http://schemas.microsoft.com/office/drawing/2014/main" id="{A9BB5160-FE83-401F-B726-FBB15B876E5A}"/>
              </a:ext>
            </a:extLst>
          </p:cNvPr>
          <p:cNvSpPr txBox="1"/>
          <p:nvPr/>
        </p:nvSpPr>
        <p:spPr>
          <a:xfrm>
            <a:off x="3144597" y="3588721"/>
            <a:ext cx="2056973"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K=1</a:t>
            </a:r>
            <a:r>
              <a:rPr kumimoji="1" lang="ja-JP" altLang="en-US" sz="2400" dirty="0">
                <a:latin typeface="メイリオ" panose="020B0604030504040204" pitchFamily="50" charset="-128"/>
                <a:ea typeface="メイリオ" panose="020B0604030504040204" pitchFamily="50" charset="-128"/>
              </a:rPr>
              <a:t>最近傍法</a:t>
            </a:r>
          </a:p>
        </p:txBody>
      </p:sp>
      <p:sp>
        <p:nvSpPr>
          <p:cNvPr id="14" name="楕円 13">
            <a:extLst>
              <a:ext uri="{FF2B5EF4-FFF2-40B4-BE49-F238E27FC236}">
                <a16:creationId xmlns:a16="http://schemas.microsoft.com/office/drawing/2014/main" id="{EEB4164E-F4A3-4CF4-B18A-834467328481}"/>
              </a:ext>
            </a:extLst>
          </p:cNvPr>
          <p:cNvSpPr/>
          <p:nvPr/>
        </p:nvSpPr>
        <p:spPr>
          <a:xfrm>
            <a:off x="2325661" y="3331597"/>
            <a:ext cx="3926973" cy="1719632"/>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83665760-EB79-4E32-BE5C-459DA9307E21}"/>
              </a:ext>
            </a:extLst>
          </p:cNvPr>
          <p:cNvSpPr txBox="1"/>
          <p:nvPr/>
        </p:nvSpPr>
        <p:spPr>
          <a:xfrm>
            <a:off x="3584675" y="5018933"/>
            <a:ext cx="1569660" cy="369332"/>
          </a:xfrm>
          <a:prstGeom prst="rect">
            <a:avLst/>
          </a:prstGeom>
          <a:noFill/>
        </p:spPr>
        <p:txBody>
          <a:bodyPr wrap="none" rtlCol="0">
            <a:spAutoFit/>
          </a:bodyPr>
          <a:lstStyle/>
          <a:p>
            <a:pPr algn="l"/>
            <a:r>
              <a:rPr kumimoji="1" lang="ja-JP" altLang="en-US" dirty="0">
                <a:latin typeface="メイリオ" panose="020B0604030504040204" pitchFamily="50" charset="-128"/>
                <a:ea typeface="メイリオ" panose="020B0604030504040204" pitchFamily="50" charset="-128"/>
              </a:rPr>
              <a:t>インスタンス</a:t>
            </a:r>
          </a:p>
        </p:txBody>
      </p:sp>
      <p:sp>
        <p:nvSpPr>
          <p:cNvPr id="16" name="テキスト ボックス 15">
            <a:extLst>
              <a:ext uri="{FF2B5EF4-FFF2-40B4-BE49-F238E27FC236}">
                <a16:creationId xmlns:a16="http://schemas.microsoft.com/office/drawing/2014/main" id="{15D15936-5DE0-437F-8606-84F383EE5E38}"/>
              </a:ext>
            </a:extLst>
          </p:cNvPr>
          <p:cNvSpPr txBox="1"/>
          <p:nvPr/>
        </p:nvSpPr>
        <p:spPr>
          <a:xfrm>
            <a:off x="3527515" y="3976516"/>
            <a:ext cx="2185214" cy="707886"/>
          </a:xfrm>
          <a:prstGeom prst="rect">
            <a:avLst/>
          </a:prstGeom>
          <a:noFill/>
        </p:spPr>
        <p:txBody>
          <a:bodyPr wrap="none" rtlCol="0">
            <a:spAutoFit/>
          </a:bodyPr>
          <a:lstStyle/>
          <a:p>
            <a:pPr marL="457200" indent="-457200">
              <a:buFont typeface="+mj-lt"/>
              <a:buAutoNum type="arabicPeriod"/>
            </a:pPr>
            <a:r>
              <a:rPr kumimoji="1" lang="ja-JP" altLang="en-US" sz="2000" dirty="0">
                <a:latin typeface="メイリオ" panose="020B0604030504040204" pitchFamily="50" charset="-128"/>
                <a:ea typeface="メイリオ" panose="020B0604030504040204" pitchFamily="50" charset="-128"/>
              </a:rPr>
              <a:t>学習メソッド</a:t>
            </a:r>
            <a:endParaRPr kumimoji="1" lang="en-US" altLang="ja-JP" sz="2000" dirty="0">
              <a:latin typeface="メイリオ" panose="020B0604030504040204" pitchFamily="50" charset="-128"/>
              <a:ea typeface="メイリオ" panose="020B0604030504040204" pitchFamily="50" charset="-128"/>
            </a:endParaRPr>
          </a:p>
          <a:p>
            <a:pPr marL="457200" indent="-457200">
              <a:buFont typeface="+mj-lt"/>
              <a:buAutoNum type="arabicPeriod"/>
            </a:pPr>
            <a:r>
              <a:rPr kumimoji="1" lang="ja-JP" altLang="en-US" sz="2000" dirty="0">
                <a:latin typeface="メイリオ" panose="020B0604030504040204" pitchFamily="50" charset="-128"/>
                <a:ea typeface="メイリオ" panose="020B0604030504040204" pitchFamily="50" charset="-128"/>
              </a:rPr>
              <a:t>予測メソッド</a:t>
            </a:r>
          </a:p>
        </p:txBody>
      </p:sp>
      <p:sp>
        <p:nvSpPr>
          <p:cNvPr id="17" name="矢印: 右 16">
            <a:extLst>
              <a:ext uri="{FF2B5EF4-FFF2-40B4-BE49-F238E27FC236}">
                <a16:creationId xmlns:a16="http://schemas.microsoft.com/office/drawing/2014/main" id="{93BA5103-0F5C-4388-9FDE-3F34CB26CF73}"/>
              </a:ext>
            </a:extLst>
          </p:cNvPr>
          <p:cNvSpPr/>
          <p:nvPr/>
        </p:nvSpPr>
        <p:spPr>
          <a:xfrm>
            <a:off x="5637252" y="3957665"/>
            <a:ext cx="1241040" cy="312228"/>
          </a:xfrm>
          <a:prstGeom prst="rightArrow">
            <a:avLst>
              <a:gd name="adj1" fmla="val 50000"/>
              <a:gd name="adj2" fmla="val 8149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6A1B19FE-A504-4111-A108-6C7BC4CEB96F}"/>
              </a:ext>
            </a:extLst>
          </p:cNvPr>
          <p:cNvSpPr txBox="1"/>
          <p:nvPr/>
        </p:nvSpPr>
        <p:spPr>
          <a:xfrm>
            <a:off x="6652152" y="4779717"/>
            <a:ext cx="4015849" cy="1323439"/>
          </a:xfrm>
          <a:prstGeom prst="rect">
            <a:avLst/>
          </a:prstGeom>
          <a:noFill/>
        </p:spPr>
        <p:txBody>
          <a:bodyPr wrap="square" rtlCol="0">
            <a:spAutoFit/>
          </a:bodyPr>
          <a:lstStyle/>
          <a:p>
            <a:pPr algn="l"/>
            <a:r>
              <a:rPr kumimoji="1" lang="ja-JP" altLang="en-US" sz="2000" dirty="0">
                <a:latin typeface="メイリオ" panose="020B0604030504040204" pitchFamily="50" charset="-128"/>
                <a:ea typeface="メイリオ" panose="020B0604030504040204" pitchFamily="50" charset="-128"/>
              </a:rPr>
              <a:t>この構文でインスタンスの中にあるいろいろなメソッドを呼び出す</a:t>
            </a:r>
            <a:endParaRPr kumimoji="1" lang="en-US" altLang="ja-JP" sz="2000"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（モジュール</a:t>
            </a:r>
            <a:r>
              <a:rPr kumimoji="1" lang="en-US" altLang="ja-JP" sz="2000" dirty="0">
                <a:latin typeface="メイリオ" panose="020B0604030504040204" pitchFamily="50" charset="-128"/>
                <a:ea typeface="メイリオ" panose="020B0604030504040204" pitchFamily="50" charset="-128"/>
              </a:rPr>
              <a:t>.</a:t>
            </a:r>
            <a:r>
              <a:rPr kumimoji="1" lang="ja-JP" altLang="en-US" sz="2000" dirty="0">
                <a:latin typeface="メイリオ" panose="020B0604030504040204" pitchFamily="50" charset="-128"/>
                <a:ea typeface="メイリオ" panose="020B0604030504040204" pitchFamily="50" charset="-128"/>
              </a:rPr>
              <a:t>関数</a:t>
            </a:r>
            <a:r>
              <a:rPr kumimoji="1" lang="en-US" altLang="ja-JP" sz="2000" dirty="0">
                <a:latin typeface="メイリオ" panose="020B0604030504040204" pitchFamily="50" charset="-128"/>
                <a:ea typeface="メイリオ" panose="020B0604030504040204" pitchFamily="50" charset="-128"/>
              </a:rPr>
              <a:t>()</a:t>
            </a:r>
            <a:r>
              <a:rPr kumimoji="1" lang="ja-JP" altLang="en-US" sz="2000" dirty="0">
                <a:latin typeface="メイリオ" panose="020B0604030504040204" pitchFamily="50" charset="-128"/>
                <a:ea typeface="メイリオ" panose="020B0604030504040204" pitchFamily="50" charset="-128"/>
              </a:rPr>
              <a:t>と少し似ている）</a:t>
            </a:r>
          </a:p>
        </p:txBody>
      </p:sp>
      <p:sp>
        <p:nvSpPr>
          <p:cNvPr id="20" name="テキスト ボックス 19">
            <a:extLst>
              <a:ext uri="{FF2B5EF4-FFF2-40B4-BE49-F238E27FC236}">
                <a16:creationId xmlns:a16="http://schemas.microsoft.com/office/drawing/2014/main" id="{F0809757-70DA-4A30-92A6-0A9785280B94}"/>
              </a:ext>
            </a:extLst>
          </p:cNvPr>
          <p:cNvSpPr txBox="1"/>
          <p:nvPr/>
        </p:nvSpPr>
        <p:spPr>
          <a:xfrm flipH="1">
            <a:off x="2001142" y="6400220"/>
            <a:ext cx="9255121" cy="461665"/>
          </a:xfrm>
          <a:prstGeom prst="rect">
            <a:avLst/>
          </a:prstGeom>
          <a:noFill/>
        </p:spPr>
        <p:txBody>
          <a:bodyPr wrap="square" rtlCol="0">
            <a:spAutoFit/>
          </a:bodyPr>
          <a:lstStyle/>
          <a:p>
            <a:pPr algn="l"/>
            <a:r>
              <a:rPr kumimoji="1" lang="ja-JP" altLang="en-US" sz="2400" b="1" dirty="0">
                <a:latin typeface="メイリオ" panose="020B0604030504040204" pitchFamily="50" charset="-128"/>
                <a:ea typeface="メイリオ" panose="020B0604030504040204" pitchFamily="50" charset="-128"/>
              </a:rPr>
              <a:t>インスタンス名</a:t>
            </a:r>
            <a:r>
              <a:rPr kumimoji="1" lang="en-US" altLang="ja-JP" sz="2400" b="1" dirty="0">
                <a:latin typeface="メイリオ" panose="020B0604030504040204" pitchFamily="50" charset="-128"/>
                <a:ea typeface="メイリオ" panose="020B0604030504040204" pitchFamily="50" charset="-128"/>
              </a:rPr>
              <a:t>.fit(</a:t>
            </a:r>
            <a:r>
              <a:rPr kumimoji="1" lang="ja-JP" altLang="en-US" sz="2400" b="1" dirty="0">
                <a:latin typeface="メイリオ" panose="020B0604030504040204" pitchFamily="50" charset="-128"/>
                <a:ea typeface="メイリオ" panose="020B0604030504040204" pitchFamily="50" charset="-128"/>
              </a:rPr>
              <a:t>訓練特徴量行列，訓練教師ラベルベクトル）</a:t>
            </a:r>
          </a:p>
        </p:txBody>
      </p:sp>
      <p:sp>
        <p:nvSpPr>
          <p:cNvPr id="21" name="テキスト ボックス 20">
            <a:extLst>
              <a:ext uri="{FF2B5EF4-FFF2-40B4-BE49-F238E27FC236}">
                <a16:creationId xmlns:a16="http://schemas.microsoft.com/office/drawing/2014/main" id="{B03EF951-B8FF-4DE3-94DD-289BC62501FE}"/>
              </a:ext>
            </a:extLst>
          </p:cNvPr>
          <p:cNvSpPr txBox="1"/>
          <p:nvPr/>
        </p:nvSpPr>
        <p:spPr>
          <a:xfrm>
            <a:off x="1957230" y="5988450"/>
            <a:ext cx="1723549" cy="461665"/>
          </a:xfrm>
          <a:prstGeom prst="rect">
            <a:avLst/>
          </a:prstGeom>
          <a:noFill/>
        </p:spPr>
        <p:txBody>
          <a:bodyPr wrap="none" rtlCol="0">
            <a:spAutoFit/>
          </a:bodyPr>
          <a:lstStyle/>
          <a:p>
            <a:pPr algn="l"/>
            <a:r>
              <a:rPr kumimoji="1" lang="ja-JP" altLang="en-US" sz="2400" u="sng" dirty="0">
                <a:latin typeface="メイリオ" panose="020B0604030504040204" pitchFamily="50" charset="-128"/>
                <a:ea typeface="メイリオ" panose="020B0604030504040204" pitchFamily="50" charset="-128"/>
              </a:rPr>
              <a:t>学習の構文</a:t>
            </a:r>
          </a:p>
        </p:txBody>
      </p:sp>
    </p:spTree>
    <p:extLst>
      <p:ext uri="{BB962C8B-B14F-4D97-AF65-F5344CB8AC3E}">
        <p14:creationId xmlns:p14="http://schemas.microsoft.com/office/powerpoint/2010/main" val="1081190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822A9DD-BAC5-3A5E-CF83-E40351E6CC1E}"/>
              </a:ext>
            </a:extLst>
          </p:cNvPr>
          <p:cNvSpPr txBox="1"/>
          <p:nvPr/>
        </p:nvSpPr>
        <p:spPr>
          <a:xfrm>
            <a:off x="133350" y="571500"/>
            <a:ext cx="11535530"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演習</a:t>
            </a:r>
            <a:r>
              <a:rPr kumimoji="1" lang="ja-JP" altLang="en-US" sz="3200" dirty="0">
                <a:latin typeface="メイリオ" panose="020B0604030504040204" pitchFamily="50" charset="-128"/>
                <a:ea typeface="メイリオ" panose="020B0604030504040204" pitchFamily="50" charset="-128"/>
              </a:rPr>
              <a:t>：異なるハイパーパラメータで</a:t>
            </a:r>
            <a:r>
              <a:rPr kumimoji="1" lang="en-US" altLang="ja-JP" sz="3200" dirty="0">
                <a:latin typeface="メイリオ" panose="020B0604030504040204" pitchFamily="50" charset="-128"/>
                <a:ea typeface="メイリオ" panose="020B0604030504040204" pitchFamily="50" charset="-128"/>
              </a:rPr>
              <a:t>K</a:t>
            </a:r>
            <a:r>
              <a:rPr kumimoji="1" lang="ja-JP" altLang="en-US" sz="3200" dirty="0">
                <a:latin typeface="メイリオ" panose="020B0604030504040204" pitchFamily="50" charset="-128"/>
                <a:ea typeface="メイリオ" panose="020B0604030504040204" pitchFamily="50" charset="-128"/>
              </a:rPr>
              <a:t>最近傍法を同時に動かす</a:t>
            </a:r>
          </a:p>
        </p:txBody>
      </p:sp>
      <p:sp>
        <p:nvSpPr>
          <p:cNvPr id="3" name="正方形/長方形 2">
            <a:extLst>
              <a:ext uri="{FF2B5EF4-FFF2-40B4-BE49-F238E27FC236}">
                <a16:creationId xmlns:a16="http://schemas.microsoft.com/office/drawing/2014/main" id="{7F52537E-1211-41C5-13C9-700AA3C2C9C9}"/>
              </a:ext>
            </a:extLst>
          </p:cNvPr>
          <p:cNvSpPr/>
          <p:nvPr/>
        </p:nvSpPr>
        <p:spPr>
          <a:xfrm>
            <a:off x="898730" y="2505670"/>
            <a:ext cx="8454820" cy="461665"/>
          </a:xfrm>
          <a:prstGeom prst="rect">
            <a:avLst/>
          </a:prstGeom>
        </p:spPr>
        <p:txBody>
          <a:bodyPr wrap="square">
            <a:spAutoFit/>
          </a:bodyPr>
          <a:lstStyle/>
          <a:p>
            <a:r>
              <a:rPr kumimoji="1" lang="en-US" altLang="ja-JP" sz="2400" b="1" dirty="0">
                <a:latin typeface="メイリオ" panose="020B0604030504040204" pitchFamily="50" charset="-128"/>
                <a:ea typeface="メイリオ" panose="020B0604030504040204" pitchFamily="50" charset="-128"/>
              </a:rPr>
              <a:t>knn1 = </a:t>
            </a:r>
            <a:r>
              <a:rPr kumimoji="1" lang="en-US" altLang="ja-JP" sz="2400" b="1" dirty="0" err="1">
                <a:latin typeface="メイリオ" panose="020B0604030504040204" pitchFamily="50" charset="-128"/>
                <a:ea typeface="メイリオ" panose="020B0604030504040204" pitchFamily="50" charset="-128"/>
              </a:rPr>
              <a:t>KNeighborsClassifier</a:t>
            </a:r>
            <a:r>
              <a:rPr kumimoji="1" lang="en-US" altLang="ja-JP" sz="2400" b="1" dirty="0">
                <a:latin typeface="メイリオ" panose="020B0604030504040204" pitchFamily="50" charset="-128"/>
                <a:ea typeface="メイリオ" panose="020B0604030504040204" pitchFamily="50" charset="-128"/>
              </a:rPr>
              <a:t>(</a:t>
            </a:r>
            <a:r>
              <a:rPr kumimoji="1" lang="en-US" altLang="ja-JP" sz="2400" b="1" dirty="0" err="1">
                <a:latin typeface="メイリオ" panose="020B0604030504040204" pitchFamily="50" charset="-128"/>
                <a:ea typeface="メイリオ" panose="020B0604030504040204" pitchFamily="50" charset="-128"/>
              </a:rPr>
              <a:t>n_neighbors</a:t>
            </a:r>
            <a:r>
              <a:rPr kumimoji="1" lang="en-US" altLang="ja-JP" sz="2400" b="1" dirty="0">
                <a:latin typeface="メイリオ" panose="020B0604030504040204" pitchFamily="50" charset="-128"/>
                <a:ea typeface="メイリオ" panose="020B0604030504040204" pitchFamily="50" charset="-128"/>
              </a:rPr>
              <a:t>=1)</a:t>
            </a:r>
          </a:p>
        </p:txBody>
      </p:sp>
      <p:sp>
        <p:nvSpPr>
          <p:cNvPr id="4" name="正方形/長方形 3">
            <a:extLst>
              <a:ext uri="{FF2B5EF4-FFF2-40B4-BE49-F238E27FC236}">
                <a16:creationId xmlns:a16="http://schemas.microsoft.com/office/drawing/2014/main" id="{4CEFF52C-C4E1-999E-3EE0-5C83781726B9}"/>
              </a:ext>
            </a:extLst>
          </p:cNvPr>
          <p:cNvSpPr/>
          <p:nvPr/>
        </p:nvSpPr>
        <p:spPr>
          <a:xfrm>
            <a:off x="898729" y="2967335"/>
            <a:ext cx="8692945" cy="461665"/>
          </a:xfrm>
          <a:prstGeom prst="rect">
            <a:avLst/>
          </a:prstGeom>
        </p:spPr>
        <p:txBody>
          <a:bodyPr wrap="square">
            <a:spAutoFit/>
          </a:bodyPr>
          <a:lstStyle/>
          <a:p>
            <a:r>
              <a:rPr kumimoji="1" lang="en-US" altLang="ja-JP" sz="2400" b="1" dirty="0">
                <a:latin typeface="メイリオ" panose="020B0604030504040204" pitchFamily="50" charset="-128"/>
                <a:ea typeface="メイリオ" panose="020B0604030504040204" pitchFamily="50" charset="-128"/>
              </a:rPr>
              <a:t>knn100 = </a:t>
            </a:r>
            <a:r>
              <a:rPr kumimoji="1" lang="en-US" altLang="ja-JP" sz="2400" b="1" dirty="0" err="1">
                <a:latin typeface="メイリオ" panose="020B0604030504040204" pitchFamily="50" charset="-128"/>
                <a:ea typeface="メイリオ" panose="020B0604030504040204" pitchFamily="50" charset="-128"/>
              </a:rPr>
              <a:t>KNeighborsClassifier</a:t>
            </a:r>
            <a:r>
              <a:rPr kumimoji="1" lang="en-US" altLang="ja-JP" sz="2400" b="1" dirty="0">
                <a:latin typeface="メイリオ" panose="020B0604030504040204" pitchFamily="50" charset="-128"/>
                <a:ea typeface="メイリオ" panose="020B0604030504040204" pitchFamily="50" charset="-128"/>
              </a:rPr>
              <a:t>(</a:t>
            </a:r>
            <a:r>
              <a:rPr kumimoji="1" lang="en-US" altLang="ja-JP" sz="2400" b="1" dirty="0" err="1">
                <a:latin typeface="メイリオ" panose="020B0604030504040204" pitchFamily="50" charset="-128"/>
                <a:ea typeface="メイリオ" panose="020B0604030504040204" pitchFamily="50" charset="-128"/>
              </a:rPr>
              <a:t>n_neighbors</a:t>
            </a:r>
            <a:r>
              <a:rPr kumimoji="1" lang="en-US" altLang="ja-JP" sz="2400" b="1" dirty="0">
                <a:latin typeface="メイリオ" panose="020B0604030504040204" pitchFamily="50" charset="-128"/>
                <a:ea typeface="メイリオ" panose="020B0604030504040204" pitchFamily="50" charset="-128"/>
              </a:rPr>
              <a:t>=100)</a:t>
            </a:r>
          </a:p>
        </p:txBody>
      </p:sp>
      <p:pic>
        <p:nvPicPr>
          <p:cNvPr id="5" name="Picture 2" descr="Jupyter Notebookの後継？Jupyter Labをつかってみた - いっきのblog">
            <a:extLst>
              <a:ext uri="{FF2B5EF4-FFF2-40B4-BE49-F238E27FC236}">
                <a16:creationId xmlns:a16="http://schemas.microsoft.com/office/drawing/2014/main" id="{10630C38-4358-5324-9925-B25D562842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77794" y="1199825"/>
            <a:ext cx="1059560" cy="1158124"/>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37CE0342-1488-C5F9-9571-A35C84031BF0}"/>
              </a:ext>
            </a:extLst>
          </p:cNvPr>
          <p:cNvSpPr txBox="1"/>
          <p:nvPr/>
        </p:nvSpPr>
        <p:spPr>
          <a:xfrm>
            <a:off x="676275" y="1896283"/>
            <a:ext cx="8494633"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異なるインスタンスを作れば、同時に学習・実行できるはず</a:t>
            </a:r>
          </a:p>
        </p:txBody>
      </p:sp>
    </p:spTree>
    <p:extLst>
      <p:ext uri="{BB962C8B-B14F-4D97-AF65-F5344CB8AC3E}">
        <p14:creationId xmlns:p14="http://schemas.microsoft.com/office/powerpoint/2010/main" val="31818044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0BCABAB-9938-959D-8798-13AC2D020447}"/>
              </a:ext>
            </a:extLst>
          </p:cNvPr>
          <p:cNvSpPr txBox="1"/>
          <p:nvPr/>
        </p:nvSpPr>
        <p:spPr>
          <a:xfrm>
            <a:off x="1468582" y="2583873"/>
            <a:ext cx="800219"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メモ</a:t>
            </a:r>
          </a:p>
        </p:txBody>
      </p:sp>
    </p:spTree>
    <p:extLst>
      <p:ext uri="{BB962C8B-B14F-4D97-AF65-F5344CB8AC3E}">
        <p14:creationId xmlns:p14="http://schemas.microsoft.com/office/powerpoint/2010/main" val="11208681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D8751A4-8B8D-4F19-87B3-E532149C95FC}"/>
              </a:ext>
            </a:extLst>
          </p:cNvPr>
          <p:cNvSpPr txBox="1"/>
          <p:nvPr/>
        </p:nvSpPr>
        <p:spPr>
          <a:xfrm>
            <a:off x="385011" y="262569"/>
            <a:ext cx="6340197"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自然言語データ：食べログ口コミ</a:t>
            </a:r>
          </a:p>
        </p:txBody>
      </p:sp>
      <p:graphicFrame>
        <p:nvGraphicFramePr>
          <p:cNvPr id="3" name="表 2">
            <a:extLst>
              <a:ext uri="{FF2B5EF4-FFF2-40B4-BE49-F238E27FC236}">
                <a16:creationId xmlns:a16="http://schemas.microsoft.com/office/drawing/2014/main" id="{D47D1A7D-F68F-6013-9CC8-FFDDFFFF2121}"/>
              </a:ext>
            </a:extLst>
          </p:cNvPr>
          <p:cNvGraphicFramePr>
            <a:graphicFrameLocks noGrp="1"/>
          </p:cNvGraphicFramePr>
          <p:nvPr/>
        </p:nvGraphicFramePr>
        <p:xfrm>
          <a:off x="385011" y="1491916"/>
          <a:ext cx="11742375" cy="5217961"/>
        </p:xfrm>
        <a:graphic>
          <a:graphicData uri="http://schemas.openxmlformats.org/drawingml/2006/table">
            <a:tbl>
              <a:tblPr>
                <a:tableStyleId>{5940675A-B579-460E-94D1-54222C63F5DA}</a:tableStyleId>
              </a:tblPr>
              <a:tblGrid>
                <a:gridCol w="1010652">
                  <a:extLst>
                    <a:ext uri="{9D8B030D-6E8A-4147-A177-3AD203B41FA5}">
                      <a16:colId xmlns:a16="http://schemas.microsoft.com/office/drawing/2014/main" val="3003232677"/>
                    </a:ext>
                  </a:extLst>
                </a:gridCol>
                <a:gridCol w="6285297">
                  <a:extLst>
                    <a:ext uri="{9D8B030D-6E8A-4147-A177-3AD203B41FA5}">
                      <a16:colId xmlns:a16="http://schemas.microsoft.com/office/drawing/2014/main" val="1188497837"/>
                    </a:ext>
                  </a:extLst>
                </a:gridCol>
                <a:gridCol w="4446426">
                  <a:extLst>
                    <a:ext uri="{9D8B030D-6E8A-4147-A177-3AD203B41FA5}">
                      <a16:colId xmlns:a16="http://schemas.microsoft.com/office/drawing/2014/main" val="3953108995"/>
                    </a:ext>
                  </a:extLst>
                </a:gridCol>
              </a:tblGrid>
              <a:tr h="3761238">
                <a:tc>
                  <a:txBody>
                    <a:bodyPr/>
                    <a:lstStyle/>
                    <a:p>
                      <a:pPr algn="l" fontAlgn="ctr">
                        <a:buNone/>
                      </a:pPr>
                      <a:r>
                        <a:rPr lang="ja-JP" altLang="en-US" sz="1800" b="0" u="none" strike="noStrike" dirty="0">
                          <a:solidFill>
                            <a:srgbClr val="000000"/>
                          </a:solidFill>
                          <a:effectLst/>
                        </a:rPr>
                        <a:t>うどん</a:t>
                      </a:r>
                      <a:endParaRPr lang="ja-JP" altLang="en-US" sz="1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5881" marR="5881" marT="5881" marB="0" anchor="ctr"/>
                </a:tc>
                <a:tc>
                  <a:txBody>
                    <a:bodyPr/>
                    <a:lstStyle/>
                    <a:p>
                      <a:pPr algn="l" fontAlgn="ctr">
                        <a:buNone/>
                      </a:pPr>
                      <a:br>
                        <a:rPr lang="ja-JP" altLang="en-US" sz="1800" b="0" u="none" strike="noStrike" dirty="0">
                          <a:solidFill>
                            <a:srgbClr val="000000"/>
                          </a:solidFill>
                          <a:effectLst/>
                        </a:rPr>
                      </a:br>
                      <a:r>
                        <a:rPr lang="ja-JP" altLang="en-US" sz="1800" b="0" u="none" strike="noStrike" dirty="0">
                          <a:solidFill>
                            <a:srgbClr val="000000"/>
                          </a:solidFill>
                          <a:effectLst/>
                        </a:rPr>
                        <a:t>        </a:t>
                      </a:r>
                      <a:br>
                        <a:rPr lang="ja-JP" altLang="en-US" sz="1800" b="0" u="none" strike="noStrike" dirty="0">
                          <a:solidFill>
                            <a:srgbClr val="000000"/>
                          </a:solidFill>
                          <a:effectLst/>
                        </a:rPr>
                      </a:br>
                      <a:r>
                        <a:rPr lang="ja-JP" altLang="en-US" sz="1800" b="0" u="none" strike="noStrike" dirty="0">
                          <a:solidFill>
                            <a:srgbClr val="000000"/>
                          </a:solidFill>
                          <a:effectLst/>
                        </a:rPr>
                        <a:t>          なんばダイニングメゾン７階にあるこちら、ランチ時に初訪問です。昔は心斎橋の美々卯には何度も訪問してるが、メニューとかもかなり変化してます。落ち着いた和の空間。ゆったりめのテーブル席。かなり席数ありますねえ。美々卯と言えばうどんすきが有名なので、うどん主体のランチメニューが多いのかなと想像してたが、こちらでは意外とそうでもないんですね。和食の膳ものや天丼などに、うどんかそばが付いてるメニューが多かった。今回注文したのは、美々卯弁当２３００円・お造り二種・口取り・天ぷら・和え物・季節そば（うどん）・ごはん・デザート付いてる麺はやはり饂飩を選択。久しぶりに食べた美々卯の出汁、記憶とは少し違ってたが、美味しいですねえ。湯葉のトッピングが上品さを引き立ててます。ご飯は栗ごはんでした。内容も季節感を表現されてて、雰囲気を楽しむことができました。満足です。ごちそうさま。</a:t>
                      </a:r>
                      <a:br>
                        <a:rPr lang="ja-JP" altLang="en-US" sz="1800" b="0" u="none" strike="noStrike" dirty="0">
                          <a:solidFill>
                            <a:srgbClr val="000000"/>
                          </a:solidFill>
                          <a:effectLst/>
                        </a:rPr>
                      </a:br>
                      <a:r>
                        <a:rPr lang="ja-JP" altLang="en-US" sz="1800" b="0" u="none" strike="noStrike" dirty="0">
                          <a:solidFill>
                            <a:srgbClr val="000000"/>
                          </a:solidFill>
                          <a:effectLst/>
                        </a:rPr>
                        <a:t>        </a:t>
                      </a:r>
                      <a:br>
                        <a:rPr lang="ja-JP" altLang="en-US" sz="1800" b="0" u="none" strike="noStrike" dirty="0">
                          <a:solidFill>
                            <a:srgbClr val="000000"/>
                          </a:solidFill>
                          <a:effectLst/>
                        </a:rPr>
                      </a:br>
                      <a:r>
                        <a:rPr lang="ja-JP" altLang="en-US" sz="1800" b="0" u="none" strike="noStrike" dirty="0">
                          <a:solidFill>
                            <a:srgbClr val="000000"/>
                          </a:solidFill>
                          <a:effectLst/>
                        </a:rPr>
                        <a:t>      </a:t>
                      </a:r>
                      <a:endParaRPr lang="ja-JP" altLang="en-US" sz="1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5881" marR="5881" marT="5881" marB="0" anchor="ctr"/>
                </a:tc>
                <a:tc>
                  <a:txBody>
                    <a:bodyPr/>
                    <a:lstStyle/>
                    <a:p>
                      <a:pPr algn="l" fontAlgn="ctr">
                        <a:buNone/>
                      </a:pPr>
                      <a:r>
                        <a:rPr lang="ja-JP" altLang="en-US" sz="1800" b="0" u="none" strike="noStrike" dirty="0">
                          <a:solidFill>
                            <a:srgbClr val="000000"/>
                          </a:solidFill>
                          <a:effectLst/>
                        </a:rPr>
                        <a:t>なんば</a:t>
                      </a:r>
                      <a:r>
                        <a:rPr lang="en-US" altLang="ja-JP" sz="1800" b="0" u="none" strike="noStrike" dirty="0">
                          <a:solidFill>
                            <a:srgbClr val="000000"/>
                          </a:solidFill>
                          <a:effectLst/>
                        </a:rPr>
                        <a:t>,</a:t>
                      </a:r>
                      <a:r>
                        <a:rPr lang="ja-JP" altLang="en-US" sz="1800" b="0" u="none" strike="noStrike" dirty="0">
                          <a:solidFill>
                            <a:srgbClr val="000000"/>
                          </a:solidFill>
                          <a:effectLst/>
                        </a:rPr>
                        <a:t>ダイニングメゾン</a:t>
                      </a:r>
                      <a:r>
                        <a:rPr lang="en-US" altLang="ja-JP" sz="1800" b="0" u="none" strike="noStrike" dirty="0">
                          <a:solidFill>
                            <a:srgbClr val="000000"/>
                          </a:solidFill>
                          <a:effectLst/>
                        </a:rPr>
                        <a:t>,</a:t>
                      </a:r>
                      <a:r>
                        <a:rPr lang="ja-JP" altLang="en-US" sz="1800" b="0" u="none" strike="noStrike" dirty="0">
                          <a:solidFill>
                            <a:srgbClr val="000000"/>
                          </a:solidFill>
                          <a:effectLst/>
                        </a:rPr>
                        <a:t>階</a:t>
                      </a:r>
                      <a:r>
                        <a:rPr lang="en-US" altLang="ja-JP" sz="1800" b="0" u="none" strike="noStrike" dirty="0">
                          <a:solidFill>
                            <a:srgbClr val="000000"/>
                          </a:solidFill>
                          <a:effectLst/>
                        </a:rPr>
                        <a:t>,</a:t>
                      </a:r>
                      <a:r>
                        <a:rPr lang="ja-JP" altLang="en-US" sz="1800" b="0" u="none" strike="noStrike" dirty="0">
                          <a:solidFill>
                            <a:srgbClr val="000000"/>
                          </a:solidFill>
                          <a:effectLst/>
                        </a:rPr>
                        <a:t>昔</a:t>
                      </a:r>
                      <a:r>
                        <a:rPr lang="en-US" altLang="ja-JP" sz="1800" b="0" u="none" strike="noStrike" dirty="0">
                          <a:solidFill>
                            <a:srgbClr val="000000"/>
                          </a:solidFill>
                          <a:effectLst/>
                        </a:rPr>
                        <a:t>,</a:t>
                      </a:r>
                      <a:r>
                        <a:rPr lang="ja-JP" altLang="en-US" sz="1800" b="0" u="none" strike="noStrike" dirty="0">
                          <a:solidFill>
                            <a:srgbClr val="000000"/>
                          </a:solidFill>
                          <a:effectLst/>
                        </a:rPr>
                        <a:t>心斎橋</a:t>
                      </a:r>
                      <a:r>
                        <a:rPr lang="en-US" altLang="ja-JP" sz="1800" b="0" u="none" strike="noStrike" dirty="0">
                          <a:solidFill>
                            <a:srgbClr val="000000"/>
                          </a:solidFill>
                          <a:effectLst/>
                        </a:rPr>
                        <a:t>,</a:t>
                      </a:r>
                      <a:r>
                        <a:rPr lang="ja-JP" altLang="en-US" sz="1800" b="0" u="none" strike="noStrike" dirty="0">
                          <a:solidFill>
                            <a:srgbClr val="000000"/>
                          </a:solidFill>
                          <a:effectLst/>
                        </a:rPr>
                        <a:t>美</a:t>
                      </a:r>
                      <a:r>
                        <a:rPr lang="en-US" altLang="ja-JP" sz="1800" b="0" u="none" strike="noStrike" dirty="0">
                          <a:solidFill>
                            <a:srgbClr val="000000"/>
                          </a:solidFill>
                          <a:effectLst/>
                        </a:rPr>
                        <a:t>,</a:t>
                      </a:r>
                      <a:r>
                        <a:rPr lang="ja-JP" altLang="en-US" sz="1800" b="0" u="none" strike="noStrike" dirty="0">
                          <a:solidFill>
                            <a:srgbClr val="000000"/>
                          </a:solidFill>
                          <a:effectLst/>
                        </a:rPr>
                        <a:t>卯</a:t>
                      </a:r>
                      <a:r>
                        <a:rPr lang="en-US" altLang="ja-JP" sz="1800" b="0" u="none" strike="noStrike" dirty="0">
                          <a:solidFill>
                            <a:srgbClr val="000000"/>
                          </a:solidFill>
                          <a:effectLst/>
                        </a:rPr>
                        <a:t>,</a:t>
                      </a:r>
                      <a:r>
                        <a:rPr lang="ja-JP" altLang="en-US" sz="1800" b="0" u="none" strike="noStrike" dirty="0">
                          <a:solidFill>
                            <a:srgbClr val="000000"/>
                          </a:solidFill>
                          <a:effectLst/>
                        </a:rPr>
                        <a:t>変化</a:t>
                      </a:r>
                      <a:r>
                        <a:rPr lang="en-US" altLang="ja-JP" sz="1800" b="0" u="none" strike="noStrike" dirty="0">
                          <a:solidFill>
                            <a:srgbClr val="000000"/>
                          </a:solidFill>
                          <a:effectLst/>
                        </a:rPr>
                        <a:t>,</a:t>
                      </a:r>
                      <a:r>
                        <a:rPr lang="ja-JP" altLang="en-US" sz="1800" b="0" u="none" strike="noStrike" dirty="0">
                          <a:solidFill>
                            <a:srgbClr val="000000"/>
                          </a:solidFill>
                          <a:effectLst/>
                        </a:rPr>
                        <a:t>和</a:t>
                      </a:r>
                      <a:r>
                        <a:rPr lang="en-US" altLang="ja-JP" sz="1800" b="0" u="none" strike="noStrike" dirty="0">
                          <a:solidFill>
                            <a:srgbClr val="000000"/>
                          </a:solidFill>
                          <a:effectLst/>
                        </a:rPr>
                        <a:t>,</a:t>
                      </a:r>
                      <a:r>
                        <a:rPr lang="ja-JP" altLang="en-US" sz="1800" b="0" u="none" strike="noStrike" dirty="0">
                          <a:solidFill>
                            <a:srgbClr val="000000"/>
                          </a:solidFill>
                          <a:effectLst/>
                        </a:rPr>
                        <a:t>空間</a:t>
                      </a:r>
                      <a:r>
                        <a:rPr lang="en-US" altLang="ja-JP" sz="1800" b="0" u="none" strike="noStrike" dirty="0">
                          <a:solidFill>
                            <a:srgbClr val="000000"/>
                          </a:solidFill>
                          <a:effectLst/>
                        </a:rPr>
                        <a:t>,</a:t>
                      </a:r>
                      <a:r>
                        <a:rPr lang="ja-JP" altLang="en-US" sz="1800" b="0" u="none" strike="noStrike" dirty="0">
                          <a:solidFill>
                            <a:srgbClr val="000000"/>
                          </a:solidFill>
                          <a:effectLst/>
                        </a:rPr>
                        <a:t>美</a:t>
                      </a:r>
                      <a:r>
                        <a:rPr lang="en-US" altLang="ja-JP" sz="1800" b="0" u="none" strike="noStrike" dirty="0">
                          <a:solidFill>
                            <a:srgbClr val="000000"/>
                          </a:solidFill>
                          <a:effectLst/>
                        </a:rPr>
                        <a:t>,</a:t>
                      </a:r>
                      <a:r>
                        <a:rPr lang="ja-JP" altLang="en-US" sz="1800" b="0" u="none" strike="noStrike" dirty="0">
                          <a:solidFill>
                            <a:srgbClr val="000000"/>
                          </a:solidFill>
                          <a:effectLst/>
                        </a:rPr>
                        <a:t>卯</a:t>
                      </a:r>
                      <a:r>
                        <a:rPr lang="en-US" altLang="ja-JP" sz="1800" b="0" u="none" strike="noStrike" dirty="0">
                          <a:solidFill>
                            <a:srgbClr val="000000"/>
                          </a:solidFill>
                          <a:effectLst/>
                        </a:rPr>
                        <a:t>,</a:t>
                      </a:r>
                      <a:r>
                        <a:rPr lang="ja-JP" altLang="en-US" sz="1800" b="0" u="none" strike="noStrike" dirty="0">
                          <a:solidFill>
                            <a:srgbClr val="000000"/>
                          </a:solidFill>
                          <a:effectLst/>
                        </a:rPr>
                        <a:t>すき</a:t>
                      </a:r>
                      <a:r>
                        <a:rPr lang="en-US" altLang="ja-JP" sz="1800" b="0" u="none" strike="noStrike" dirty="0">
                          <a:solidFill>
                            <a:srgbClr val="000000"/>
                          </a:solidFill>
                          <a:effectLst/>
                        </a:rPr>
                        <a:t>,</a:t>
                      </a:r>
                      <a:r>
                        <a:rPr lang="ja-JP" altLang="en-US" sz="1800" b="0" u="none" strike="noStrike" dirty="0">
                          <a:solidFill>
                            <a:srgbClr val="000000"/>
                          </a:solidFill>
                          <a:effectLst/>
                        </a:rPr>
                        <a:t>有名</a:t>
                      </a:r>
                      <a:r>
                        <a:rPr lang="en-US" altLang="ja-JP" sz="1800" b="0" u="none" strike="noStrike" dirty="0">
                          <a:solidFill>
                            <a:srgbClr val="000000"/>
                          </a:solidFill>
                          <a:effectLst/>
                        </a:rPr>
                        <a:t>,</a:t>
                      </a:r>
                      <a:r>
                        <a:rPr lang="ja-JP" altLang="en-US" sz="1800" b="0" u="none" strike="noStrike" dirty="0">
                          <a:solidFill>
                            <a:srgbClr val="000000"/>
                          </a:solidFill>
                          <a:effectLst/>
                        </a:rPr>
                        <a:t>主体</a:t>
                      </a:r>
                      <a:r>
                        <a:rPr lang="en-US" altLang="ja-JP" sz="1800" b="0" u="none" strike="noStrike" dirty="0">
                          <a:solidFill>
                            <a:srgbClr val="000000"/>
                          </a:solidFill>
                          <a:effectLst/>
                        </a:rPr>
                        <a:t>,</a:t>
                      </a:r>
                      <a:r>
                        <a:rPr lang="ja-JP" altLang="en-US" sz="1800" b="0" u="none" strike="noStrike" dirty="0">
                          <a:solidFill>
                            <a:srgbClr val="000000"/>
                          </a:solidFill>
                          <a:effectLst/>
                        </a:rPr>
                        <a:t>の</a:t>
                      </a:r>
                      <a:r>
                        <a:rPr lang="en-US" altLang="ja-JP" sz="1800" b="0" u="none" strike="noStrike" dirty="0">
                          <a:solidFill>
                            <a:srgbClr val="000000"/>
                          </a:solidFill>
                          <a:effectLst/>
                        </a:rPr>
                        <a:t>,</a:t>
                      </a:r>
                      <a:r>
                        <a:rPr lang="ja-JP" altLang="en-US" sz="1800" b="0" u="none" strike="noStrike" dirty="0">
                          <a:solidFill>
                            <a:srgbClr val="000000"/>
                          </a:solidFill>
                          <a:effectLst/>
                        </a:rPr>
                        <a:t>想像</a:t>
                      </a:r>
                      <a:r>
                        <a:rPr lang="en-US" altLang="ja-JP" sz="1800" b="0" u="none" strike="noStrike" dirty="0">
                          <a:solidFill>
                            <a:srgbClr val="000000"/>
                          </a:solidFill>
                          <a:effectLst/>
                        </a:rPr>
                        <a:t>,</a:t>
                      </a:r>
                      <a:r>
                        <a:rPr lang="ja-JP" altLang="en-US" sz="1800" b="0" u="none" strike="noStrike" dirty="0">
                          <a:solidFill>
                            <a:srgbClr val="000000"/>
                          </a:solidFill>
                          <a:effectLst/>
                        </a:rPr>
                        <a:t>和食</a:t>
                      </a:r>
                      <a:r>
                        <a:rPr lang="en-US" altLang="ja-JP" sz="1800" b="0" u="none" strike="noStrike" dirty="0">
                          <a:solidFill>
                            <a:srgbClr val="000000"/>
                          </a:solidFill>
                          <a:effectLst/>
                        </a:rPr>
                        <a:t>,</a:t>
                      </a:r>
                      <a:r>
                        <a:rPr lang="ja-JP" altLang="en-US" sz="1800" b="0" u="none" strike="noStrike" dirty="0">
                          <a:solidFill>
                            <a:srgbClr val="000000"/>
                          </a:solidFill>
                          <a:effectLst/>
                        </a:rPr>
                        <a:t>膳</a:t>
                      </a:r>
                      <a:r>
                        <a:rPr lang="en-US" altLang="ja-JP" sz="1800" b="0" u="none" strike="noStrike" dirty="0">
                          <a:solidFill>
                            <a:srgbClr val="000000"/>
                          </a:solidFill>
                          <a:effectLst/>
                        </a:rPr>
                        <a:t>,</a:t>
                      </a:r>
                      <a:r>
                        <a:rPr lang="ja-JP" altLang="en-US" sz="1800" b="0" u="none" strike="noStrike" dirty="0">
                          <a:solidFill>
                            <a:srgbClr val="000000"/>
                          </a:solidFill>
                          <a:effectLst/>
                        </a:rPr>
                        <a:t>天丼</a:t>
                      </a:r>
                      <a:r>
                        <a:rPr lang="en-US" altLang="ja-JP" sz="1800" b="0" u="none" strike="noStrike" dirty="0">
                          <a:solidFill>
                            <a:srgbClr val="000000"/>
                          </a:solidFill>
                          <a:effectLst/>
                        </a:rPr>
                        <a:t>,</a:t>
                      </a:r>
                      <a:r>
                        <a:rPr lang="ja-JP" altLang="en-US" sz="1800" b="0" u="none" strike="noStrike" dirty="0">
                          <a:solidFill>
                            <a:srgbClr val="000000"/>
                          </a:solidFill>
                          <a:effectLst/>
                        </a:rPr>
                        <a:t>そば</a:t>
                      </a:r>
                      <a:r>
                        <a:rPr lang="en-US" altLang="ja-JP" sz="1800" b="0" u="none" strike="noStrike" dirty="0">
                          <a:solidFill>
                            <a:srgbClr val="000000"/>
                          </a:solidFill>
                          <a:effectLst/>
                        </a:rPr>
                        <a:t>,</a:t>
                      </a:r>
                      <a:r>
                        <a:rPr lang="ja-JP" altLang="en-US" sz="1800" b="0" u="none" strike="noStrike" dirty="0">
                          <a:solidFill>
                            <a:srgbClr val="000000"/>
                          </a:solidFill>
                          <a:effectLst/>
                        </a:rPr>
                        <a:t>注文</a:t>
                      </a:r>
                      <a:r>
                        <a:rPr lang="en-US" altLang="ja-JP" sz="1800" b="0" u="none" strike="noStrike" dirty="0">
                          <a:solidFill>
                            <a:srgbClr val="000000"/>
                          </a:solidFill>
                          <a:effectLst/>
                        </a:rPr>
                        <a:t>,</a:t>
                      </a:r>
                      <a:r>
                        <a:rPr lang="ja-JP" altLang="en-US" sz="1800" b="0" u="none" strike="noStrike" dirty="0">
                          <a:solidFill>
                            <a:srgbClr val="000000"/>
                          </a:solidFill>
                          <a:effectLst/>
                        </a:rPr>
                        <a:t>の</a:t>
                      </a:r>
                      <a:r>
                        <a:rPr lang="en-US" altLang="ja-JP" sz="1800" b="0" u="none" strike="noStrike" dirty="0">
                          <a:solidFill>
                            <a:srgbClr val="000000"/>
                          </a:solidFill>
                          <a:effectLst/>
                        </a:rPr>
                        <a:t>,</a:t>
                      </a:r>
                      <a:r>
                        <a:rPr lang="ja-JP" altLang="en-US" sz="1800" b="0" u="none" strike="noStrike" dirty="0">
                          <a:solidFill>
                            <a:srgbClr val="000000"/>
                          </a:solidFill>
                          <a:effectLst/>
                        </a:rPr>
                        <a:t>美</a:t>
                      </a:r>
                      <a:r>
                        <a:rPr lang="en-US" altLang="ja-JP" sz="1800" b="0" u="none" strike="noStrike" dirty="0">
                          <a:solidFill>
                            <a:srgbClr val="000000"/>
                          </a:solidFill>
                          <a:effectLst/>
                        </a:rPr>
                        <a:t>,</a:t>
                      </a:r>
                      <a:r>
                        <a:rPr lang="ja-JP" altLang="en-US" sz="1800" b="0" u="none" strike="noStrike" dirty="0">
                          <a:solidFill>
                            <a:srgbClr val="000000"/>
                          </a:solidFill>
                          <a:effectLst/>
                        </a:rPr>
                        <a:t>卯</a:t>
                      </a:r>
                      <a:r>
                        <a:rPr lang="en-US" altLang="ja-JP" sz="1800" b="0" u="none" strike="noStrike" dirty="0">
                          <a:solidFill>
                            <a:srgbClr val="000000"/>
                          </a:solidFill>
                          <a:effectLst/>
                        </a:rPr>
                        <a:t>,</a:t>
                      </a:r>
                      <a:r>
                        <a:rPr lang="ja-JP" altLang="en-US" sz="1800" b="0" u="none" strike="noStrike" dirty="0">
                          <a:solidFill>
                            <a:srgbClr val="000000"/>
                          </a:solidFill>
                          <a:effectLst/>
                        </a:rPr>
                        <a:t>弁当</a:t>
                      </a:r>
                      <a:r>
                        <a:rPr lang="en-US" altLang="ja-JP" sz="1800" b="0" u="none" strike="noStrike" dirty="0">
                          <a:solidFill>
                            <a:srgbClr val="000000"/>
                          </a:solidFill>
                          <a:effectLst/>
                        </a:rPr>
                        <a:t>,</a:t>
                      </a:r>
                      <a:r>
                        <a:rPr lang="ja-JP" altLang="en-US" sz="1800" b="0" u="none" strike="noStrike" dirty="0">
                          <a:solidFill>
                            <a:srgbClr val="000000"/>
                          </a:solidFill>
                          <a:effectLst/>
                        </a:rPr>
                        <a:t>造り</a:t>
                      </a:r>
                      <a:r>
                        <a:rPr lang="en-US" altLang="ja-JP" sz="1800" b="0" u="none" strike="noStrike" dirty="0">
                          <a:solidFill>
                            <a:srgbClr val="000000"/>
                          </a:solidFill>
                          <a:effectLst/>
                        </a:rPr>
                        <a:t>,</a:t>
                      </a:r>
                      <a:r>
                        <a:rPr lang="ja-JP" altLang="en-US" sz="1800" b="0" u="none" strike="noStrike" dirty="0">
                          <a:solidFill>
                            <a:srgbClr val="000000"/>
                          </a:solidFill>
                          <a:effectLst/>
                        </a:rPr>
                        <a:t>口取り</a:t>
                      </a:r>
                      <a:r>
                        <a:rPr lang="en-US" altLang="ja-JP" sz="1800" b="0" u="none" strike="noStrike" dirty="0">
                          <a:solidFill>
                            <a:srgbClr val="000000"/>
                          </a:solidFill>
                          <a:effectLst/>
                        </a:rPr>
                        <a:t>,</a:t>
                      </a:r>
                      <a:r>
                        <a:rPr lang="ja-JP" altLang="en-US" sz="1800" b="0" u="none" strike="noStrike" dirty="0">
                          <a:solidFill>
                            <a:srgbClr val="000000"/>
                          </a:solidFill>
                          <a:effectLst/>
                        </a:rPr>
                        <a:t>天ぷら</a:t>
                      </a:r>
                      <a:r>
                        <a:rPr lang="en-US" altLang="ja-JP" sz="1800" b="0" u="none" strike="noStrike" dirty="0">
                          <a:solidFill>
                            <a:srgbClr val="000000"/>
                          </a:solidFill>
                          <a:effectLst/>
                        </a:rPr>
                        <a:t>,</a:t>
                      </a:r>
                      <a:r>
                        <a:rPr lang="ja-JP" altLang="en-US" sz="1800" b="0" u="none" strike="noStrike" dirty="0">
                          <a:solidFill>
                            <a:srgbClr val="000000"/>
                          </a:solidFill>
                          <a:effectLst/>
                        </a:rPr>
                        <a:t>和え物</a:t>
                      </a:r>
                      <a:r>
                        <a:rPr lang="en-US" altLang="ja-JP" sz="1800" b="0" u="none" strike="noStrike" dirty="0">
                          <a:solidFill>
                            <a:srgbClr val="000000"/>
                          </a:solidFill>
                          <a:effectLst/>
                        </a:rPr>
                        <a:t>,</a:t>
                      </a:r>
                      <a:r>
                        <a:rPr lang="ja-JP" altLang="en-US" sz="1800" b="0" u="none" strike="noStrike" dirty="0">
                          <a:solidFill>
                            <a:srgbClr val="000000"/>
                          </a:solidFill>
                          <a:effectLst/>
                        </a:rPr>
                        <a:t>季節</a:t>
                      </a:r>
                      <a:r>
                        <a:rPr lang="en-US" altLang="ja-JP" sz="1800" b="0" u="none" strike="noStrike" dirty="0">
                          <a:solidFill>
                            <a:srgbClr val="000000"/>
                          </a:solidFill>
                          <a:effectLst/>
                        </a:rPr>
                        <a:t>,</a:t>
                      </a:r>
                      <a:r>
                        <a:rPr lang="ja-JP" altLang="en-US" sz="1800" b="0" u="none" strike="noStrike" dirty="0">
                          <a:solidFill>
                            <a:srgbClr val="000000"/>
                          </a:solidFill>
                          <a:effectLst/>
                        </a:rPr>
                        <a:t>そば</a:t>
                      </a:r>
                      <a:r>
                        <a:rPr lang="en-US" altLang="ja-JP" sz="1800" b="0" u="none" strike="noStrike" dirty="0">
                          <a:solidFill>
                            <a:srgbClr val="000000"/>
                          </a:solidFill>
                          <a:effectLst/>
                        </a:rPr>
                        <a:t>,</a:t>
                      </a:r>
                      <a:r>
                        <a:rPr lang="ja-JP" altLang="en-US" sz="1800" b="0" u="none" strike="noStrike" dirty="0">
                          <a:solidFill>
                            <a:srgbClr val="000000"/>
                          </a:solidFill>
                          <a:effectLst/>
                        </a:rPr>
                        <a:t>ごはん</a:t>
                      </a:r>
                      <a:r>
                        <a:rPr lang="en-US" altLang="ja-JP" sz="1800" b="0" u="none" strike="noStrike" dirty="0">
                          <a:solidFill>
                            <a:srgbClr val="000000"/>
                          </a:solidFill>
                          <a:effectLst/>
                        </a:rPr>
                        <a:t>,</a:t>
                      </a:r>
                      <a:r>
                        <a:rPr lang="ja-JP" altLang="en-US" sz="1800" b="0" u="none" strike="noStrike" dirty="0">
                          <a:solidFill>
                            <a:srgbClr val="000000"/>
                          </a:solidFill>
                          <a:effectLst/>
                        </a:rPr>
                        <a:t>デザート</a:t>
                      </a:r>
                      <a:r>
                        <a:rPr lang="en-US" altLang="ja-JP" sz="1800" b="0" u="none" strike="noStrike" dirty="0">
                          <a:solidFill>
                            <a:srgbClr val="000000"/>
                          </a:solidFill>
                          <a:effectLst/>
                        </a:rPr>
                        <a:t>,</a:t>
                      </a:r>
                      <a:r>
                        <a:rPr lang="ja-JP" altLang="en-US" sz="1800" b="0" u="none" strike="noStrike" dirty="0">
                          <a:solidFill>
                            <a:srgbClr val="000000"/>
                          </a:solidFill>
                          <a:effectLst/>
                        </a:rPr>
                        <a:t>麺</a:t>
                      </a:r>
                      <a:r>
                        <a:rPr lang="en-US" altLang="ja-JP" sz="1800" b="0" u="none" strike="noStrike" dirty="0">
                          <a:solidFill>
                            <a:srgbClr val="000000"/>
                          </a:solidFill>
                          <a:effectLst/>
                        </a:rPr>
                        <a:t>,</a:t>
                      </a:r>
                      <a:r>
                        <a:rPr lang="ja-JP" altLang="en-US" sz="1800" b="0" u="none" strike="noStrike" dirty="0">
                          <a:solidFill>
                            <a:srgbClr val="000000"/>
                          </a:solidFill>
                          <a:effectLst/>
                        </a:rPr>
                        <a:t>饂飩</a:t>
                      </a:r>
                      <a:r>
                        <a:rPr lang="en-US" altLang="ja-JP" sz="1800" b="0" u="none" strike="noStrike" dirty="0">
                          <a:solidFill>
                            <a:srgbClr val="000000"/>
                          </a:solidFill>
                          <a:effectLst/>
                        </a:rPr>
                        <a:t>,</a:t>
                      </a:r>
                      <a:r>
                        <a:rPr lang="ja-JP" altLang="en-US" sz="1800" b="0" u="none" strike="noStrike" dirty="0">
                          <a:solidFill>
                            <a:srgbClr val="000000"/>
                          </a:solidFill>
                          <a:effectLst/>
                        </a:rPr>
                        <a:t>久しぶり</a:t>
                      </a:r>
                      <a:r>
                        <a:rPr lang="en-US" altLang="ja-JP" sz="1800" b="0" u="none" strike="noStrike" dirty="0">
                          <a:solidFill>
                            <a:srgbClr val="000000"/>
                          </a:solidFill>
                          <a:effectLst/>
                        </a:rPr>
                        <a:t>,</a:t>
                      </a:r>
                      <a:r>
                        <a:rPr lang="ja-JP" altLang="en-US" sz="1800" b="0" u="none" strike="noStrike" dirty="0">
                          <a:solidFill>
                            <a:srgbClr val="000000"/>
                          </a:solidFill>
                          <a:effectLst/>
                        </a:rPr>
                        <a:t>美</a:t>
                      </a:r>
                      <a:r>
                        <a:rPr lang="en-US" altLang="ja-JP" sz="1800" b="0" u="none" strike="noStrike" dirty="0">
                          <a:solidFill>
                            <a:srgbClr val="000000"/>
                          </a:solidFill>
                          <a:effectLst/>
                        </a:rPr>
                        <a:t>,</a:t>
                      </a:r>
                      <a:r>
                        <a:rPr lang="ja-JP" altLang="en-US" sz="1800" b="0" u="none" strike="noStrike" dirty="0">
                          <a:solidFill>
                            <a:srgbClr val="000000"/>
                          </a:solidFill>
                          <a:effectLst/>
                        </a:rPr>
                        <a:t>卯</a:t>
                      </a:r>
                      <a:r>
                        <a:rPr lang="en-US" altLang="ja-JP" sz="1800" b="0" u="none" strike="noStrike" dirty="0">
                          <a:solidFill>
                            <a:srgbClr val="000000"/>
                          </a:solidFill>
                          <a:effectLst/>
                        </a:rPr>
                        <a:t>,</a:t>
                      </a:r>
                      <a:r>
                        <a:rPr lang="ja-JP" altLang="en-US" sz="1800" b="0" u="none" strike="noStrike" dirty="0">
                          <a:solidFill>
                            <a:srgbClr val="000000"/>
                          </a:solidFill>
                          <a:effectLst/>
                        </a:rPr>
                        <a:t>出汁</a:t>
                      </a:r>
                      <a:r>
                        <a:rPr lang="en-US" altLang="ja-JP" sz="1800" b="0" u="none" strike="noStrike" dirty="0">
                          <a:solidFill>
                            <a:srgbClr val="000000"/>
                          </a:solidFill>
                          <a:effectLst/>
                        </a:rPr>
                        <a:t>,</a:t>
                      </a:r>
                      <a:r>
                        <a:rPr lang="ja-JP" altLang="en-US" sz="1800" b="0" u="none" strike="noStrike" dirty="0">
                          <a:solidFill>
                            <a:srgbClr val="000000"/>
                          </a:solidFill>
                          <a:effectLst/>
                        </a:rPr>
                        <a:t>記憶</a:t>
                      </a:r>
                      <a:r>
                        <a:rPr lang="en-US" altLang="ja-JP" sz="1800" b="0" u="none" strike="noStrike" dirty="0">
                          <a:solidFill>
                            <a:srgbClr val="000000"/>
                          </a:solidFill>
                          <a:effectLst/>
                        </a:rPr>
                        <a:t>,</a:t>
                      </a:r>
                      <a:r>
                        <a:rPr lang="ja-JP" altLang="en-US" sz="1800" b="0" u="none" strike="noStrike" dirty="0">
                          <a:solidFill>
                            <a:srgbClr val="000000"/>
                          </a:solidFill>
                          <a:effectLst/>
                        </a:rPr>
                        <a:t>湯葉</a:t>
                      </a:r>
                      <a:r>
                        <a:rPr lang="en-US" altLang="ja-JP" sz="1800" b="0" u="none" strike="noStrike" dirty="0">
                          <a:solidFill>
                            <a:srgbClr val="000000"/>
                          </a:solidFill>
                          <a:effectLst/>
                        </a:rPr>
                        <a:t>,</a:t>
                      </a:r>
                      <a:r>
                        <a:rPr lang="ja-JP" altLang="en-US" sz="1800" b="0" u="none" strike="noStrike" dirty="0">
                          <a:solidFill>
                            <a:srgbClr val="000000"/>
                          </a:solidFill>
                          <a:effectLst/>
                        </a:rPr>
                        <a:t>トッピング</a:t>
                      </a:r>
                      <a:r>
                        <a:rPr lang="en-US" altLang="ja-JP" sz="1800" b="0" u="none" strike="noStrike" dirty="0">
                          <a:solidFill>
                            <a:srgbClr val="000000"/>
                          </a:solidFill>
                          <a:effectLst/>
                        </a:rPr>
                        <a:t>,</a:t>
                      </a:r>
                      <a:r>
                        <a:rPr lang="ja-JP" altLang="en-US" sz="1800" b="0" u="none" strike="noStrike" dirty="0">
                          <a:solidFill>
                            <a:srgbClr val="000000"/>
                          </a:solidFill>
                          <a:effectLst/>
                        </a:rPr>
                        <a:t>上品</a:t>
                      </a:r>
                      <a:r>
                        <a:rPr lang="en-US" altLang="ja-JP" sz="1800" b="0" u="none" strike="noStrike" dirty="0">
                          <a:solidFill>
                            <a:srgbClr val="000000"/>
                          </a:solidFill>
                          <a:effectLst/>
                        </a:rPr>
                        <a:t>,</a:t>
                      </a:r>
                      <a:r>
                        <a:rPr lang="ja-JP" altLang="en-US" sz="1800" b="0" u="none" strike="noStrike" dirty="0">
                          <a:solidFill>
                            <a:srgbClr val="000000"/>
                          </a:solidFill>
                          <a:effectLst/>
                        </a:rPr>
                        <a:t>さ</a:t>
                      </a:r>
                      <a:r>
                        <a:rPr lang="en-US" altLang="ja-JP" sz="1800" b="0" u="none" strike="noStrike" dirty="0">
                          <a:solidFill>
                            <a:srgbClr val="000000"/>
                          </a:solidFill>
                          <a:effectLst/>
                        </a:rPr>
                        <a:t>,</a:t>
                      </a:r>
                      <a:r>
                        <a:rPr lang="ja-JP" altLang="en-US" sz="1800" b="0" u="none" strike="noStrike" dirty="0">
                          <a:solidFill>
                            <a:srgbClr val="000000"/>
                          </a:solidFill>
                          <a:effectLst/>
                        </a:rPr>
                        <a:t>ご飯</a:t>
                      </a:r>
                      <a:r>
                        <a:rPr lang="en-US" altLang="ja-JP" sz="1800" b="0" u="none" strike="noStrike" dirty="0">
                          <a:solidFill>
                            <a:srgbClr val="000000"/>
                          </a:solidFill>
                          <a:effectLst/>
                        </a:rPr>
                        <a:t>,</a:t>
                      </a:r>
                      <a:r>
                        <a:rPr lang="ja-JP" altLang="en-US" sz="1800" b="0" u="none" strike="noStrike" dirty="0">
                          <a:solidFill>
                            <a:srgbClr val="000000"/>
                          </a:solidFill>
                          <a:effectLst/>
                        </a:rPr>
                        <a:t>栗</a:t>
                      </a:r>
                      <a:r>
                        <a:rPr lang="en-US" altLang="ja-JP" sz="1800" b="0" u="none" strike="noStrike" dirty="0">
                          <a:solidFill>
                            <a:srgbClr val="000000"/>
                          </a:solidFill>
                          <a:effectLst/>
                        </a:rPr>
                        <a:t>,</a:t>
                      </a:r>
                      <a:r>
                        <a:rPr lang="ja-JP" altLang="en-US" sz="1800" b="0" u="none" strike="noStrike" dirty="0">
                          <a:solidFill>
                            <a:srgbClr val="000000"/>
                          </a:solidFill>
                          <a:effectLst/>
                        </a:rPr>
                        <a:t>ごはん</a:t>
                      </a:r>
                      <a:r>
                        <a:rPr lang="en-US" altLang="ja-JP" sz="1800" b="0" u="none" strike="noStrike" dirty="0">
                          <a:solidFill>
                            <a:srgbClr val="000000"/>
                          </a:solidFill>
                          <a:effectLst/>
                        </a:rPr>
                        <a:t>,</a:t>
                      </a:r>
                      <a:r>
                        <a:rPr lang="ja-JP" altLang="en-US" sz="1800" b="0" u="none" strike="noStrike" dirty="0">
                          <a:solidFill>
                            <a:srgbClr val="000000"/>
                          </a:solidFill>
                          <a:effectLst/>
                        </a:rPr>
                        <a:t>内容</a:t>
                      </a:r>
                      <a:r>
                        <a:rPr lang="en-US" altLang="ja-JP" sz="1800" b="0" u="none" strike="noStrike" dirty="0">
                          <a:solidFill>
                            <a:srgbClr val="000000"/>
                          </a:solidFill>
                          <a:effectLst/>
                        </a:rPr>
                        <a:t>,</a:t>
                      </a:r>
                      <a:r>
                        <a:rPr lang="ja-JP" altLang="en-US" sz="1800" b="0" u="none" strike="noStrike" dirty="0">
                          <a:solidFill>
                            <a:srgbClr val="000000"/>
                          </a:solidFill>
                          <a:effectLst/>
                        </a:rPr>
                        <a:t>季節</a:t>
                      </a:r>
                      <a:r>
                        <a:rPr lang="en-US" altLang="ja-JP" sz="1800" b="0" u="none" strike="noStrike" dirty="0">
                          <a:solidFill>
                            <a:srgbClr val="000000"/>
                          </a:solidFill>
                          <a:effectLst/>
                        </a:rPr>
                        <a:t>,</a:t>
                      </a:r>
                      <a:r>
                        <a:rPr lang="ja-JP" altLang="en-US" sz="1800" b="0" u="none" strike="noStrike" dirty="0">
                          <a:solidFill>
                            <a:srgbClr val="000000"/>
                          </a:solidFill>
                          <a:effectLst/>
                        </a:rPr>
                        <a:t>表現</a:t>
                      </a:r>
                      <a:r>
                        <a:rPr lang="en-US" altLang="ja-JP" sz="1800" b="0" u="none" strike="noStrike" dirty="0">
                          <a:solidFill>
                            <a:srgbClr val="000000"/>
                          </a:solidFill>
                          <a:effectLst/>
                        </a:rPr>
                        <a:t>,</a:t>
                      </a:r>
                      <a:r>
                        <a:rPr lang="ja-JP" altLang="en-US" sz="1800" b="0" u="none" strike="noStrike" dirty="0">
                          <a:solidFill>
                            <a:srgbClr val="000000"/>
                          </a:solidFill>
                          <a:effectLst/>
                        </a:rPr>
                        <a:t>満足</a:t>
                      </a:r>
                      <a:endParaRPr lang="ja-JP" altLang="en-US" sz="1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5881" marR="5881" marT="5881" marB="0" anchor="ctr"/>
                </a:tc>
                <a:extLst>
                  <a:ext uri="{0D108BD9-81ED-4DB2-BD59-A6C34878D82A}">
                    <a16:rowId xmlns:a16="http://schemas.microsoft.com/office/drawing/2014/main" val="3134704852"/>
                  </a:ext>
                </a:extLst>
              </a:tr>
            </a:tbl>
          </a:graphicData>
        </a:graphic>
      </p:graphicFrame>
      <p:sp>
        <p:nvSpPr>
          <p:cNvPr id="5" name="テキスト ボックス 4">
            <a:extLst>
              <a:ext uri="{FF2B5EF4-FFF2-40B4-BE49-F238E27FC236}">
                <a16:creationId xmlns:a16="http://schemas.microsoft.com/office/drawing/2014/main" id="{909A3B91-A699-E37E-54BD-E64908A63AA4}"/>
              </a:ext>
            </a:extLst>
          </p:cNvPr>
          <p:cNvSpPr txBox="1"/>
          <p:nvPr/>
        </p:nvSpPr>
        <p:spPr>
          <a:xfrm>
            <a:off x="385011" y="754132"/>
            <a:ext cx="10258706" cy="830997"/>
          </a:xfrm>
          <a:prstGeom prst="rect">
            <a:avLst/>
          </a:prstGeom>
          <a:noFill/>
        </p:spPr>
        <p:txBody>
          <a:bodyPr wrap="none" rtlCol="0">
            <a:spAutoFit/>
          </a:bodyPr>
          <a:lstStyle/>
          <a:p>
            <a:pPr marL="457200" indent="-457200" algn="l">
              <a:buFont typeface="+mj-lt"/>
              <a:buAutoNum type="arabicPeriod"/>
            </a:pPr>
            <a:r>
              <a:rPr kumimoji="1" lang="en-US" altLang="ja-JP" sz="2400" dirty="0">
                <a:latin typeface="メイリオ" panose="020B0604030504040204" pitchFamily="50" charset="-128"/>
                <a:ea typeface="メイリオ" panose="020B0604030504040204" pitchFamily="50" charset="-128"/>
              </a:rPr>
              <a:t>Tabelog_words.csv</a:t>
            </a:r>
            <a:r>
              <a:rPr kumimoji="1" lang="ja-JP" altLang="en-US" sz="2400" dirty="0">
                <a:latin typeface="メイリオ" panose="020B0604030504040204" pitchFamily="50" charset="-128"/>
                <a:ea typeface="メイリオ" panose="020B0604030504040204" pitchFamily="50" charset="-128"/>
              </a:rPr>
              <a:t>を開けると口コミを単語列にしたデータが見える</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lang="ja-JP" altLang="en-US" sz="2400" dirty="0">
                <a:latin typeface="メイリオ" panose="020B0604030504040204" pitchFamily="50" charset="-128"/>
                <a:ea typeface="メイリオ" panose="020B0604030504040204" pitchFamily="50" charset="-128"/>
              </a:rPr>
              <a:t>このままでは口コミ別に出現する単語が異なるので表形式にならない</a:t>
            </a:r>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7505254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84267FB8-E58E-485E-47F7-7290177FAEC6}"/>
              </a:ext>
            </a:extLst>
          </p:cNvPr>
          <p:cNvGraphicFramePr>
            <a:graphicFrameLocks noGrp="1"/>
          </p:cNvGraphicFramePr>
          <p:nvPr/>
        </p:nvGraphicFramePr>
        <p:xfrm>
          <a:off x="1335343" y="1222235"/>
          <a:ext cx="9222656" cy="1112520"/>
        </p:xfrm>
        <a:graphic>
          <a:graphicData uri="http://schemas.openxmlformats.org/drawingml/2006/table">
            <a:tbl>
              <a:tblPr firstRow="1" bandRow="1">
                <a:tableStyleId>{5940675A-B579-460E-94D1-54222C63F5DA}</a:tableStyleId>
              </a:tblPr>
              <a:tblGrid>
                <a:gridCol w="1861484">
                  <a:extLst>
                    <a:ext uri="{9D8B030D-6E8A-4147-A177-3AD203B41FA5}">
                      <a16:colId xmlns:a16="http://schemas.microsoft.com/office/drawing/2014/main" val="1178321407"/>
                    </a:ext>
                  </a:extLst>
                </a:gridCol>
                <a:gridCol w="817908">
                  <a:extLst>
                    <a:ext uri="{9D8B030D-6E8A-4147-A177-3AD203B41FA5}">
                      <a16:colId xmlns:a16="http://schemas.microsoft.com/office/drawing/2014/main" val="2992428243"/>
                    </a:ext>
                  </a:extLst>
                </a:gridCol>
                <a:gridCol w="817908">
                  <a:extLst>
                    <a:ext uri="{9D8B030D-6E8A-4147-A177-3AD203B41FA5}">
                      <a16:colId xmlns:a16="http://schemas.microsoft.com/office/drawing/2014/main" val="419655163"/>
                    </a:ext>
                  </a:extLst>
                </a:gridCol>
                <a:gridCol w="817908">
                  <a:extLst>
                    <a:ext uri="{9D8B030D-6E8A-4147-A177-3AD203B41FA5}">
                      <a16:colId xmlns:a16="http://schemas.microsoft.com/office/drawing/2014/main" val="361881270"/>
                    </a:ext>
                  </a:extLst>
                </a:gridCol>
                <a:gridCol w="817908">
                  <a:extLst>
                    <a:ext uri="{9D8B030D-6E8A-4147-A177-3AD203B41FA5}">
                      <a16:colId xmlns:a16="http://schemas.microsoft.com/office/drawing/2014/main" val="2371208573"/>
                    </a:ext>
                  </a:extLst>
                </a:gridCol>
                <a:gridCol w="817908">
                  <a:extLst>
                    <a:ext uri="{9D8B030D-6E8A-4147-A177-3AD203B41FA5}">
                      <a16:colId xmlns:a16="http://schemas.microsoft.com/office/drawing/2014/main" val="3168833640"/>
                    </a:ext>
                  </a:extLst>
                </a:gridCol>
                <a:gridCol w="817908">
                  <a:extLst>
                    <a:ext uri="{9D8B030D-6E8A-4147-A177-3AD203B41FA5}">
                      <a16:colId xmlns:a16="http://schemas.microsoft.com/office/drawing/2014/main" val="2133960893"/>
                    </a:ext>
                  </a:extLst>
                </a:gridCol>
                <a:gridCol w="817908">
                  <a:extLst>
                    <a:ext uri="{9D8B030D-6E8A-4147-A177-3AD203B41FA5}">
                      <a16:colId xmlns:a16="http://schemas.microsoft.com/office/drawing/2014/main" val="2738027143"/>
                    </a:ext>
                  </a:extLst>
                </a:gridCol>
                <a:gridCol w="817908">
                  <a:extLst>
                    <a:ext uri="{9D8B030D-6E8A-4147-A177-3AD203B41FA5}">
                      <a16:colId xmlns:a16="http://schemas.microsoft.com/office/drawing/2014/main" val="1685759046"/>
                    </a:ext>
                  </a:extLst>
                </a:gridCol>
                <a:gridCol w="817908">
                  <a:extLst>
                    <a:ext uri="{9D8B030D-6E8A-4147-A177-3AD203B41FA5}">
                      <a16:colId xmlns:a16="http://schemas.microsoft.com/office/drawing/2014/main" val="2261486378"/>
                    </a:ext>
                  </a:extLst>
                </a:gridCol>
              </a:tblGrid>
              <a:tr h="370840">
                <a:tc>
                  <a:txBody>
                    <a:bodyPr/>
                    <a:lstStyle/>
                    <a:p>
                      <a:endParaRPr kumimoji="1" lang="ja-JP" altLang="en-US" dirty="0"/>
                    </a:p>
                  </a:txBody>
                  <a:tcPr/>
                </a:tc>
                <a:tc>
                  <a:txBody>
                    <a:bodyPr/>
                    <a:lstStyle/>
                    <a:p>
                      <a:r>
                        <a:rPr kumimoji="1" lang="en-US" altLang="ja-JP" dirty="0"/>
                        <a:t>0,0</a:t>
                      </a:r>
                      <a:endParaRPr kumimoji="1" lang="ja-JP" altLang="en-US" dirty="0"/>
                    </a:p>
                  </a:txBody>
                  <a:tcPr/>
                </a:tc>
                <a:tc>
                  <a:txBody>
                    <a:bodyPr/>
                    <a:lstStyle/>
                    <a:p>
                      <a:r>
                        <a:rPr kumimoji="1" lang="en-US" altLang="ja-JP" dirty="0"/>
                        <a:t>0,1</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1,0</a:t>
                      </a:r>
                      <a:endParaRPr kumimoji="1" lang="ja-JP" altLang="en-US" dirty="0"/>
                    </a:p>
                  </a:txBody>
                  <a:tcPr/>
                </a:tc>
                <a:tc>
                  <a:txBody>
                    <a:bodyPr/>
                    <a:lstStyle/>
                    <a:p>
                      <a:r>
                        <a:rPr kumimoji="1" lang="en-US" altLang="ja-JP" dirty="0"/>
                        <a:t>1,1</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sz="1600" dirty="0"/>
                        <a:t>1920,0</a:t>
                      </a:r>
                      <a:endParaRPr kumimoji="1" lang="ja-JP" altLang="en-US" sz="1600" dirty="0"/>
                    </a:p>
                  </a:txBody>
                  <a:tcPr/>
                </a:tc>
                <a:tc>
                  <a:txBody>
                    <a:bodyPr/>
                    <a:lstStyle/>
                    <a:p>
                      <a:r>
                        <a:rPr kumimoji="1" lang="en-US" altLang="ja-JP" dirty="0"/>
                        <a:t>……..</a:t>
                      </a:r>
                      <a:endParaRPr kumimoji="1" lang="ja-JP" altLang="en-US" dirty="0"/>
                    </a:p>
                  </a:txBody>
                  <a:tcPr/>
                </a:tc>
                <a:tc>
                  <a:txBody>
                    <a:bodyPr/>
                    <a:lstStyle/>
                    <a:p>
                      <a:endParaRPr kumimoji="1" lang="ja-JP" altLang="en-US"/>
                    </a:p>
                  </a:txBody>
                  <a:tcPr/>
                </a:tc>
                <a:extLst>
                  <a:ext uri="{0D108BD9-81ED-4DB2-BD59-A6C34878D82A}">
                    <a16:rowId xmlns:a16="http://schemas.microsoft.com/office/drawing/2014/main" val="1691106197"/>
                  </a:ext>
                </a:extLst>
              </a:tr>
              <a:tr h="370840">
                <a:tc>
                  <a:txBody>
                    <a:bodyPr/>
                    <a:lstStyle/>
                    <a:p>
                      <a:r>
                        <a:rPr kumimoji="1" lang="ja-JP" altLang="en-US" dirty="0"/>
                        <a:t>マツコ</a:t>
                      </a:r>
                    </a:p>
                  </a:txBody>
                  <a:tcPr/>
                </a:tc>
                <a:tc>
                  <a:txBody>
                    <a:bodyPr/>
                    <a:lstStyle/>
                    <a:p>
                      <a:r>
                        <a:rPr kumimoji="1" lang="en-US" altLang="ja-JP" dirty="0"/>
                        <a:t>11</a:t>
                      </a:r>
                      <a:endParaRPr kumimoji="1" lang="ja-JP" altLang="en-US" dirty="0"/>
                    </a:p>
                  </a:txBody>
                  <a:tcPr/>
                </a:tc>
                <a:tc>
                  <a:txBody>
                    <a:bodyPr/>
                    <a:lstStyle/>
                    <a:p>
                      <a:r>
                        <a:rPr kumimoji="1" lang="en-US" altLang="ja-JP" dirty="0"/>
                        <a:t>25</a:t>
                      </a:r>
                      <a:endParaRPr kumimoji="1" lang="ja-JP" altLang="en-US" dirty="0"/>
                    </a:p>
                  </a:txBody>
                  <a:tcPr/>
                </a:tc>
                <a:tc>
                  <a:txBody>
                    <a:bodyPr/>
                    <a:lstStyle/>
                    <a:p>
                      <a:endParaRPr kumimoji="1" lang="ja-JP" altLang="en-US" dirty="0"/>
                    </a:p>
                  </a:txBody>
                  <a:tcPr/>
                </a:tc>
                <a:tc>
                  <a:txBody>
                    <a:bodyPr/>
                    <a:lstStyle/>
                    <a:p>
                      <a:r>
                        <a:rPr kumimoji="1" lang="en-US" altLang="ja-JP" dirty="0"/>
                        <a:t>245</a:t>
                      </a:r>
                      <a:endParaRPr kumimoji="1" lang="ja-JP" altLang="en-US" dirty="0"/>
                    </a:p>
                  </a:txBody>
                  <a:tcPr/>
                </a:tc>
                <a:tc>
                  <a:txBody>
                    <a:bodyPr/>
                    <a:lstStyle/>
                    <a:p>
                      <a:r>
                        <a:rPr kumimoji="1" lang="en-US" altLang="ja-JP" dirty="0"/>
                        <a:t>250</a:t>
                      </a:r>
                      <a:endParaRPr kumimoji="1" lang="ja-JP" altLang="en-US" dirty="0"/>
                    </a:p>
                  </a:txBody>
                  <a:tcPr/>
                </a:tc>
                <a:tc>
                  <a:txBody>
                    <a:bodyPr/>
                    <a:lstStyle/>
                    <a:p>
                      <a:endParaRPr kumimoji="1" lang="ja-JP" altLang="en-US" dirty="0"/>
                    </a:p>
                  </a:txBody>
                  <a:tcPr/>
                </a:tc>
                <a:tc>
                  <a:txBody>
                    <a:bodyPr/>
                    <a:lstStyle/>
                    <a:p>
                      <a:r>
                        <a:rPr kumimoji="1" lang="en-US" altLang="ja-JP" dirty="0"/>
                        <a:t>201</a:t>
                      </a:r>
                      <a:endParaRPr kumimoji="1" lang="ja-JP" altLang="en-US" dirty="0"/>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1707201837"/>
                  </a:ext>
                </a:extLst>
              </a:tr>
              <a:tr h="370840">
                <a:tc>
                  <a:txBody>
                    <a:bodyPr/>
                    <a:lstStyle/>
                    <a:p>
                      <a:r>
                        <a:rPr kumimoji="1" lang="ja-JP" altLang="en-US" dirty="0"/>
                        <a:t>有働アナ</a:t>
                      </a:r>
                    </a:p>
                  </a:txBody>
                  <a:tcPr/>
                </a:tc>
                <a:tc>
                  <a:txBody>
                    <a:bodyPr/>
                    <a:lstStyle/>
                    <a:p>
                      <a:r>
                        <a:rPr kumimoji="1" lang="en-US" altLang="ja-JP" dirty="0"/>
                        <a:t>10</a:t>
                      </a:r>
                      <a:endParaRPr kumimoji="1" lang="ja-JP" altLang="en-US" dirty="0"/>
                    </a:p>
                  </a:txBody>
                  <a:tcPr/>
                </a:tc>
                <a:tc>
                  <a:txBody>
                    <a:bodyPr/>
                    <a:lstStyle/>
                    <a:p>
                      <a:r>
                        <a:rPr kumimoji="1" lang="en-US" altLang="ja-JP" dirty="0"/>
                        <a:t>25</a:t>
                      </a:r>
                      <a:endParaRPr kumimoji="1" lang="ja-JP" altLang="en-US" dirty="0"/>
                    </a:p>
                  </a:txBody>
                  <a:tcPr/>
                </a:tc>
                <a:tc>
                  <a:txBody>
                    <a:bodyPr/>
                    <a:lstStyle/>
                    <a:p>
                      <a:endParaRPr kumimoji="1" lang="ja-JP" altLang="en-US" dirty="0"/>
                    </a:p>
                  </a:txBody>
                  <a:tcPr/>
                </a:tc>
                <a:tc>
                  <a:txBody>
                    <a:bodyPr/>
                    <a:lstStyle/>
                    <a:p>
                      <a:r>
                        <a:rPr kumimoji="1" lang="en-US" altLang="ja-JP" dirty="0"/>
                        <a:t>109</a:t>
                      </a:r>
                      <a:endParaRPr kumimoji="1" lang="ja-JP" altLang="en-US" dirty="0"/>
                    </a:p>
                  </a:txBody>
                  <a:tcPr/>
                </a:tc>
                <a:tc>
                  <a:txBody>
                    <a:bodyPr/>
                    <a:lstStyle/>
                    <a:p>
                      <a:r>
                        <a:rPr kumimoji="1" lang="en-US" altLang="ja-JP" dirty="0"/>
                        <a:t>210</a:t>
                      </a:r>
                      <a:endParaRPr kumimoji="1" lang="ja-JP" altLang="en-US" dirty="0"/>
                    </a:p>
                  </a:txBody>
                  <a:tcPr/>
                </a:tc>
                <a:tc>
                  <a:txBody>
                    <a:bodyPr/>
                    <a:lstStyle/>
                    <a:p>
                      <a:endParaRPr kumimoji="1" lang="ja-JP" altLang="en-US" dirty="0"/>
                    </a:p>
                  </a:txBody>
                  <a:tcPr/>
                </a:tc>
                <a:tc>
                  <a:txBody>
                    <a:bodyPr/>
                    <a:lstStyle/>
                    <a:p>
                      <a:r>
                        <a:rPr kumimoji="1" lang="en-US" altLang="ja-JP" dirty="0"/>
                        <a:t>203</a:t>
                      </a:r>
                      <a:endParaRPr kumimoji="1" lang="ja-JP" altLang="en-US" dirty="0"/>
                    </a:p>
                  </a:txBody>
                  <a:tcPr/>
                </a:tc>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2005431318"/>
                  </a:ext>
                </a:extLst>
              </a:tr>
            </a:tbl>
          </a:graphicData>
        </a:graphic>
      </p:graphicFrame>
      <p:cxnSp>
        <p:nvCxnSpPr>
          <p:cNvPr id="4" name="直線矢印コネクタ 3">
            <a:extLst>
              <a:ext uri="{FF2B5EF4-FFF2-40B4-BE49-F238E27FC236}">
                <a16:creationId xmlns:a16="http://schemas.microsoft.com/office/drawing/2014/main" id="{EED7962A-65B2-A06B-9543-1E48DC115863}"/>
              </a:ext>
            </a:extLst>
          </p:cNvPr>
          <p:cNvCxnSpPr>
            <a:cxnSpLocks/>
          </p:cNvCxnSpPr>
          <p:nvPr/>
        </p:nvCxnSpPr>
        <p:spPr>
          <a:xfrm>
            <a:off x="1095375" y="1154353"/>
            <a:ext cx="0" cy="15610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 name="直線矢印コネクタ 4">
            <a:extLst>
              <a:ext uri="{FF2B5EF4-FFF2-40B4-BE49-F238E27FC236}">
                <a16:creationId xmlns:a16="http://schemas.microsoft.com/office/drawing/2014/main" id="{3CD53A53-03A2-EBD3-DFC7-A83CAAE2BDF8}"/>
              </a:ext>
            </a:extLst>
          </p:cNvPr>
          <p:cNvCxnSpPr>
            <a:cxnSpLocks/>
          </p:cNvCxnSpPr>
          <p:nvPr/>
        </p:nvCxnSpPr>
        <p:spPr>
          <a:xfrm>
            <a:off x="3197077" y="1073054"/>
            <a:ext cx="7795769"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1A794F12-5EDD-97BA-9407-03FFC8759381}"/>
              </a:ext>
            </a:extLst>
          </p:cNvPr>
          <p:cNvSpPr txBox="1"/>
          <p:nvPr/>
        </p:nvSpPr>
        <p:spPr>
          <a:xfrm>
            <a:off x="3111352" y="611389"/>
            <a:ext cx="2031325"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特徴量次元数</a:t>
            </a:r>
          </a:p>
        </p:txBody>
      </p:sp>
      <p:sp>
        <p:nvSpPr>
          <p:cNvPr id="7" name="テキスト ボックス 6">
            <a:extLst>
              <a:ext uri="{FF2B5EF4-FFF2-40B4-BE49-F238E27FC236}">
                <a16:creationId xmlns:a16="http://schemas.microsoft.com/office/drawing/2014/main" id="{7AC2201C-D14D-E9A9-E130-0CF249730DD2}"/>
              </a:ext>
            </a:extLst>
          </p:cNvPr>
          <p:cNvSpPr txBox="1"/>
          <p:nvPr/>
        </p:nvSpPr>
        <p:spPr>
          <a:xfrm rot="16200000">
            <a:off x="-97644" y="1734824"/>
            <a:ext cx="1980029" cy="400110"/>
          </a:xfrm>
          <a:prstGeom prst="rect">
            <a:avLst/>
          </a:prstGeom>
          <a:noFill/>
        </p:spPr>
        <p:txBody>
          <a:bodyPr wrap="none" rtlCol="0">
            <a:spAutoFit/>
          </a:bodyPr>
          <a:lstStyle/>
          <a:p>
            <a:pPr algn="l"/>
            <a:r>
              <a:rPr kumimoji="1" lang="ja-JP" altLang="en-US" sz="2000" dirty="0">
                <a:latin typeface="メイリオ" panose="020B0604030504040204" pitchFamily="50" charset="-128"/>
                <a:ea typeface="メイリオ" panose="020B0604030504040204" pitchFamily="50" charset="-128"/>
              </a:rPr>
              <a:t>サンプルデータ</a:t>
            </a:r>
          </a:p>
        </p:txBody>
      </p:sp>
      <p:pic>
        <p:nvPicPr>
          <p:cNvPr id="8" name="図 7">
            <a:extLst>
              <a:ext uri="{FF2B5EF4-FFF2-40B4-BE49-F238E27FC236}">
                <a16:creationId xmlns:a16="http://schemas.microsoft.com/office/drawing/2014/main" id="{A2E11D25-9391-545A-97ED-ABCC892A330A}"/>
              </a:ext>
            </a:extLst>
          </p:cNvPr>
          <p:cNvPicPr>
            <a:picLocks noChangeAspect="1"/>
          </p:cNvPicPr>
          <p:nvPr/>
        </p:nvPicPr>
        <p:blipFill>
          <a:blip r:embed="rId2"/>
          <a:stretch>
            <a:fillRect/>
          </a:stretch>
        </p:blipFill>
        <p:spPr>
          <a:xfrm>
            <a:off x="1335343" y="2424364"/>
            <a:ext cx="12135692" cy="1433257"/>
          </a:xfrm>
          <a:prstGeom prst="rect">
            <a:avLst/>
          </a:prstGeom>
        </p:spPr>
      </p:pic>
      <p:sp>
        <p:nvSpPr>
          <p:cNvPr id="11" name="テキスト ボックス 10">
            <a:extLst>
              <a:ext uri="{FF2B5EF4-FFF2-40B4-BE49-F238E27FC236}">
                <a16:creationId xmlns:a16="http://schemas.microsoft.com/office/drawing/2014/main" id="{4192C6BF-1CE4-4807-C4DE-AA59F2F3C79C}"/>
              </a:ext>
            </a:extLst>
          </p:cNvPr>
          <p:cNvSpPr txBox="1"/>
          <p:nvPr/>
        </p:nvSpPr>
        <p:spPr>
          <a:xfrm>
            <a:off x="209550" y="115814"/>
            <a:ext cx="5519460"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教師あり学習のデータセット</a:t>
            </a:r>
          </a:p>
        </p:txBody>
      </p:sp>
    </p:spTree>
    <p:extLst>
      <p:ext uri="{BB962C8B-B14F-4D97-AF65-F5344CB8AC3E}">
        <p14:creationId xmlns:p14="http://schemas.microsoft.com/office/powerpoint/2010/main" val="25358871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FFA92B9-941C-F74A-E876-32A07811E38C}"/>
              </a:ext>
            </a:extLst>
          </p:cNvPr>
          <p:cNvSpPr txBox="1"/>
          <p:nvPr/>
        </p:nvSpPr>
        <p:spPr>
          <a:xfrm>
            <a:off x="182880" y="144089"/>
            <a:ext cx="8392041"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自然言語のデータセットはどのように作るか</a:t>
            </a:r>
          </a:p>
        </p:txBody>
      </p:sp>
      <p:sp>
        <p:nvSpPr>
          <p:cNvPr id="4" name="テキスト ボックス 3">
            <a:extLst>
              <a:ext uri="{FF2B5EF4-FFF2-40B4-BE49-F238E27FC236}">
                <a16:creationId xmlns:a16="http://schemas.microsoft.com/office/drawing/2014/main" id="{EF760750-E703-69C3-D127-C4D0A954C7B8}"/>
              </a:ext>
            </a:extLst>
          </p:cNvPr>
          <p:cNvSpPr txBox="1"/>
          <p:nvPr/>
        </p:nvSpPr>
        <p:spPr>
          <a:xfrm>
            <a:off x="283464" y="631103"/>
            <a:ext cx="11339130" cy="830997"/>
          </a:xfrm>
          <a:prstGeom prst="rect">
            <a:avLst/>
          </a:prstGeom>
          <a:noFill/>
        </p:spPr>
        <p:txBody>
          <a:bodyPr wrap="none" rtlCol="0">
            <a:spAutoFit/>
          </a:bodyPr>
          <a:lstStyle/>
          <a:p>
            <a:pPr marL="457200" indent="-457200" algn="l">
              <a:buFont typeface="+mj-lt"/>
              <a:buAutoNum type="arabicPeriod"/>
            </a:pPr>
            <a:r>
              <a:rPr lang="en-US" altLang="ja-JP" sz="2400" dirty="0" err="1">
                <a:latin typeface="メイリオ" panose="020B0604030504040204" pitchFamily="50" charset="-128"/>
                <a:ea typeface="メイリオ" panose="020B0604030504040204" pitchFamily="50" charset="-128"/>
              </a:rPr>
              <a:t>Tabelog</a:t>
            </a:r>
            <a:r>
              <a:rPr lang="ja-JP" altLang="en-US" sz="2400" dirty="0">
                <a:latin typeface="メイリオ" panose="020B0604030504040204" pitchFamily="50" charset="-128"/>
                <a:ea typeface="メイリオ" panose="020B0604030504040204" pitchFamily="50" charset="-128"/>
              </a:rPr>
              <a:t>口コミをデータセットに変換すると以下のようになる（単語は抜粋）</a:t>
            </a:r>
            <a:endParaRPr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lang="ja-JP" altLang="en-US" sz="2400" dirty="0">
                <a:latin typeface="メイリオ" panose="020B0604030504040204" pitchFamily="50" charset="-128"/>
                <a:ea typeface="メイリオ" panose="020B0604030504040204" pitchFamily="50" charset="-128"/>
              </a:rPr>
              <a:t>どのように処理するとデータセットになるか？</a:t>
            </a:r>
            <a:endParaRPr kumimoji="1" lang="ja-JP" altLang="en-US" sz="2400" dirty="0">
              <a:latin typeface="メイリオ" panose="020B0604030504040204" pitchFamily="50" charset="-128"/>
              <a:ea typeface="メイリオ" panose="020B0604030504040204" pitchFamily="50" charset="-128"/>
            </a:endParaRPr>
          </a:p>
        </p:txBody>
      </p:sp>
      <p:graphicFrame>
        <p:nvGraphicFramePr>
          <p:cNvPr id="5" name="表 4">
            <a:extLst>
              <a:ext uri="{FF2B5EF4-FFF2-40B4-BE49-F238E27FC236}">
                <a16:creationId xmlns:a16="http://schemas.microsoft.com/office/drawing/2014/main" id="{1E698741-CDE1-A52F-1D41-2D7A04AC447B}"/>
              </a:ext>
            </a:extLst>
          </p:cNvPr>
          <p:cNvGraphicFramePr>
            <a:graphicFrameLocks noGrp="1"/>
          </p:cNvGraphicFramePr>
          <p:nvPr/>
        </p:nvGraphicFramePr>
        <p:xfrm>
          <a:off x="283464" y="1462100"/>
          <a:ext cx="11795760" cy="5283200"/>
        </p:xfrm>
        <a:graphic>
          <a:graphicData uri="http://schemas.openxmlformats.org/drawingml/2006/table">
            <a:tbl>
              <a:tblPr>
                <a:tableStyleId>{5940675A-B579-460E-94D1-54222C63F5DA}</a:tableStyleId>
              </a:tblPr>
              <a:tblGrid>
                <a:gridCol w="1088136">
                  <a:extLst>
                    <a:ext uri="{9D8B030D-6E8A-4147-A177-3AD203B41FA5}">
                      <a16:colId xmlns:a16="http://schemas.microsoft.com/office/drawing/2014/main" val="3951029499"/>
                    </a:ext>
                  </a:extLst>
                </a:gridCol>
                <a:gridCol w="803968">
                  <a:extLst>
                    <a:ext uri="{9D8B030D-6E8A-4147-A177-3AD203B41FA5}">
                      <a16:colId xmlns:a16="http://schemas.microsoft.com/office/drawing/2014/main" val="2475646783"/>
                    </a:ext>
                  </a:extLst>
                </a:gridCol>
                <a:gridCol w="946052">
                  <a:extLst>
                    <a:ext uri="{9D8B030D-6E8A-4147-A177-3AD203B41FA5}">
                      <a16:colId xmlns:a16="http://schemas.microsoft.com/office/drawing/2014/main" val="624660939"/>
                    </a:ext>
                  </a:extLst>
                </a:gridCol>
                <a:gridCol w="946052">
                  <a:extLst>
                    <a:ext uri="{9D8B030D-6E8A-4147-A177-3AD203B41FA5}">
                      <a16:colId xmlns:a16="http://schemas.microsoft.com/office/drawing/2014/main" val="2695305985"/>
                    </a:ext>
                  </a:extLst>
                </a:gridCol>
                <a:gridCol w="946052">
                  <a:extLst>
                    <a:ext uri="{9D8B030D-6E8A-4147-A177-3AD203B41FA5}">
                      <a16:colId xmlns:a16="http://schemas.microsoft.com/office/drawing/2014/main" val="3649013361"/>
                    </a:ext>
                  </a:extLst>
                </a:gridCol>
                <a:gridCol w="946052">
                  <a:extLst>
                    <a:ext uri="{9D8B030D-6E8A-4147-A177-3AD203B41FA5}">
                      <a16:colId xmlns:a16="http://schemas.microsoft.com/office/drawing/2014/main" val="177034974"/>
                    </a:ext>
                  </a:extLst>
                </a:gridCol>
                <a:gridCol w="946052">
                  <a:extLst>
                    <a:ext uri="{9D8B030D-6E8A-4147-A177-3AD203B41FA5}">
                      <a16:colId xmlns:a16="http://schemas.microsoft.com/office/drawing/2014/main" val="2200948185"/>
                    </a:ext>
                  </a:extLst>
                </a:gridCol>
                <a:gridCol w="946052">
                  <a:extLst>
                    <a:ext uri="{9D8B030D-6E8A-4147-A177-3AD203B41FA5}">
                      <a16:colId xmlns:a16="http://schemas.microsoft.com/office/drawing/2014/main" val="98306126"/>
                    </a:ext>
                  </a:extLst>
                </a:gridCol>
                <a:gridCol w="946052">
                  <a:extLst>
                    <a:ext uri="{9D8B030D-6E8A-4147-A177-3AD203B41FA5}">
                      <a16:colId xmlns:a16="http://schemas.microsoft.com/office/drawing/2014/main" val="2946303470"/>
                    </a:ext>
                  </a:extLst>
                </a:gridCol>
                <a:gridCol w="946052">
                  <a:extLst>
                    <a:ext uri="{9D8B030D-6E8A-4147-A177-3AD203B41FA5}">
                      <a16:colId xmlns:a16="http://schemas.microsoft.com/office/drawing/2014/main" val="1225656956"/>
                    </a:ext>
                  </a:extLst>
                </a:gridCol>
                <a:gridCol w="570448">
                  <a:extLst>
                    <a:ext uri="{9D8B030D-6E8A-4147-A177-3AD203B41FA5}">
                      <a16:colId xmlns:a16="http://schemas.microsoft.com/office/drawing/2014/main" val="818694198"/>
                    </a:ext>
                  </a:extLst>
                </a:gridCol>
                <a:gridCol w="896112">
                  <a:extLst>
                    <a:ext uri="{9D8B030D-6E8A-4147-A177-3AD203B41FA5}">
                      <a16:colId xmlns:a16="http://schemas.microsoft.com/office/drawing/2014/main" val="1551263885"/>
                    </a:ext>
                  </a:extLst>
                </a:gridCol>
                <a:gridCol w="868680">
                  <a:extLst>
                    <a:ext uri="{9D8B030D-6E8A-4147-A177-3AD203B41FA5}">
                      <a16:colId xmlns:a16="http://schemas.microsoft.com/office/drawing/2014/main" val="2094518299"/>
                    </a:ext>
                  </a:extLst>
                </a:gridCol>
              </a:tblGrid>
              <a:tr h="228600">
                <a:tc>
                  <a:txBody>
                    <a:bodyPr/>
                    <a:lstStyle/>
                    <a:p>
                      <a:pPr algn="l" fontAlgn="ctr">
                        <a:buNone/>
                      </a:pPr>
                      <a:r>
                        <a:rPr lang="en-US" sz="2000" b="1" u="none" strike="noStrike">
                          <a:solidFill>
                            <a:srgbClr val="000000"/>
                          </a:solidFill>
                          <a:effectLst/>
                          <a:latin typeface="メイリオ" panose="020B0604030504040204" pitchFamily="50" charset="-128"/>
                          <a:ea typeface="メイリオ" panose="020B0604030504040204" pitchFamily="50" charset="-128"/>
                        </a:rPr>
                        <a:t>label</a:t>
                      </a:r>
                      <a:endParaRPr lang="en-US" sz="2000" b="1"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l" fontAlgn="ctr">
                        <a:buNone/>
                      </a:pPr>
                      <a:r>
                        <a:rPr lang="ja-JP" altLang="en-US" sz="2000" b="1" u="none" strike="noStrike">
                          <a:solidFill>
                            <a:srgbClr val="000000"/>
                          </a:solidFill>
                          <a:effectLst/>
                          <a:latin typeface="メイリオ" panose="020B0604030504040204" pitchFamily="50" charset="-128"/>
                          <a:ea typeface="メイリオ" panose="020B0604030504040204" pitchFamily="50" charset="-128"/>
                        </a:rPr>
                        <a:t>ざる</a:t>
                      </a:r>
                      <a:endParaRPr lang="ja-JP" altLang="en-US" sz="2000" b="1"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l" fontAlgn="ctr">
                        <a:buNone/>
                      </a:pPr>
                      <a:r>
                        <a:rPr lang="ja-JP" altLang="en-US" sz="2000" b="1" u="none" strike="noStrike">
                          <a:solidFill>
                            <a:srgbClr val="000000"/>
                          </a:solidFill>
                          <a:effectLst/>
                          <a:latin typeface="メイリオ" panose="020B0604030504040204" pitchFamily="50" charset="-128"/>
                          <a:ea typeface="メイリオ" panose="020B0604030504040204" pitchFamily="50" charset="-128"/>
                        </a:rPr>
                        <a:t>つゆ</a:t>
                      </a:r>
                      <a:endParaRPr lang="ja-JP" altLang="en-US" sz="2000" b="1"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l" fontAlgn="ctr">
                        <a:buNone/>
                      </a:pPr>
                      <a:r>
                        <a:rPr lang="ja-JP" altLang="en-US" sz="2000" b="1" u="none" strike="noStrike">
                          <a:solidFill>
                            <a:srgbClr val="000000"/>
                          </a:solidFill>
                          <a:effectLst/>
                          <a:latin typeface="メイリオ" panose="020B0604030504040204" pitchFamily="50" charset="-128"/>
                          <a:ea typeface="メイリオ" panose="020B0604030504040204" pitchFamily="50" charset="-128"/>
                        </a:rPr>
                        <a:t>とんこつ</a:t>
                      </a:r>
                      <a:endParaRPr lang="ja-JP" altLang="en-US" sz="2000" b="1"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l" fontAlgn="ctr">
                        <a:buNone/>
                      </a:pPr>
                      <a:r>
                        <a:rPr lang="ja-JP" altLang="en-US" sz="2000" b="1" u="none" strike="noStrike">
                          <a:solidFill>
                            <a:srgbClr val="000000"/>
                          </a:solidFill>
                          <a:effectLst/>
                          <a:latin typeface="メイリオ" panose="020B0604030504040204" pitchFamily="50" charset="-128"/>
                          <a:ea typeface="メイリオ" panose="020B0604030504040204" pitchFamily="50" charset="-128"/>
                        </a:rPr>
                        <a:t>のり</a:t>
                      </a:r>
                      <a:endParaRPr lang="ja-JP" altLang="en-US" sz="2000" b="1"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l" fontAlgn="ctr">
                        <a:buNone/>
                      </a:pPr>
                      <a:r>
                        <a:rPr lang="ja-JP" altLang="en-US" sz="2000" b="1" u="none" strike="noStrike">
                          <a:solidFill>
                            <a:srgbClr val="000000"/>
                          </a:solidFill>
                          <a:effectLst/>
                          <a:latin typeface="メイリオ" panose="020B0604030504040204" pitchFamily="50" charset="-128"/>
                          <a:ea typeface="メイリオ" panose="020B0604030504040204" pitchFamily="50" charset="-128"/>
                        </a:rPr>
                        <a:t>カレー</a:t>
                      </a:r>
                      <a:endParaRPr lang="ja-JP" altLang="en-US" sz="2000" b="1"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l" fontAlgn="ctr">
                        <a:buNone/>
                      </a:pPr>
                      <a:r>
                        <a:rPr lang="ja-JP" altLang="en-US" sz="2000" b="1" u="none" strike="noStrike">
                          <a:solidFill>
                            <a:srgbClr val="000000"/>
                          </a:solidFill>
                          <a:effectLst/>
                          <a:latin typeface="メイリオ" panose="020B0604030504040204" pitchFamily="50" charset="-128"/>
                          <a:ea typeface="メイリオ" panose="020B0604030504040204" pitchFamily="50" charset="-128"/>
                        </a:rPr>
                        <a:t>コク</a:t>
                      </a:r>
                      <a:endParaRPr lang="ja-JP" altLang="en-US" sz="2000" b="1"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l" fontAlgn="ctr">
                        <a:buNone/>
                      </a:pPr>
                      <a:r>
                        <a:rPr lang="ja-JP" altLang="en-US" sz="2000" b="1" u="none" strike="noStrike">
                          <a:solidFill>
                            <a:srgbClr val="000000"/>
                          </a:solidFill>
                          <a:effectLst/>
                          <a:latin typeface="メイリオ" panose="020B0604030504040204" pitchFamily="50" charset="-128"/>
                          <a:ea typeface="メイリオ" panose="020B0604030504040204" pitchFamily="50" charset="-128"/>
                        </a:rPr>
                        <a:t>コシ</a:t>
                      </a:r>
                      <a:endParaRPr lang="ja-JP" altLang="en-US" sz="2000" b="1"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l" fontAlgn="ctr">
                        <a:buNone/>
                      </a:pPr>
                      <a:r>
                        <a:rPr lang="ja-JP" altLang="en-US" sz="2000" b="1" u="none" strike="noStrike">
                          <a:solidFill>
                            <a:srgbClr val="000000"/>
                          </a:solidFill>
                          <a:effectLst/>
                          <a:latin typeface="メイリオ" panose="020B0604030504040204" pitchFamily="50" charset="-128"/>
                          <a:ea typeface="メイリオ" panose="020B0604030504040204" pitchFamily="50" charset="-128"/>
                        </a:rPr>
                        <a:t>出汁</a:t>
                      </a:r>
                      <a:endParaRPr lang="ja-JP" altLang="en-US" sz="2000" b="1"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l" fontAlgn="ctr">
                        <a:buNone/>
                      </a:pPr>
                      <a:r>
                        <a:rPr lang="ja-JP" altLang="en-US" sz="2000" b="1" u="none" strike="noStrike">
                          <a:solidFill>
                            <a:srgbClr val="000000"/>
                          </a:solidFill>
                          <a:effectLst/>
                          <a:latin typeface="メイリオ" panose="020B0604030504040204" pitchFamily="50" charset="-128"/>
                          <a:ea typeface="メイリオ" panose="020B0604030504040204" pitchFamily="50" charset="-128"/>
                        </a:rPr>
                        <a:t>博多</a:t>
                      </a:r>
                      <a:endParaRPr lang="ja-JP" altLang="en-US" sz="2000" b="1"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l" fontAlgn="ctr">
                        <a:buNone/>
                      </a:pPr>
                      <a:r>
                        <a:rPr lang="ja-JP" altLang="en-US" sz="2000" b="1" u="none" strike="noStrike">
                          <a:solidFill>
                            <a:srgbClr val="000000"/>
                          </a:solidFill>
                          <a:effectLst/>
                          <a:latin typeface="メイリオ" panose="020B0604030504040204" pitchFamily="50" charset="-128"/>
                          <a:ea typeface="メイリオ" panose="020B0604030504040204" pitchFamily="50" charset="-128"/>
                        </a:rPr>
                        <a:t>卵</a:t>
                      </a:r>
                      <a:endParaRPr lang="ja-JP" altLang="en-US" sz="2000" b="1"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l" fontAlgn="ctr">
                        <a:buNone/>
                      </a:pPr>
                      <a:r>
                        <a:rPr lang="ja-JP" altLang="en-US" sz="2000" b="1" u="none" strike="noStrike">
                          <a:solidFill>
                            <a:srgbClr val="000000"/>
                          </a:solidFill>
                          <a:effectLst/>
                          <a:latin typeface="メイリオ" panose="020B0604030504040204" pitchFamily="50" charset="-128"/>
                          <a:ea typeface="メイリオ" panose="020B0604030504040204" pitchFamily="50" charset="-128"/>
                        </a:rPr>
                        <a:t>天ぷら</a:t>
                      </a:r>
                      <a:endParaRPr lang="ja-JP" altLang="en-US" sz="2000" b="1"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l" fontAlgn="ctr">
                        <a:buNone/>
                      </a:pPr>
                      <a:r>
                        <a:rPr lang="ja-JP" altLang="en-US" sz="2000" b="1" u="none" strike="noStrike">
                          <a:solidFill>
                            <a:srgbClr val="000000"/>
                          </a:solidFill>
                          <a:effectLst/>
                          <a:latin typeface="メイリオ" panose="020B0604030504040204" pitchFamily="50" charset="-128"/>
                          <a:ea typeface="メイリオ" panose="020B0604030504040204" pitchFamily="50" charset="-128"/>
                        </a:rPr>
                        <a:t>揚げ玉</a:t>
                      </a:r>
                      <a:endParaRPr lang="ja-JP" altLang="en-US" sz="2000" b="1"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extLst>
                  <a:ext uri="{0D108BD9-81ED-4DB2-BD59-A6C34878D82A}">
                    <a16:rowId xmlns:a16="http://schemas.microsoft.com/office/drawing/2014/main" val="3611340817"/>
                  </a:ext>
                </a:extLst>
              </a:tr>
              <a:tr h="228600">
                <a:tc>
                  <a:txBody>
                    <a:bodyPr/>
                    <a:lstStyle/>
                    <a:p>
                      <a:pPr algn="l" fontAlgn="ctr">
                        <a:buNone/>
                      </a:pPr>
                      <a:r>
                        <a:rPr lang="ja-JP" altLang="en-US" sz="2000" b="0" u="none" strike="noStrike">
                          <a:solidFill>
                            <a:srgbClr val="000000"/>
                          </a:solidFill>
                          <a:effectLst/>
                          <a:latin typeface="メイリオ" panose="020B0604030504040204" pitchFamily="50" charset="-128"/>
                          <a:ea typeface="メイリオ" panose="020B0604030504040204" pitchFamily="50" charset="-128"/>
                        </a:rPr>
                        <a:t>うどん</a:t>
                      </a:r>
                      <a:endParaRPr lang="ja-JP" altLang="en-US"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2</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extLst>
                  <a:ext uri="{0D108BD9-81ED-4DB2-BD59-A6C34878D82A}">
                    <a16:rowId xmlns:a16="http://schemas.microsoft.com/office/drawing/2014/main" val="4246794430"/>
                  </a:ext>
                </a:extLst>
              </a:tr>
              <a:tr h="228600">
                <a:tc>
                  <a:txBody>
                    <a:bodyPr/>
                    <a:lstStyle/>
                    <a:p>
                      <a:pPr algn="l" fontAlgn="ctr">
                        <a:buNone/>
                      </a:pPr>
                      <a:r>
                        <a:rPr lang="ja-JP" altLang="en-US" sz="2000" b="0" u="none" strike="noStrike">
                          <a:solidFill>
                            <a:srgbClr val="000000"/>
                          </a:solidFill>
                          <a:effectLst/>
                          <a:latin typeface="メイリオ" panose="020B0604030504040204" pitchFamily="50" charset="-128"/>
                          <a:ea typeface="メイリオ" panose="020B0604030504040204" pitchFamily="50" charset="-128"/>
                        </a:rPr>
                        <a:t>うどん</a:t>
                      </a:r>
                      <a:endParaRPr lang="ja-JP" altLang="en-US"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extLst>
                  <a:ext uri="{0D108BD9-81ED-4DB2-BD59-A6C34878D82A}">
                    <a16:rowId xmlns:a16="http://schemas.microsoft.com/office/drawing/2014/main" val="1617767742"/>
                  </a:ext>
                </a:extLst>
              </a:tr>
              <a:tr h="228600">
                <a:tc>
                  <a:txBody>
                    <a:bodyPr/>
                    <a:lstStyle/>
                    <a:p>
                      <a:pPr algn="l" fontAlgn="ctr">
                        <a:buNone/>
                      </a:pPr>
                      <a:r>
                        <a:rPr lang="ja-JP" altLang="en-US" sz="2000" b="0" u="none" strike="noStrike">
                          <a:solidFill>
                            <a:srgbClr val="000000"/>
                          </a:solidFill>
                          <a:effectLst/>
                          <a:latin typeface="メイリオ" panose="020B0604030504040204" pitchFamily="50" charset="-128"/>
                          <a:ea typeface="メイリオ" panose="020B0604030504040204" pitchFamily="50" charset="-128"/>
                        </a:rPr>
                        <a:t>うどん</a:t>
                      </a:r>
                      <a:endParaRPr lang="ja-JP" altLang="en-US"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2</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extLst>
                  <a:ext uri="{0D108BD9-81ED-4DB2-BD59-A6C34878D82A}">
                    <a16:rowId xmlns:a16="http://schemas.microsoft.com/office/drawing/2014/main" val="2320994133"/>
                  </a:ext>
                </a:extLst>
              </a:tr>
              <a:tr h="228600">
                <a:tc>
                  <a:txBody>
                    <a:bodyPr/>
                    <a:lstStyle/>
                    <a:p>
                      <a:pPr algn="l" fontAlgn="ctr">
                        <a:buNone/>
                      </a:pPr>
                      <a:r>
                        <a:rPr lang="ja-JP" altLang="en-US" sz="2000" b="0" u="none" strike="noStrike">
                          <a:solidFill>
                            <a:srgbClr val="000000"/>
                          </a:solidFill>
                          <a:effectLst/>
                          <a:latin typeface="メイリオ" panose="020B0604030504040204" pitchFamily="50" charset="-128"/>
                          <a:ea typeface="メイリオ" panose="020B0604030504040204" pitchFamily="50" charset="-128"/>
                        </a:rPr>
                        <a:t>うどん</a:t>
                      </a:r>
                      <a:endParaRPr lang="ja-JP" altLang="en-US"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5</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extLst>
                  <a:ext uri="{0D108BD9-81ED-4DB2-BD59-A6C34878D82A}">
                    <a16:rowId xmlns:a16="http://schemas.microsoft.com/office/drawing/2014/main" val="4090242959"/>
                  </a:ext>
                </a:extLst>
              </a:tr>
              <a:tr h="228600">
                <a:tc>
                  <a:txBody>
                    <a:bodyPr/>
                    <a:lstStyle/>
                    <a:p>
                      <a:pPr algn="l" fontAlgn="ctr">
                        <a:buNone/>
                      </a:pPr>
                      <a:r>
                        <a:rPr lang="ja-JP" altLang="en-US" sz="2000" b="0" u="none" strike="noStrike" dirty="0">
                          <a:solidFill>
                            <a:srgbClr val="000000"/>
                          </a:solidFill>
                          <a:effectLst/>
                          <a:latin typeface="メイリオ" panose="020B0604030504040204" pitchFamily="50" charset="-128"/>
                          <a:ea typeface="メイリオ" panose="020B0604030504040204" pitchFamily="50" charset="-128"/>
                        </a:rPr>
                        <a:t>うどん</a:t>
                      </a:r>
                      <a:endParaRPr lang="ja-JP" altLang="en-US" sz="2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extLst>
                  <a:ext uri="{0D108BD9-81ED-4DB2-BD59-A6C34878D82A}">
                    <a16:rowId xmlns:a16="http://schemas.microsoft.com/office/drawing/2014/main" val="1534549399"/>
                  </a:ext>
                </a:extLst>
              </a:tr>
              <a:tr h="228600">
                <a:tc>
                  <a:txBody>
                    <a:bodyPr/>
                    <a:lstStyle/>
                    <a:p>
                      <a:pPr algn="l" fontAlgn="ctr">
                        <a:buNone/>
                      </a:pPr>
                      <a:r>
                        <a:rPr lang="ja-JP" altLang="en-US" sz="2000" b="0" u="none" strike="noStrike">
                          <a:solidFill>
                            <a:srgbClr val="000000"/>
                          </a:solidFill>
                          <a:effectLst/>
                          <a:latin typeface="メイリオ" panose="020B0604030504040204" pitchFamily="50" charset="-128"/>
                          <a:ea typeface="メイリオ" panose="020B0604030504040204" pitchFamily="50" charset="-128"/>
                        </a:rPr>
                        <a:t>うどん</a:t>
                      </a:r>
                      <a:endParaRPr lang="ja-JP" altLang="en-US"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4</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extLst>
                  <a:ext uri="{0D108BD9-81ED-4DB2-BD59-A6C34878D82A}">
                    <a16:rowId xmlns:a16="http://schemas.microsoft.com/office/drawing/2014/main" val="659751032"/>
                  </a:ext>
                </a:extLst>
              </a:tr>
              <a:tr h="228600">
                <a:tc>
                  <a:txBody>
                    <a:bodyPr/>
                    <a:lstStyle/>
                    <a:p>
                      <a:pPr algn="l" fontAlgn="ctr">
                        <a:buNone/>
                      </a:pPr>
                      <a:r>
                        <a:rPr lang="ja-JP" altLang="en-US" sz="2000" b="0" u="none" strike="noStrike">
                          <a:solidFill>
                            <a:srgbClr val="000000"/>
                          </a:solidFill>
                          <a:effectLst/>
                          <a:latin typeface="メイリオ" panose="020B0604030504040204" pitchFamily="50" charset="-128"/>
                          <a:ea typeface="メイリオ" panose="020B0604030504040204" pitchFamily="50" charset="-128"/>
                        </a:rPr>
                        <a:t>うどん</a:t>
                      </a:r>
                      <a:endParaRPr lang="ja-JP" altLang="en-US"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5</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extLst>
                  <a:ext uri="{0D108BD9-81ED-4DB2-BD59-A6C34878D82A}">
                    <a16:rowId xmlns:a16="http://schemas.microsoft.com/office/drawing/2014/main" val="3027924307"/>
                  </a:ext>
                </a:extLst>
              </a:tr>
              <a:tr h="228600">
                <a:tc>
                  <a:txBody>
                    <a:bodyPr/>
                    <a:lstStyle/>
                    <a:p>
                      <a:pPr algn="l" fontAlgn="ctr">
                        <a:buNone/>
                      </a:pPr>
                      <a:r>
                        <a:rPr lang="ja-JP" altLang="en-US" sz="2000" b="0" u="none" strike="noStrike">
                          <a:solidFill>
                            <a:srgbClr val="000000"/>
                          </a:solidFill>
                          <a:effectLst/>
                          <a:latin typeface="メイリオ" panose="020B0604030504040204" pitchFamily="50" charset="-128"/>
                          <a:ea typeface="メイリオ" panose="020B0604030504040204" pitchFamily="50" charset="-128"/>
                        </a:rPr>
                        <a:t>ラーメン</a:t>
                      </a:r>
                      <a:endParaRPr lang="ja-JP" altLang="en-US"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6</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extLst>
                  <a:ext uri="{0D108BD9-81ED-4DB2-BD59-A6C34878D82A}">
                    <a16:rowId xmlns:a16="http://schemas.microsoft.com/office/drawing/2014/main" val="3681059028"/>
                  </a:ext>
                </a:extLst>
              </a:tr>
              <a:tr h="228600">
                <a:tc>
                  <a:txBody>
                    <a:bodyPr/>
                    <a:lstStyle/>
                    <a:p>
                      <a:pPr algn="l" fontAlgn="ctr">
                        <a:buNone/>
                      </a:pPr>
                      <a:r>
                        <a:rPr lang="ja-JP" altLang="en-US" sz="2000" b="0" u="none" strike="noStrike">
                          <a:solidFill>
                            <a:srgbClr val="000000"/>
                          </a:solidFill>
                          <a:effectLst/>
                          <a:latin typeface="メイリオ" panose="020B0604030504040204" pitchFamily="50" charset="-128"/>
                          <a:ea typeface="メイリオ" panose="020B0604030504040204" pitchFamily="50" charset="-128"/>
                        </a:rPr>
                        <a:t>ラーメン</a:t>
                      </a:r>
                      <a:endParaRPr lang="ja-JP" altLang="en-US"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3</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extLst>
                  <a:ext uri="{0D108BD9-81ED-4DB2-BD59-A6C34878D82A}">
                    <a16:rowId xmlns:a16="http://schemas.microsoft.com/office/drawing/2014/main" val="887365008"/>
                  </a:ext>
                </a:extLst>
              </a:tr>
              <a:tr h="228600">
                <a:tc>
                  <a:txBody>
                    <a:bodyPr/>
                    <a:lstStyle/>
                    <a:p>
                      <a:pPr algn="l" fontAlgn="ctr">
                        <a:buNone/>
                      </a:pPr>
                      <a:r>
                        <a:rPr lang="ja-JP" altLang="en-US" sz="2000" b="0" u="none" strike="noStrike">
                          <a:solidFill>
                            <a:srgbClr val="000000"/>
                          </a:solidFill>
                          <a:effectLst/>
                          <a:latin typeface="メイリオ" panose="020B0604030504040204" pitchFamily="50" charset="-128"/>
                          <a:ea typeface="メイリオ" panose="020B0604030504040204" pitchFamily="50" charset="-128"/>
                        </a:rPr>
                        <a:t>ラーメン</a:t>
                      </a:r>
                      <a:endParaRPr lang="ja-JP" altLang="en-US"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extLst>
                  <a:ext uri="{0D108BD9-81ED-4DB2-BD59-A6C34878D82A}">
                    <a16:rowId xmlns:a16="http://schemas.microsoft.com/office/drawing/2014/main" val="2100673206"/>
                  </a:ext>
                </a:extLst>
              </a:tr>
              <a:tr h="228600">
                <a:tc>
                  <a:txBody>
                    <a:bodyPr/>
                    <a:lstStyle/>
                    <a:p>
                      <a:pPr algn="l" fontAlgn="ctr">
                        <a:buNone/>
                      </a:pPr>
                      <a:r>
                        <a:rPr lang="ja-JP" altLang="en-US" sz="2000" b="0" u="none" strike="noStrike">
                          <a:solidFill>
                            <a:srgbClr val="000000"/>
                          </a:solidFill>
                          <a:effectLst/>
                          <a:latin typeface="メイリオ" panose="020B0604030504040204" pitchFamily="50" charset="-128"/>
                          <a:ea typeface="メイリオ" panose="020B0604030504040204" pitchFamily="50" charset="-128"/>
                        </a:rPr>
                        <a:t>ラーメン</a:t>
                      </a:r>
                      <a:endParaRPr lang="ja-JP" altLang="en-US"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5</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3</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extLst>
                  <a:ext uri="{0D108BD9-81ED-4DB2-BD59-A6C34878D82A}">
                    <a16:rowId xmlns:a16="http://schemas.microsoft.com/office/drawing/2014/main" val="3300198594"/>
                  </a:ext>
                </a:extLst>
              </a:tr>
              <a:tr h="228600">
                <a:tc>
                  <a:txBody>
                    <a:bodyPr/>
                    <a:lstStyle/>
                    <a:p>
                      <a:pPr algn="l" fontAlgn="ctr">
                        <a:buNone/>
                      </a:pPr>
                      <a:r>
                        <a:rPr lang="ja-JP" altLang="en-US" sz="2000" b="0" u="none" strike="noStrike">
                          <a:solidFill>
                            <a:srgbClr val="000000"/>
                          </a:solidFill>
                          <a:effectLst/>
                          <a:latin typeface="メイリオ" panose="020B0604030504040204" pitchFamily="50" charset="-128"/>
                          <a:ea typeface="メイリオ" panose="020B0604030504040204" pitchFamily="50" charset="-128"/>
                        </a:rPr>
                        <a:t>ラーメン</a:t>
                      </a:r>
                      <a:endParaRPr lang="ja-JP" altLang="en-US"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dirty="0">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extLst>
                  <a:ext uri="{0D108BD9-81ED-4DB2-BD59-A6C34878D82A}">
                    <a16:rowId xmlns:a16="http://schemas.microsoft.com/office/drawing/2014/main" val="2068694199"/>
                  </a:ext>
                </a:extLst>
              </a:tr>
              <a:tr h="228600">
                <a:tc>
                  <a:txBody>
                    <a:bodyPr/>
                    <a:lstStyle/>
                    <a:p>
                      <a:pPr algn="l" fontAlgn="ctr">
                        <a:buNone/>
                      </a:pPr>
                      <a:r>
                        <a:rPr lang="ja-JP" altLang="en-US" sz="2000" b="0" u="none" strike="noStrike">
                          <a:solidFill>
                            <a:srgbClr val="000000"/>
                          </a:solidFill>
                          <a:effectLst/>
                          <a:latin typeface="メイリオ" panose="020B0604030504040204" pitchFamily="50" charset="-128"/>
                          <a:ea typeface="メイリオ" panose="020B0604030504040204" pitchFamily="50" charset="-128"/>
                        </a:rPr>
                        <a:t>ラーメン</a:t>
                      </a:r>
                      <a:endParaRPr lang="ja-JP" altLang="en-US"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4</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extLst>
                  <a:ext uri="{0D108BD9-81ED-4DB2-BD59-A6C34878D82A}">
                    <a16:rowId xmlns:a16="http://schemas.microsoft.com/office/drawing/2014/main" val="2671203541"/>
                  </a:ext>
                </a:extLst>
              </a:tr>
              <a:tr h="228600">
                <a:tc>
                  <a:txBody>
                    <a:bodyPr/>
                    <a:lstStyle/>
                    <a:p>
                      <a:pPr algn="l" fontAlgn="ctr">
                        <a:buNone/>
                      </a:pPr>
                      <a:r>
                        <a:rPr lang="ja-JP" altLang="en-US" sz="2000" b="0" u="none" strike="noStrike">
                          <a:solidFill>
                            <a:srgbClr val="000000"/>
                          </a:solidFill>
                          <a:effectLst/>
                          <a:latin typeface="メイリオ" panose="020B0604030504040204" pitchFamily="50" charset="-128"/>
                          <a:ea typeface="メイリオ" panose="020B0604030504040204" pitchFamily="50" charset="-128"/>
                        </a:rPr>
                        <a:t>ラーメン</a:t>
                      </a:r>
                      <a:endParaRPr lang="ja-JP" altLang="en-US"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3</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extLst>
                  <a:ext uri="{0D108BD9-81ED-4DB2-BD59-A6C34878D82A}">
                    <a16:rowId xmlns:a16="http://schemas.microsoft.com/office/drawing/2014/main" val="1489570636"/>
                  </a:ext>
                </a:extLst>
              </a:tr>
              <a:tr h="228600">
                <a:tc>
                  <a:txBody>
                    <a:bodyPr/>
                    <a:lstStyle/>
                    <a:p>
                      <a:pPr algn="l" fontAlgn="ctr">
                        <a:buNone/>
                      </a:pPr>
                      <a:r>
                        <a:rPr lang="ja-JP" altLang="en-US" sz="2000" b="0" u="none" strike="noStrike">
                          <a:solidFill>
                            <a:srgbClr val="000000"/>
                          </a:solidFill>
                          <a:effectLst/>
                          <a:latin typeface="メイリオ" panose="020B0604030504040204" pitchFamily="50" charset="-128"/>
                          <a:ea typeface="メイリオ" panose="020B0604030504040204" pitchFamily="50" charset="-128"/>
                        </a:rPr>
                        <a:t>ラーメン</a:t>
                      </a:r>
                      <a:endParaRPr lang="ja-JP" altLang="en-US"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4</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4</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a:solidFill>
                            <a:srgbClr val="000000"/>
                          </a:solidFill>
                          <a:effectLst/>
                          <a:latin typeface="メイリオ" panose="020B0604030504040204" pitchFamily="50" charset="-128"/>
                          <a:ea typeface="メイリオ" panose="020B0604030504040204" pitchFamily="50" charset="-128"/>
                        </a:rPr>
                        <a:t>0</a:t>
                      </a:r>
                      <a:endParaRPr lang="en-US" altLang="ja-JP" sz="2000" b="0" i="0" u="none" strike="noStrike">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tc>
                  <a:txBody>
                    <a:bodyPr/>
                    <a:lstStyle/>
                    <a:p>
                      <a:pPr algn="r" fontAlgn="ctr">
                        <a:buNone/>
                      </a:pPr>
                      <a:r>
                        <a:rPr lang="en-US" altLang="ja-JP" sz="2000" b="0" u="none" strike="noStrike" dirty="0">
                          <a:solidFill>
                            <a:srgbClr val="000000"/>
                          </a:solidFill>
                          <a:effectLst/>
                          <a:latin typeface="メイリオ" panose="020B0604030504040204" pitchFamily="50" charset="-128"/>
                          <a:ea typeface="メイリオ" panose="020B0604030504040204" pitchFamily="50" charset="-128"/>
                        </a:rPr>
                        <a:t>1</a:t>
                      </a:r>
                      <a:endParaRPr lang="en-US" altLang="ja-JP" sz="2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tc>
                <a:extLst>
                  <a:ext uri="{0D108BD9-81ED-4DB2-BD59-A6C34878D82A}">
                    <a16:rowId xmlns:a16="http://schemas.microsoft.com/office/drawing/2014/main" val="4070537048"/>
                  </a:ext>
                </a:extLst>
              </a:tr>
            </a:tbl>
          </a:graphicData>
        </a:graphic>
      </p:graphicFrame>
    </p:spTree>
    <p:extLst>
      <p:ext uri="{BB962C8B-B14F-4D97-AF65-F5344CB8AC3E}">
        <p14:creationId xmlns:p14="http://schemas.microsoft.com/office/powerpoint/2010/main" val="270926018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2519</Words>
  <Application>Microsoft Office PowerPoint</Application>
  <PresentationFormat>ワイド画面</PresentationFormat>
  <Paragraphs>674</Paragraphs>
  <Slides>31</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31</vt:i4>
      </vt:variant>
    </vt:vector>
  </HeadingPairs>
  <TitlesOfParts>
    <vt:vector size="38" baseType="lpstr">
      <vt:lpstr>メイリオ</vt:lpstr>
      <vt:lpstr>游ゴシック</vt:lpstr>
      <vt:lpstr>游ゴシック Light</vt:lpstr>
      <vt:lpstr>Arial</vt:lpstr>
      <vt:lpstr>Cambria Math</vt:lpstr>
      <vt:lpstr>Wingdings</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Hiroshi Uehara</dc:creator>
  <cp:lastModifiedBy>Hiroshi Uehara</cp:lastModifiedBy>
  <cp:revision>1</cp:revision>
  <dcterms:created xsi:type="dcterms:W3CDTF">2026-10-06T10:35:58Z</dcterms:created>
  <dcterms:modified xsi:type="dcterms:W3CDTF">2026-10-06T10:36:28Z</dcterms:modified>
</cp:coreProperties>
</file>