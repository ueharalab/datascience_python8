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9"/>
  </p:notesMasterIdLst>
  <p:sldIdLst>
    <p:sldId id="256" r:id="rId2"/>
    <p:sldId id="1230" r:id="rId3"/>
    <p:sldId id="258" r:id="rId4"/>
    <p:sldId id="259" r:id="rId5"/>
    <p:sldId id="470" r:id="rId6"/>
    <p:sldId id="260" r:id="rId7"/>
    <p:sldId id="261" r:id="rId8"/>
    <p:sldId id="1237" r:id="rId9"/>
    <p:sldId id="262" r:id="rId10"/>
    <p:sldId id="1231" r:id="rId11"/>
    <p:sldId id="1232" r:id="rId12"/>
    <p:sldId id="1233" r:id="rId13"/>
    <p:sldId id="1234" r:id="rId14"/>
    <p:sldId id="1235" r:id="rId15"/>
    <p:sldId id="400" r:id="rId16"/>
    <p:sldId id="332" r:id="rId17"/>
    <p:sldId id="26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4472C4"/>
    <a:srgbClr val="ADB9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04" autoAdjust="0"/>
    <p:restoredTop sz="94404" autoAdjust="0"/>
  </p:normalViewPr>
  <p:slideViewPr>
    <p:cSldViewPr snapToGrid="0">
      <p:cViewPr varScale="1">
        <p:scale>
          <a:sx n="70" d="100"/>
          <a:sy n="70" d="100"/>
        </p:scale>
        <p:origin x="49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2A3129-BE50-4C02-ACA3-241ABDFA0B0C}" type="doc">
      <dgm:prSet loTypeId="urn:microsoft.com/office/officeart/2005/8/layout/hChevron3" loCatId="process" qsTypeId="urn:microsoft.com/office/officeart/2005/8/quickstyle/simple1" qsCatId="simple" csTypeId="urn:microsoft.com/office/officeart/2005/8/colors/colorful5" csCatId="colorful"/>
      <dgm:spPr/>
      <dgm:t>
        <a:bodyPr/>
        <a:lstStyle/>
        <a:p>
          <a:endParaRPr kumimoji="1" lang="ja-JP" altLang="en-US"/>
        </a:p>
      </dgm:t>
    </dgm:pt>
    <dgm:pt modelId="{EBBDCC13-3497-427A-9B65-D73C94A8691B}">
      <dgm:prSet/>
      <dgm:spPr/>
      <dgm:t>
        <a:bodyPr/>
        <a:lstStyle/>
        <a:p>
          <a:r>
            <a:rPr kumimoji="1" lang="ja-JP"/>
            <a:t>学習</a:t>
          </a:r>
          <a:endParaRPr lang="ja-JP"/>
        </a:p>
      </dgm:t>
    </dgm:pt>
    <dgm:pt modelId="{9A6B73F4-F738-4431-BF13-97906DDD5B7C}" type="parTrans" cxnId="{DE57CA70-FF38-42CF-A60A-B84DEA91AE30}">
      <dgm:prSet/>
      <dgm:spPr/>
      <dgm:t>
        <a:bodyPr/>
        <a:lstStyle/>
        <a:p>
          <a:endParaRPr kumimoji="1" lang="ja-JP" altLang="en-US"/>
        </a:p>
      </dgm:t>
    </dgm:pt>
    <dgm:pt modelId="{969B20AC-3320-4D67-A8BC-B17D1364FD54}" type="sibTrans" cxnId="{DE57CA70-FF38-42CF-A60A-B84DEA91AE30}">
      <dgm:prSet/>
      <dgm:spPr/>
      <dgm:t>
        <a:bodyPr/>
        <a:lstStyle/>
        <a:p>
          <a:endParaRPr kumimoji="1" lang="ja-JP" altLang="en-US"/>
        </a:p>
      </dgm:t>
    </dgm:pt>
    <dgm:pt modelId="{794846D3-1B3B-4C05-826B-A34404009A7A}">
      <dgm:prSet/>
      <dgm:spPr/>
      <dgm:t>
        <a:bodyPr/>
        <a:lstStyle/>
        <a:p>
          <a:r>
            <a:rPr kumimoji="1" lang="ja-JP" dirty="0"/>
            <a:t>分類</a:t>
          </a:r>
          <a:r>
            <a:rPr kumimoji="1" lang="en-US" dirty="0"/>
            <a:t>/</a:t>
          </a:r>
          <a:r>
            <a:rPr kumimoji="1" lang="ja-JP" dirty="0"/>
            <a:t>予測</a:t>
          </a:r>
          <a:endParaRPr lang="ja-JP" dirty="0"/>
        </a:p>
      </dgm:t>
    </dgm:pt>
    <dgm:pt modelId="{D77BCC7F-7DB9-4C6A-9AAE-106FC5BC3E0D}" type="parTrans" cxnId="{03766C05-7296-4B91-9047-30962DC75518}">
      <dgm:prSet/>
      <dgm:spPr/>
      <dgm:t>
        <a:bodyPr/>
        <a:lstStyle/>
        <a:p>
          <a:endParaRPr kumimoji="1" lang="ja-JP" altLang="en-US"/>
        </a:p>
      </dgm:t>
    </dgm:pt>
    <dgm:pt modelId="{8E1E47AF-9E8C-411E-B641-EDFB868FD7F0}" type="sibTrans" cxnId="{03766C05-7296-4B91-9047-30962DC75518}">
      <dgm:prSet/>
      <dgm:spPr/>
      <dgm:t>
        <a:bodyPr/>
        <a:lstStyle/>
        <a:p>
          <a:endParaRPr kumimoji="1" lang="ja-JP" altLang="en-US"/>
        </a:p>
      </dgm:t>
    </dgm:pt>
    <dgm:pt modelId="{A7140E7A-F7C5-445D-A63D-95E7EA4F2B2C}" type="pres">
      <dgm:prSet presAssocID="{D22A3129-BE50-4C02-ACA3-241ABDFA0B0C}" presName="Name0" presStyleCnt="0">
        <dgm:presLayoutVars>
          <dgm:dir/>
          <dgm:resizeHandles val="exact"/>
        </dgm:presLayoutVars>
      </dgm:prSet>
      <dgm:spPr/>
    </dgm:pt>
    <dgm:pt modelId="{8C543277-1F2B-476F-A36E-322E765317B8}" type="pres">
      <dgm:prSet presAssocID="{EBBDCC13-3497-427A-9B65-D73C94A8691B}" presName="parTxOnly" presStyleLbl="node1" presStyleIdx="0" presStyleCnt="2">
        <dgm:presLayoutVars>
          <dgm:bulletEnabled val="1"/>
        </dgm:presLayoutVars>
      </dgm:prSet>
      <dgm:spPr/>
    </dgm:pt>
    <dgm:pt modelId="{3C6A27BD-E5D1-4E5D-88A9-E58512A017B8}" type="pres">
      <dgm:prSet presAssocID="{969B20AC-3320-4D67-A8BC-B17D1364FD54}" presName="parSpace" presStyleCnt="0"/>
      <dgm:spPr/>
    </dgm:pt>
    <dgm:pt modelId="{D45D537F-AA06-49B5-B1E2-D1ECF653590D}" type="pres">
      <dgm:prSet presAssocID="{794846D3-1B3B-4C05-826B-A34404009A7A}" presName="parTxOnly" presStyleLbl="node1" presStyleIdx="1" presStyleCnt="2" custLinFactNeighborX="5674" custLinFactNeighborY="25926">
        <dgm:presLayoutVars>
          <dgm:bulletEnabled val="1"/>
        </dgm:presLayoutVars>
      </dgm:prSet>
      <dgm:spPr/>
    </dgm:pt>
  </dgm:ptLst>
  <dgm:cxnLst>
    <dgm:cxn modelId="{03766C05-7296-4B91-9047-30962DC75518}" srcId="{D22A3129-BE50-4C02-ACA3-241ABDFA0B0C}" destId="{794846D3-1B3B-4C05-826B-A34404009A7A}" srcOrd="1" destOrd="0" parTransId="{D77BCC7F-7DB9-4C6A-9AAE-106FC5BC3E0D}" sibTransId="{8E1E47AF-9E8C-411E-B641-EDFB868FD7F0}"/>
    <dgm:cxn modelId="{8B15AE2C-F0CD-40B0-A4BD-7901302C14BF}" type="presOf" srcId="{794846D3-1B3B-4C05-826B-A34404009A7A}" destId="{D45D537F-AA06-49B5-B1E2-D1ECF653590D}" srcOrd="0" destOrd="0" presId="urn:microsoft.com/office/officeart/2005/8/layout/hChevron3"/>
    <dgm:cxn modelId="{DE57CA70-FF38-42CF-A60A-B84DEA91AE30}" srcId="{D22A3129-BE50-4C02-ACA3-241ABDFA0B0C}" destId="{EBBDCC13-3497-427A-9B65-D73C94A8691B}" srcOrd="0" destOrd="0" parTransId="{9A6B73F4-F738-4431-BF13-97906DDD5B7C}" sibTransId="{969B20AC-3320-4D67-A8BC-B17D1364FD54}"/>
    <dgm:cxn modelId="{581FBC87-C241-4034-A4D2-500C5D344F99}" type="presOf" srcId="{D22A3129-BE50-4C02-ACA3-241ABDFA0B0C}" destId="{A7140E7A-F7C5-445D-A63D-95E7EA4F2B2C}" srcOrd="0" destOrd="0" presId="urn:microsoft.com/office/officeart/2005/8/layout/hChevron3"/>
    <dgm:cxn modelId="{1692229D-34F1-4269-8B6F-1E0FF7EC4BF6}" type="presOf" srcId="{EBBDCC13-3497-427A-9B65-D73C94A8691B}" destId="{8C543277-1F2B-476F-A36E-322E765317B8}" srcOrd="0" destOrd="0" presId="urn:microsoft.com/office/officeart/2005/8/layout/hChevron3"/>
    <dgm:cxn modelId="{DCE8C953-9804-4672-A0C3-129A9CE9C14E}" type="presParOf" srcId="{A7140E7A-F7C5-445D-A63D-95E7EA4F2B2C}" destId="{8C543277-1F2B-476F-A36E-322E765317B8}" srcOrd="0" destOrd="0" presId="urn:microsoft.com/office/officeart/2005/8/layout/hChevron3"/>
    <dgm:cxn modelId="{200ED11C-1429-47B0-9395-08D3917861AD}" type="presParOf" srcId="{A7140E7A-F7C5-445D-A63D-95E7EA4F2B2C}" destId="{3C6A27BD-E5D1-4E5D-88A9-E58512A017B8}" srcOrd="1" destOrd="0" presId="urn:microsoft.com/office/officeart/2005/8/layout/hChevron3"/>
    <dgm:cxn modelId="{B563C6A0-9E4B-4FC9-AFD1-1395D1769954}" type="presParOf" srcId="{A7140E7A-F7C5-445D-A63D-95E7EA4F2B2C}" destId="{D45D537F-AA06-49B5-B1E2-D1ECF653590D}" srcOrd="2"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E12FA2-FA5D-42F1-9B11-6CB132618ED6}"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kumimoji="1" lang="ja-JP" altLang="en-US"/>
        </a:p>
      </dgm:t>
    </dgm:pt>
    <dgm:pt modelId="{8298E695-7EED-4095-A63F-21DC51B59A18}">
      <dgm:prSet custT="1"/>
      <dgm:spPr/>
      <dgm:t>
        <a:bodyPr/>
        <a:lstStyle/>
        <a:p>
          <a:r>
            <a:rPr kumimoji="1" lang="ja-JP" altLang="en-US" sz="2000" dirty="0"/>
            <a:t>訓練データを読み込む</a:t>
          </a:r>
          <a:endParaRPr lang="ja-JP" altLang="en-US" sz="2000" dirty="0"/>
        </a:p>
      </dgm:t>
    </dgm:pt>
    <dgm:pt modelId="{70F8DB1A-7970-403A-91DA-2918C64F0930}" type="parTrans" cxnId="{BACA684D-D6D0-4104-870A-8DF7FBA12DA8}">
      <dgm:prSet/>
      <dgm:spPr/>
      <dgm:t>
        <a:bodyPr/>
        <a:lstStyle/>
        <a:p>
          <a:endParaRPr kumimoji="1" lang="ja-JP" altLang="en-US" sz="2000"/>
        </a:p>
      </dgm:t>
    </dgm:pt>
    <dgm:pt modelId="{8BC124AD-8BB5-4399-8784-E5ECFD314783}" type="sibTrans" cxnId="{BACA684D-D6D0-4104-870A-8DF7FBA12DA8}">
      <dgm:prSet custT="1"/>
      <dgm:spPr/>
      <dgm:t>
        <a:bodyPr/>
        <a:lstStyle/>
        <a:p>
          <a:endParaRPr kumimoji="1" lang="ja-JP" altLang="en-US" sz="2000"/>
        </a:p>
      </dgm:t>
    </dgm:pt>
    <dgm:pt modelId="{E79C8359-4D8B-45E7-80CF-E0BC0A043D71}">
      <dgm:prSet custT="1"/>
      <dgm:spPr/>
      <dgm:t>
        <a:bodyPr/>
        <a:lstStyle/>
        <a:p>
          <a:r>
            <a:rPr kumimoji="1" lang="ja-JP" altLang="en-US" sz="2000" dirty="0"/>
            <a:t>機械学習モデルに入力</a:t>
          </a:r>
          <a:endParaRPr lang="ja-JP" altLang="en-US" sz="2000" dirty="0"/>
        </a:p>
      </dgm:t>
    </dgm:pt>
    <dgm:pt modelId="{2B2C79D7-63D5-4752-9417-CE57BE5578DB}" type="parTrans" cxnId="{66DE38C7-1E32-4B10-B62E-E664F181BEBC}">
      <dgm:prSet/>
      <dgm:spPr/>
      <dgm:t>
        <a:bodyPr/>
        <a:lstStyle/>
        <a:p>
          <a:endParaRPr kumimoji="1" lang="ja-JP" altLang="en-US" sz="2000"/>
        </a:p>
      </dgm:t>
    </dgm:pt>
    <dgm:pt modelId="{E8C61DAA-57C4-4FD5-B1F2-5AD28F8DDF6B}" type="sibTrans" cxnId="{66DE38C7-1E32-4B10-B62E-E664F181BEBC}">
      <dgm:prSet custT="1"/>
      <dgm:spPr/>
      <dgm:t>
        <a:bodyPr/>
        <a:lstStyle/>
        <a:p>
          <a:endParaRPr kumimoji="1" lang="ja-JP" altLang="en-US" sz="2000"/>
        </a:p>
      </dgm:t>
    </dgm:pt>
    <dgm:pt modelId="{16D9AE2A-7DFA-42C3-A2E4-18A5250B41C3}">
      <dgm:prSet custT="1"/>
      <dgm:spPr/>
      <dgm:t>
        <a:bodyPr/>
        <a:lstStyle/>
        <a:p>
          <a:r>
            <a:rPr kumimoji="1" lang="ja-JP" altLang="en-US" sz="2000"/>
            <a:t>学習する</a:t>
          </a:r>
          <a:endParaRPr lang="ja-JP" altLang="en-US" sz="2000"/>
        </a:p>
      </dgm:t>
    </dgm:pt>
    <dgm:pt modelId="{8D719EC0-0F1D-453A-91A3-73DA2EF4F9E7}" type="parTrans" cxnId="{E5E97DA0-5F45-47EA-8F38-08F9D8616838}">
      <dgm:prSet/>
      <dgm:spPr/>
      <dgm:t>
        <a:bodyPr/>
        <a:lstStyle/>
        <a:p>
          <a:endParaRPr kumimoji="1" lang="ja-JP" altLang="en-US" sz="2000"/>
        </a:p>
      </dgm:t>
    </dgm:pt>
    <dgm:pt modelId="{037FC937-112F-4888-9740-17764A857BAC}" type="sibTrans" cxnId="{E5E97DA0-5F45-47EA-8F38-08F9D8616838}">
      <dgm:prSet custT="1"/>
      <dgm:spPr/>
      <dgm:t>
        <a:bodyPr/>
        <a:lstStyle/>
        <a:p>
          <a:endParaRPr kumimoji="1" lang="ja-JP" altLang="en-US" sz="2000"/>
        </a:p>
      </dgm:t>
    </dgm:pt>
    <dgm:pt modelId="{63662DBB-73EE-42DF-871E-AA4624798D3A}">
      <dgm:prSet custT="1"/>
      <dgm:spPr/>
      <dgm:t>
        <a:bodyPr/>
        <a:lstStyle/>
        <a:p>
          <a:r>
            <a:rPr kumimoji="1" lang="ja-JP" altLang="en-US" sz="2000" dirty="0"/>
            <a:t>テストデータを読み込む</a:t>
          </a:r>
          <a:endParaRPr lang="ja-JP" altLang="en-US" sz="2000" dirty="0"/>
        </a:p>
      </dgm:t>
    </dgm:pt>
    <dgm:pt modelId="{3E12B471-7C2A-4D33-9C72-898BF36CFBFD}" type="parTrans" cxnId="{AFF293DC-44EA-434E-811D-061216B246E4}">
      <dgm:prSet/>
      <dgm:spPr/>
      <dgm:t>
        <a:bodyPr/>
        <a:lstStyle/>
        <a:p>
          <a:endParaRPr kumimoji="1" lang="ja-JP" altLang="en-US" sz="2000"/>
        </a:p>
      </dgm:t>
    </dgm:pt>
    <dgm:pt modelId="{323CE72E-82F6-41D3-A1DB-D4795B0FA0B4}" type="sibTrans" cxnId="{AFF293DC-44EA-434E-811D-061216B246E4}">
      <dgm:prSet custT="1"/>
      <dgm:spPr/>
      <dgm:t>
        <a:bodyPr/>
        <a:lstStyle/>
        <a:p>
          <a:endParaRPr kumimoji="1" lang="ja-JP" altLang="en-US" sz="2000"/>
        </a:p>
      </dgm:t>
    </dgm:pt>
    <dgm:pt modelId="{39F7C659-87ED-4658-B962-DC45D687EA7F}">
      <dgm:prSet custT="1"/>
      <dgm:spPr/>
      <dgm:t>
        <a:bodyPr/>
        <a:lstStyle/>
        <a:p>
          <a:r>
            <a:rPr kumimoji="1" lang="ja-JP" altLang="en-US" sz="2000" dirty="0"/>
            <a:t>学習済モデルに入力</a:t>
          </a:r>
          <a:endParaRPr lang="ja-JP" altLang="en-US" sz="2000" dirty="0"/>
        </a:p>
      </dgm:t>
    </dgm:pt>
    <dgm:pt modelId="{694B0490-1385-4EB7-9A78-1DC25BB70D96}" type="parTrans" cxnId="{0037440A-E3D4-48B4-8938-6B89EA31D0FF}">
      <dgm:prSet/>
      <dgm:spPr/>
      <dgm:t>
        <a:bodyPr/>
        <a:lstStyle/>
        <a:p>
          <a:endParaRPr kumimoji="1" lang="ja-JP" altLang="en-US" sz="2000"/>
        </a:p>
      </dgm:t>
    </dgm:pt>
    <dgm:pt modelId="{936E6BD6-50C8-4071-8DDA-2E11D0970E2C}" type="sibTrans" cxnId="{0037440A-E3D4-48B4-8938-6B89EA31D0FF}">
      <dgm:prSet custT="1"/>
      <dgm:spPr/>
      <dgm:t>
        <a:bodyPr/>
        <a:lstStyle/>
        <a:p>
          <a:endParaRPr kumimoji="1" lang="ja-JP" altLang="en-US" sz="2000"/>
        </a:p>
      </dgm:t>
    </dgm:pt>
    <dgm:pt modelId="{25583ABD-A310-4DAA-B4DB-20CC5665896D}">
      <dgm:prSet custT="1"/>
      <dgm:spPr/>
      <dgm:t>
        <a:bodyPr/>
        <a:lstStyle/>
        <a:p>
          <a:r>
            <a:rPr kumimoji="1" lang="ja-JP" sz="2000" dirty="0"/>
            <a:t>分類結果</a:t>
          </a:r>
          <a:r>
            <a:rPr kumimoji="1" lang="en-US" sz="2000" dirty="0"/>
            <a:t>/</a:t>
          </a:r>
          <a:r>
            <a:rPr kumimoji="1" lang="ja-JP" sz="2000" dirty="0"/>
            <a:t>予測結果を出力</a:t>
          </a:r>
          <a:endParaRPr lang="ja-JP" sz="2000" dirty="0"/>
        </a:p>
      </dgm:t>
    </dgm:pt>
    <dgm:pt modelId="{354E2B1C-4ACC-4E82-B9E2-7B1CF64776B8}" type="parTrans" cxnId="{4D026742-052F-4B0C-8DF3-0C3E4F6D909D}">
      <dgm:prSet/>
      <dgm:spPr/>
      <dgm:t>
        <a:bodyPr/>
        <a:lstStyle/>
        <a:p>
          <a:endParaRPr kumimoji="1" lang="ja-JP" altLang="en-US" sz="2000"/>
        </a:p>
      </dgm:t>
    </dgm:pt>
    <dgm:pt modelId="{E4BC73D3-B8E2-41F3-AFAE-2DE4AE067E3E}" type="sibTrans" cxnId="{4D026742-052F-4B0C-8DF3-0C3E4F6D909D}">
      <dgm:prSet/>
      <dgm:spPr/>
      <dgm:t>
        <a:bodyPr/>
        <a:lstStyle/>
        <a:p>
          <a:endParaRPr kumimoji="1" lang="ja-JP" altLang="en-US" sz="2000"/>
        </a:p>
      </dgm:t>
    </dgm:pt>
    <dgm:pt modelId="{F7C708A4-38C4-40DD-8613-45E3A5D0218B}" type="pres">
      <dgm:prSet presAssocID="{86E12FA2-FA5D-42F1-9B11-6CB132618ED6}" presName="linearFlow" presStyleCnt="0">
        <dgm:presLayoutVars>
          <dgm:resizeHandles val="exact"/>
        </dgm:presLayoutVars>
      </dgm:prSet>
      <dgm:spPr/>
    </dgm:pt>
    <dgm:pt modelId="{A0F7CC8C-8F34-451E-95D1-380F864316DB}" type="pres">
      <dgm:prSet presAssocID="{8298E695-7EED-4095-A63F-21DC51B59A18}" presName="node" presStyleLbl="node1" presStyleIdx="0" presStyleCnt="6" custScaleX="136991">
        <dgm:presLayoutVars>
          <dgm:bulletEnabled val="1"/>
        </dgm:presLayoutVars>
      </dgm:prSet>
      <dgm:spPr/>
    </dgm:pt>
    <dgm:pt modelId="{25776CF0-9F92-4042-9C0E-51E7024D3BC3}" type="pres">
      <dgm:prSet presAssocID="{8BC124AD-8BB5-4399-8784-E5ECFD314783}" presName="sibTrans" presStyleLbl="sibTrans2D1" presStyleIdx="0" presStyleCnt="5"/>
      <dgm:spPr/>
    </dgm:pt>
    <dgm:pt modelId="{40DA3AFC-6659-4D44-ADDF-1E5470CE3CB5}" type="pres">
      <dgm:prSet presAssocID="{8BC124AD-8BB5-4399-8784-E5ECFD314783}" presName="connectorText" presStyleLbl="sibTrans2D1" presStyleIdx="0" presStyleCnt="5"/>
      <dgm:spPr/>
    </dgm:pt>
    <dgm:pt modelId="{AF1936EA-04EC-4A6D-8E93-65BF6309A41A}" type="pres">
      <dgm:prSet presAssocID="{E79C8359-4D8B-45E7-80CF-E0BC0A043D71}" presName="node" presStyleLbl="node1" presStyleIdx="1" presStyleCnt="6" custScaleX="136991">
        <dgm:presLayoutVars>
          <dgm:bulletEnabled val="1"/>
        </dgm:presLayoutVars>
      </dgm:prSet>
      <dgm:spPr/>
    </dgm:pt>
    <dgm:pt modelId="{3AA69AF5-38C2-4321-8AC4-9BD2C52469A6}" type="pres">
      <dgm:prSet presAssocID="{E8C61DAA-57C4-4FD5-B1F2-5AD28F8DDF6B}" presName="sibTrans" presStyleLbl="sibTrans2D1" presStyleIdx="1" presStyleCnt="5"/>
      <dgm:spPr/>
    </dgm:pt>
    <dgm:pt modelId="{3DE34627-2B2D-4B06-886C-D335400E3DE5}" type="pres">
      <dgm:prSet presAssocID="{E8C61DAA-57C4-4FD5-B1F2-5AD28F8DDF6B}" presName="connectorText" presStyleLbl="sibTrans2D1" presStyleIdx="1" presStyleCnt="5"/>
      <dgm:spPr/>
    </dgm:pt>
    <dgm:pt modelId="{CE28064F-C5C0-4CE6-A221-779F631B2056}" type="pres">
      <dgm:prSet presAssocID="{16D9AE2A-7DFA-42C3-A2E4-18A5250B41C3}" presName="node" presStyleLbl="node1" presStyleIdx="2" presStyleCnt="6" custScaleX="138200">
        <dgm:presLayoutVars>
          <dgm:bulletEnabled val="1"/>
        </dgm:presLayoutVars>
      </dgm:prSet>
      <dgm:spPr/>
    </dgm:pt>
    <dgm:pt modelId="{EDDD6153-084D-43A5-AD59-18D6419C96EE}" type="pres">
      <dgm:prSet presAssocID="{037FC937-112F-4888-9740-17764A857BAC}" presName="sibTrans" presStyleLbl="sibTrans2D1" presStyleIdx="2" presStyleCnt="5"/>
      <dgm:spPr/>
    </dgm:pt>
    <dgm:pt modelId="{A5AF4D0C-D91F-4184-B173-2E287812D821}" type="pres">
      <dgm:prSet presAssocID="{037FC937-112F-4888-9740-17764A857BAC}" presName="connectorText" presStyleLbl="sibTrans2D1" presStyleIdx="2" presStyleCnt="5"/>
      <dgm:spPr/>
    </dgm:pt>
    <dgm:pt modelId="{CA22785F-1F63-4263-8388-094C8B4576A5}" type="pres">
      <dgm:prSet presAssocID="{63662DBB-73EE-42DF-871E-AA4624798D3A}" presName="node" presStyleLbl="node1" presStyleIdx="3" presStyleCnt="6" custScaleX="137595">
        <dgm:presLayoutVars>
          <dgm:bulletEnabled val="1"/>
        </dgm:presLayoutVars>
      </dgm:prSet>
      <dgm:spPr/>
    </dgm:pt>
    <dgm:pt modelId="{4FF8DD78-4725-41C6-A2BA-2D8D42066FA7}" type="pres">
      <dgm:prSet presAssocID="{323CE72E-82F6-41D3-A1DB-D4795B0FA0B4}" presName="sibTrans" presStyleLbl="sibTrans2D1" presStyleIdx="3" presStyleCnt="5"/>
      <dgm:spPr/>
    </dgm:pt>
    <dgm:pt modelId="{B7A3015B-B0D2-4A7E-8DA4-CC7AE40E2CB6}" type="pres">
      <dgm:prSet presAssocID="{323CE72E-82F6-41D3-A1DB-D4795B0FA0B4}" presName="connectorText" presStyleLbl="sibTrans2D1" presStyleIdx="3" presStyleCnt="5"/>
      <dgm:spPr/>
    </dgm:pt>
    <dgm:pt modelId="{9093DF3C-36CF-4F24-A15B-376BDF1ED46F}" type="pres">
      <dgm:prSet presAssocID="{39F7C659-87ED-4658-B962-DC45D687EA7F}" presName="node" presStyleLbl="node1" presStyleIdx="4" presStyleCnt="6" custScaleX="138200">
        <dgm:presLayoutVars>
          <dgm:bulletEnabled val="1"/>
        </dgm:presLayoutVars>
      </dgm:prSet>
      <dgm:spPr/>
    </dgm:pt>
    <dgm:pt modelId="{AD947525-10ED-4C37-B30F-15A16EA661AE}" type="pres">
      <dgm:prSet presAssocID="{936E6BD6-50C8-4071-8DDA-2E11D0970E2C}" presName="sibTrans" presStyleLbl="sibTrans2D1" presStyleIdx="4" presStyleCnt="5"/>
      <dgm:spPr/>
    </dgm:pt>
    <dgm:pt modelId="{2432432A-C063-46CF-870E-465F4D6A5758}" type="pres">
      <dgm:prSet presAssocID="{936E6BD6-50C8-4071-8DDA-2E11D0970E2C}" presName="connectorText" presStyleLbl="sibTrans2D1" presStyleIdx="4" presStyleCnt="5"/>
      <dgm:spPr/>
    </dgm:pt>
    <dgm:pt modelId="{376E7E01-2B30-49C7-A62C-0A378E4363C7}" type="pres">
      <dgm:prSet presAssocID="{25583ABD-A310-4DAA-B4DB-20CC5665896D}" presName="node" presStyleLbl="node1" presStyleIdx="5" presStyleCnt="6" custScaleX="138200">
        <dgm:presLayoutVars>
          <dgm:bulletEnabled val="1"/>
        </dgm:presLayoutVars>
      </dgm:prSet>
      <dgm:spPr/>
    </dgm:pt>
  </dgm:ptLst>
  <dgm:cxnLst>
    <dgm:cxn modelId="{0037440A-E3D4-48B4-8938-6B89EA31D0FF}" srcId="{86E12FA2-FA5D-42F1-9B11-6CB132618ED6}" destId="{39F7C659-87ED-4658-B962-DC45D687EA7F}" srcOrd="4" destOrd="0" parTransId="{694B0490-1385-4EB7-9A78-1DC25BB70D96}" sibTransId="{936E6BD6-50C8-4071-8DDA-2E11D0970E2C}"/>
    <dgm:cxn modelId="{82CE910D-A604-4DB5-958E-2D003759F035}" type="presOf" srcId="{63662DBB-73EE-42DF-871E-AA4624798D3A}" destId="{CA22785F-1F63-4263-8388-094C8B4576A5}" srcOrd="0" destOrd="0" presId="urn:microsoft.com/office/officeart/2005/8/layout/process2"/>
    <dgm:cxn modelId="{8731F10D-645B-4820-9726-3120120E33A8}" type="presOf" srcId="{936E6BD6-50C8-4071-8DDA-2E11D0970E2C}" destId="{AD947525-10ED-4C37-B30F-15A16EA661AE}" srcOrd="0" destOrd="0" presId="urn:microsoft.com/office/officeart/2005/8/layout/process2"/>
    <dgm:cxn modelId="{E42A7733-532D-4632-8539-C23494F796B5}" type="presOf" srcId="{037FC937-112F-4888-9740-17764A857BAC}" destId="{A5AF4D0C-D91F-4184-B173-2E287812D821}" srcOrd="1" destOrd="0" presId="urn:microsoft.com/office/officeart/2005/8/layout/process2"/>
    <dgm:cxn modelId="{49D50136-AA29-4171-903A-13320EE30A07}" type="presOf" srcId="{E8C61DAA-57C4-4FD5-B1F2-5AD28F8DDF6B}" destId="{3AA69AF5-38C2-4321-8AC4-9BD2C52469A6}" srcOrd="0" destOrd="0" presId="urn:microsoft.com/office/officeart/2005/8/layout/process2"/>
    <dgm:cxn modelId="{4D026742-052F-4B0C-8DF3-0C3E4F6D909D}" srcId="{86E12FA2-FA5D-42F1-9B11-6CB132618ED6}" destId="{25583ABD-A310-4DAA-B4DB-20CC5665896D}" srcOrd="5" destOrd="0" parTransId="{354E2B1C-4ACC-4E82-B9E2-7B1CF64776B8}" sibTransId="{E4BC73D3-B8E2-41F3-AFAE-2DE4AE067E3E}"/>
    <dgm:cxn modelId="{BACA684D-D6D0-4104-870A-8DF7FBA12DA8}" srcId="{86E12FA2-FA5D-42F1-9B11-6CB132618ED6}" destId="{8298E695-7EED-4095-A63F-21DC51B59A18}" srcOrd="0" destOrd="0" parTransId="{70F8DB1A-7970-403A-91DA-2918C64F0930}" sibTransId="{8BC124AD-8BB5-4399-8784-E5ECFD314783}"/>
    <dgm:cxn modelId="{A4989152-4A89-474B-AD97-A9A3FFDC99F2}" type="presOf" srcId="{E8C61DAA-57C4-4FD5-B1F2-5AD28F8DDF6B}" destId="{3DE34627-2B2D-4B06-886C-D335400E3DE5}" srcOrd="1" destOrd="0" presId="urn:microsoft.com/office/officeart/2005/8/layout/process2"/>
    <dgm:cxn modelId="{842D9385-EB63-4601-9AFD-C162937D519E}" type="presOf" srcId="{936E6BD6-50C8-4071-8DDA-2E11D0970E2C}" destId="{2432432A-C063-46CF-870E-465F4D6A5758}" srcOrd="1" destOrd="0" presId="urn:microsoft.com/office/officeart/2005/8/layout/process2"/>
    <dgm:cxn modelId="{BB02A28C-0F08-4857-8EFC-4296E6011DEF}" type="presOf" srcId="{037FC937-112F-4888-9740-17764A857BAC}" destId="{EDDD6153-084D-43A5-AD59-18D6419C96EE}" srcOrd="0" destOrd="0" presId="urn:microsoft.com/office/officeart/2005/8/layout/process2"/>
    <dgm:cxn modelId="{5D44E99D-6262-4F3A-8AF3-50BA2906EC79}" type="presOf" srcId="{16D9AE2A-7DFA-42C3-A2E4-18A5250B41C3}" destId="{CE28064F-C5C0-4CE6-A221-779F631B2056}" srcOrd="0" destOrd="0" presId="urn:microsoft.com/office/officeart/2005/8/layout/process2"/>
    <dgm:cxn modelId="{E5E97DA0-5F45-47EA-8F38-08F9D8616838}" srcId="{86E12FA2-FA5D-42F1-9B11-6CB132618ED6}" destId="{16D9AE2A-7DFA-42C3-A2E4-18A5250B41C3}" srcOrd="2" destOrd="0" parTransId="{8D719EC0-0F1D-453A-91A3-73DA2EF4F9E7}" sibTransId="{037FC937-112F-4888-9740-17764A857BAC}"/>
    <dgm:cxn modelId="{2160D5A7-CBDD-4988-8809-DC4FBE49F2A8}" type="presOf" srcId="{8BC124AD-8BB5-4399-8784-E5ECFD314783}" destId="{25776CF0-9F92-4042-9C0E-51E7024D3BC3}" srcOrd="0" destOrd="0" presId="urn:microsoft.com/office/officeart/2005/8/layout/process2"/>
    <dgm:cxn modelId="{718824AA-13CF-4DD3-8173-F6D227B8D091}" type="presOf" srcId="{323CE72E-82F6-41D3-A1DB-D4795B0FA0B4}" destId="{B7A3015B-B0D2-4A7E-8DA4-CC7AE40E2CB6}" srcOrd="1" destOrd="0" presId="urn:microsoft.com/office/officeart/2005/8/layout/process2"/>
    <dgm:cxn modelId="{323321AF-FE9A-4FF5-B66F-36BFD467F7D7}" type="presOf" srcId="{8BC124AD-8BB5-4399-8784-E5ECFD314783}" destId="{40DA3AFC-6659-4D44-ADDF-1E5470CE3CB5}" srcOrd="1" destOrd="0" presId="urn:microsoft.com/office/officeart/2005/8/layout/process2"/>
    <dgm:cxn modelId="{66DE38C7-1E32-4B10-B62E-E664F181BEBC}" srcId="{86E12FA2-FA5D-42F1-9B11-6CB132618ED6}" destId="{E79C8359-4D8B-45E7-80CF-E0BC0A043D71}" srcOrd="1" destOrd="0" parTransId="{2B2C79D7-63D5-4752-9417-CE57BE5578DB}" sibTransId="{E8C61DAA-57C4-4FD5-B1F2-5AD28F8DDF6B}"/>
    <dgm:cxn modelId="{81EE41CF-05A8-4BF4-8A07-791DE3132C8D}" type="presOf" srcId="{E79C8359-4D8B-45E7-80CF-E0BC0A043D71}" destId="{AF1936EA-04EC-4A6D-8E93-65BF6309A41A}" srcOrd="0" destOrd="0" presId="urn:microsoft.com/office/officeart/2005/8/layout/process2"/>
    <dgm:cxn modelId="{2FA79CD7-93F9-48B8-9489-5FC24EB5FFE3}" type="presOf" srcId="{86E12FA2-FA5D-42F1-9B11-6CB132618ED6}" destId="{F7C708A4-38C4-40DD-8613-45E3A5D0218B}" srcOrd="0" destOrd="0" presId="urn:microsoft.com/office/officeart/2005/8/layout/process2"/>
    <dgm:cxn modelId="{F38C00DA-63DF-4C52-8F6B-66E28E05B3AE}" type="presOf" srcId="{25583ABD-A310-4DAA-B4DB-20CC5665896D}" destId="{376E7E01-2B30-49C7-A62C-0A378E4363C7}" srcOrd="0" destOrd="0" presId="urn:microsoft.com/office/officeart/2005/8/layout/process2"/>
    <dgm:cxn modelId="{AFF293DC-44EA-434E-811D-061216B246E4}" srcId="{86E12FA2-FA5D-42F1-9B11-6CB132618ED6}" destId="{63662DBB-73EE-42DF-871E-AA4624798D3A}" srcOrd="3" destOrd="0" parTransId="{3E12B471-7C2A-4D33-9C72-898BF36CFBFD}" sibTransId="{323CE72E-82F6-41D3-A1DB-D4795B0FA0B4}"/>
    <dgm:cxn modelId="{D1CFC5E8-F741-4B45-8644-92FE447086A1}" type="presOf" srcId="{323CE72E-82F6-41D3-A1DB-D4795B0FA0B4}" destId="{4FF8DD78-4725-41C6-A2BA-2D8D42066FA7}" srcOrd="0" destOrd="0" presId="urn:microsoft.com/office/officeart/2005/8/layout/process2"/>
    <dgm:cxn modelId="{AD9E0EEA-0EBA-4B53-8042-A184AF1EF93B}" type="presOf" srcId="{39F7C659-87ED-4658-B962-DC45D687EA7F}" destId="{9093DF3C-36CF-4F24-A15B-376BDF1ED46F}" srcOrd="0" destOrd="0" presId="urn:microsoft.com/office/officeart/2005/8/layout/process2"/>
    <dgm:cxn modelId="{77A8DBF2-4F50-4A50-8AD8-8FB42051F75C}" type="presOf" srcId="{8298E695-7EED-4095-A63F-21DC51B59A18}" destId="{A0F7CC8C-8F34-451E-95D1-380F864316DB}" srcOrd="0" destOrd="0" presId="urn:microsoft.com/office/officeart/2005/8/layout/process2"/>
    <dgm:cxn modelId="{EDAFC01F-6E79-4430-8EC0-6F4723D63103}" type="presParOf" srcId="{F7C708A4-38C4-40DD-8613-45E3A5D0218B}" destId="{A0F7CC8C-8F34-451E-95D1-380F864316DB}" srcOrd="0" destOrd="0" presId="urn:microsoft.com/office/officeart/2005/8/layout/process2"/>
    <dgm:cxn modelId="{E7D116F1-0F87-46D8-AA53-7261470C995C}" type="presParOf" srcId="{F7C708A4-38C4-40DD-8613-45E3A5D0218B}" destId="{25776CF0-9F92-4042-9C0E-51E7024D3BC3}" srcOrd="1" destOrd="0" presId="urn:microsoft.com/office/officeart/2005/8/layout/process2"/>
    <dgm:cxn modelId="{7BFFBA49-BE88-4D8E-8509-F04CAD1789CB}" type="presParOf" srcId="{25776CF0-9F92-4042-9C0E-51E7024D3BC3}" destId="{40DA3AFC-6659-4D44-ADDF-1E5470CE3CB5}" srcOrd="0" destOrd="0" presId="urn:microsoft.com/office/officeart/2005/8/layout/process2"/>
    <dgm:cxn modelId="{09057390-4854-4550-BB64-14B9D9009D15}" type="presParOf" srcId="{F7C708A4-38C4-40DD-8613-45E3A5D0218B}" destId="{AF1936EA-04EC-4A6D-8E93-65BF6309A41A}" srcOrd="2" destOrd="0" presId="urn:microsoft.com/office/officeart/2005/8/layout/process2"/>
    <dgm:cxn modelId="{D8324D2D-57BC-4713-B97A-96ED7C01B501}" type="presParOf" srcId="{F7C708A4-38C4-40DD-8613-45E3A5D0218B}" destId="{3AA69AF5-38C2-4321-8AC4-9BD2C52469A6}" srcOrd="3" destOrd="0" presId="urn:microsoft.com/office/officeart/2005/8/layout/process2"/>
    <dgm:cxn modelId="{6E40B871-A160-4255-BFB5-54F57721A299}" type="presParOf" srcId="{3AA69AF5-38C2-4321-8AC4-9BD2C52469A6}" destId="{3DE34627-2B2D-4B06-886C-D335400E3DE5}" srcOrd="0" destOrd="0" presId="urn:microsoft.com/office/officeart/2005/8/layout/process2"/>
    <dgm:cxn modelId="{94EDBDE7-5295-4153-B0B9-27CD3D238CEC}" type="presParOf" srcId="{F7C708A4-38C4-40DD-8613-45E3A5D0218B}" destId="{CE28064F-C5C0-4CE6-A221-779F631B2056}" srcOrd="4" destOrd="0" presId="urn:microsoft.com/office/officeart/2005/8/layout/process2"/>
    <dgm:cxn modelId="{DD7F23A3-34F4-4C81-9BF6-52F5DF33BB14}" type="presParOf" srcId="{F7C708A4-38C4-40DD-8613-45E3A5D0218B}" destId="{EDDD6153-084D-43A5-AD59-18D6419C96EE}" srcOrd="5" destOrd="0" presId="urn:microsoft.com/office/officeart/2005/8/layout/process2"/>
    <dgm:cxn modelId="{F4540597-8201-48FF-89F8-ED6510CAB4D8}" type="presParOf" srcId="{EDDD6153-084D-43A5-AD59-18D6419C96EE}" destId="{A5AF4D0C-D91F-4184-B173-2E287812D821}" srcOrd="0" destOrd="0" presId="urn:microsoft.com/office/officeart/2005/8/layout/process2"/>
    <dgm:cxn modelId="{CD43E239-1F79-4745-814D-61DF24A7863E}" type="presParOf" srcId="{F7C708A4-38C4-40DD-8613-45E3A5D0218B}" destId="{CA22785F-1F63-4263-8388-094C8B4576A5}" srcOrd="6" destOrd="0" presId="urn:microsoft.com/office/officeart/2005/8/layout/process2"/>
    <dgm:cxn modelId="{8DB16F28-179C-485F-9D17-18C1B564D726}" type="presParOf" srcId="{F7C708A4-38C4-40DD-8613-45E3A5D0218B}" destId="{4FF8DD78-4725-41C6-A2BA-2D8D42066FA7}" srcOrd="7" destOrd="0" presId="urn:microsoft.com/office/officeart/2005/8/layout/process2"/>
    <dgm:cxn modelId="{7DB9CF60-0F38-4D5F-85A0-71B3FEAB6BA5}" type="presParOf" srcId="{4FF8DD78-4725-41C6-A2BA-2D8D42066FA7}" destId="{B7A3015B-B0D2-4A7E-8DA4-CC7AE40E2CB6}" srcOrd="0" destOrd="0" presId="urn:microsoft.com/office/officeart/2005/8/layout/process2"/>
    <dgm:cxn modelId="{3826C469-65FA-4C20-B44A-8BCE08A33404}" type="presParOf" srcId="{F7C708A4-38C4-40DD-8613-45E3A5D0218B}" destId="{9093DF3C-36CF-4F24-A15B-376BDF1ED46F}" srcOrd="8" destOrd="0" presId="urn:microsoft.com/office/officeart/2005/8/layout/process2"/>
    <dgm:cxn modelId="{375FCDCE-80C4-45F7-8E60-1A06E4FF2734}" type="presParOf" srcId="{F7C708A4-38C4-40DD-8613-45E3A5D0218B}" destId="{AD947525-10ED-4C37-B30F-15A16EA661AE}" srcOrd="9" destOrd="0" presId="urn:microsoft.com/office/officeart/2005/8/layout/process2"/>
    <dgm:cxn modelId="{D422C12E-CD07-4E5C-8587-EC022475883B}" type="presParOf" srcId="{AD947525-10ED-4C37-B30F-15A16EA661AE}" destId="{2432432A-C063-46CF-870E-465F4D6A5758}" srcOrd="0" destOrd="0" presId="urn:microsoft.com/office/officeart/2005/8/layout/process2"/>
    <dgm:cxn modelId="{324E53EF-D629-4F30-91A7-B220A1C10319}" type="presParOf" srcId="{F7C708A4-38C4-40DD-8613-45E3A5D0218B}" destId="{376E7E01-2B30-49C7-A62C-0A378E4363C7}" srcOrd="10"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543277-1F2B-476F-A36E-322E765317B8}">
      <dsp:nvSpPr>
        <dsp:cNvPr id="0" name=""/>
        <dsp:cNvSpPr/>
      </dsp:nvSpPr>
      <dsp:spPr>
        <a:xfrm>
          <a:off x="3984" y="0"/>
          <a:ext cx="2829110" cy="1080177"/>
        </a:xfrm>
        <a:prstGeom prst="homePlat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ctr" defTabSz="1244600">
            <a:lnSpc>
              <a:spcPct val="90000"/>
            </a:lnSpc>
            <a:spcBef>
              <a:spcPct val="0"/>
            </a:spcBef>
            <a:spcAft>
              <a:spcPct val="35000"/>
            </a:spcAft>
            <a:buNone/>
          </a:pPr>
          <a:r>
            <a:rPr kumimoji="1" lang="ja-JP" sz="2800" kern="1200"/>
            <a:t>学習</a:t>
          </a:r>
          <a:endParaRPr lang="ja-JP" sz="2800" kern="1200"/>
        </a:p>
      </dsp:txBody>
      <dsp:txXfrm>
        <a:off x="3984" y="0"/>
        <a:ext cx="2559066" cy="1080177"/>
      </dsp:txXfrm>
    </dsp:sp>
    <dsp:sp modelId="{D45D537F-AA06-49B5-B1E2-D1ECF653590D}">
      <dsp:nvSpPr>
        <dsp:cNvPr id="0" name=""/>
        <dsp:cNvSpPr/>
      </dsp:nvSpPr>
      <dsp:spPr>
        <a:xfrm>
          <a:off x="2271257" y="0"/>
          <a:ext cx="2829110" cy="1080177"/>
        </a:xfrm>
        <a:prstGeom prst="chevron">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r>
            <a:rPr kumimoji="1" lang="ja-JP" sz="2800" kern="1200" dirty="0"/>
            <a:t>分類</a:t>
          </a:r>
          <a:r>
            <a:rPr kumimoji="1" lang="en-US" sz="2800" kern="1200" dirty="0"/>
            <a:t>/</a:t>
          </a:r>
          <a:r>
            <a:rPr kumimoji="1" lang="ja-JP" sz="2800" kern="1200" dirty="0"/>
            <a:t>予測</a:t>
          </a:r>
          <a:endParaRPr lang="ja-JP" sz="2800" kern="1200" dirty="0"/>
        </a:p>
      </dsp:txBody>
      <dsp:txXfrm>
        <a:off x="2811346" y="0"/>
        <a:ext cx="1748933" cy="10801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F7CC8C-8F34-451E-95D1-380F864316DB}">
      <dsp:nvSpPr>
        <dsp:cNvPr id="0" name=""/>
        <dsp:cNvSpPr/>
      </dsp:nvSpPr>
      <dsp:spPr>
        <a:xfrm>
          <a:off x="685796" y="4316"/>
          <a:ext cx="3140045" cy="5730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訓練データを読み込む</a:t>
          </a:r>
          <a:endParaRPr lang="ja-JP" altLang="en-US" sz="2000" kern="1200" dirty="0"/>
        </a:p>
      </dsp:txBody>
      <dsp:txXfrm>
        <a:off x="702580" y="21100"/>
        <a:ext cx="3106477" cy="539470"/>
      </dsp:txXfrm>
    </dsp:sp>
    <dsp:sp modelId="{25776CF0-9F92-4042-9C0E-51E7024D3BC3}">
      <dsp:nvSpPr>
        <dsp:cNvPr id="0" name=""/>
        <dsp:cNvSpPr/>
      </dsp:nvSpPr>
      <dsp:spPr>
        <a:xfrm rot="5400000">
          <a:off x="2148374" y="591681"/>
          <a:ext cx="214889" cy="2578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kumimoji="1" lang="ja-JP" altLang="en-US" sz="2000" kern="1200"/>
        </a:p>
      </dsp:txBody>
      <dsp:txXfrm rot="-5400000">
        <a:off x="2178459" y="613170"/>
        <a:ext cx="154721" cy="150422"/>
      </dsp:txXfrm>
    </dsp:sp>
    <dsp:sp modelId="{AF1936EA-04EC-4A6D-8E93-65BF6309A41A}">
      <dsp:nvSpPr>
        <dsp:cNvPr id="0" name=""/>
        <dsp:cNvSpPr/>
      </dsp:nvSpPr>
      <dsp:spPr>
        <a:xfrm>
          <a:off x="685796" y="863874"/>
          <a:ext cx="3140045" cy="5730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機械学習モデルに入力</a:t>
          </a:r>
          <a:endParaRPr lang="ja-JP" altLang="en-US" sz="2000" kern="1200" dirty="0"/>
        </a:p>
      </dsp:txBody>
      <dsp:txXfrm>
        <a:off x="702580" y="880658"/>
        <a:ext cx="3106477" cy="539470"/>
      </dsp:txXfrm>
    </dsp:sp>
    <dsp:sp modelId="{3AA69AF5-38C2-4321-8AC4-9BD2C52469A6}">
      <dsp:nvSpPr>
        <dsp:cNvPr id="0" name=""/>
        <dsp:cNvSpPr/>
      </dsp:nvSpPr>
      <dsp:spPr>
        <a:xfrm rot="5400000">
          <a:off x="2148374" y="1451239"/>
          <a:ext cx="214889" cy="2578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kumimoji="1" lang="ja-JP" altLang="en-US" sz="2000" kern="1200"/>
        </a:p>
      </dsp:txBody>
      <dsp:txXfrm rot="-5400000">
        <a:off x="2178459" y="1472728"/>
        <a:ext cx="154721" cy="150422"/>
      </dsp:txXfrm>
    </dsp:sp>
    <dsp:sp modelId="{CE28064F-C5C0-4CE6-A221-779F631B2056}">
      <dsp:nvSpPr>
        <dsp:cNvPr id="0" name=""/>
        <dsp:cNvSpPr/>
      </dsp:nvSpPr>
      <dsp:spPr>
        <a:xfrm>
          <a:off x="671940" y="1723432"/>
          <a:ext cx="3167757" cy="5730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a:t>学習する</a:t>
          </a:r>
          <a:endParaRPr lang="ja-JP" altLang="en-US" sz="2000" kern="1200"/>
        </a:p>
      </dsp:txBody>
      <dsp:txXfrm>
        <a:off x="688724" y="1740216"/>
        <a:ext cx="3134189" cy="539470"/>
      </dsp:txXfrm>
    </dsp:sp>
    <dsp:sp modelId="{EDDD6153-084D-43A5-AD59-18D6419C96EE}">
      <dsp:nvSpPr>
        <dsp:cNvPr id="0" name=""/>
        <dsp:cNvSpPr/>
      </dsp:nvSpPr>
      <dsp:spPr>
        <a:xfrm rot="5400000">
          <a:off x="2148374" y="2310797"/>
          <a:ext cx="214889" cy="2578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kumimoji="1" lang="ja-JP" altLang="en-US" sz="2000" kern="1200"/>
        </a:p>
      </dsp:txBody>
      <dsp:txXfrm rot="-5400000">
        <a:off x="2178459" y="2332286"/>
        <a:ext cx="154721" cy="150422"/>
      </dsp:txXfrm>
    </dsp:sp>
    <dsp:sp modelId="{CA22785F-1F63-4263-8388-094C8B4576A5}">
      <dsp:nvSpPr>
        <dsp:cNvPr id="0" name=""/>
        <dsp:cNvSpPr/>
      </dsp:nvSpPr>
      <dsp:spPr>
        <a:xfrm>
          <a:off x="678873" y="2582990"/>
          <a:ext cx="3153890" cy="5730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テストデータを読み込む</a:t>
          </a:r>
          <a:endParaRPr lang="ja-JP" altLang="en-US" sz="2000" kern="1200" dirty="0"/>
        </a:p>
      </dsp:txBody>
      <dsp:txXfrm>
        <a:off x="695657" y="2599774"/>
        <a:ext cx="3120322" cy="539470"/>
      </dsp:txXfrm>
    </dsp:sp>
    <dsp:sp modelId="{4FF8DD78-4725-41C6-A2BA-2D8D42066FA7}">
      <dsp:nvSpPr>
        <dsp:cNvPr id="0" name=""/>
        <dsp:cNvSpPr/>
      </dsp:nvSpPr>
      <dsp:spPr>
        <a:xfrm rot="5400000">
          <a:off x="2148374" y="3170355"/>
          <a:ext cx="214889" cy="2578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kumimoji="1" lang="ja-JP" altLang="en-US" sz="2000" kern="1200"/>
        </a:p>
      </dsp:txBody>
      <dsp:txXfrm rot="-5400000">
        <a:off x="2178459" y="3191844"/>
        <a:ext cx="154721" cy="150422"/>
      </dsp:txXfrm>
    </dsp:sp>
    <dsp:sp modelId="{9093DF3C-36CF-4F24-A15B-376BDF1ED46F}">
      <dsp:nvSpPr>
        <dsp:cNvPr id="0" name=""/>
        <dsp:cNvSpPr/>
      </dsp:nvSpPr>
      <dsp:spPr>
        <a:xfrm>
          <a:off x="671940" y="3442548"/>
          <a:ext cx="3167757" cy="5730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学習済モデルに入力</a:t>
          </a:r>
          <a:endParaRPr lang="ja-JP" altLang="en-US" sz="2000" kern="1200" dirty="0"/>
        </a:p>
      </dsp:txBody>
      <dsp:txXfrm>
        <a:off x="688724" y="3459332"/>
        <a:ext cx="3134189" cy="539470"/>
      </dsp:txXfrm>
    </dsp:sp>
    <dsp:sp modelId="{AD947525-10ED-4C37-B30F-15A16EA661AE}">
      <dsp:nvSpPr>
        <dsp:cNvPr id="0" name=""/>
        <dsp:cNvSpPr/>
      </dsp:nvSpPr>
      <dsp:spPr>
        <a:xfrm rot="5400000">
          <a:off x="2148374" y="4029913"/>
          <a:ext cx="214889" cy="2578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kumimoji="1" lang="ja-JP" altLang="en-US" sz="2000" kern="1200"/>
        </a:p>
      </dsp:txBody>
      <dsp:txXfrm rot="-5400000">
        <a:off x="2178459" y="4051402"/>
        <a:ext cx="154721" cy="150422"/>
      </dsp:txXfrm>
    </dsp:sp>
    <dsp:sp modelId="{376E7E01-2B30-49C7-A62C-0A378E4363C7}">
      <dsp:nvSpPr>
        <dsp:cNvPr id="0" name=""/>
        <dsp:cNvSpPr/>
      </dsp:nvSpPr>
      <dsp:spPr>
        <a:xfrm>
          <a:off x="671940" y="4302106"/>
          <a:ext cx="3167757" cy="57303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kumimoji="1" lang="ja-JP" sz="2000" kern="1200" dirty="0"/>
            <a:t>分類結果</a:t>
          </a:r>
          <a:r>
            <a:rPr kumimoji="1" lang="en-US" sz="2000" kern="1200" dirty="0"/>
            <a:t>/</a:t>
          </a:r>
          <a:r>
            <a:rPr kumimoji="1" lang="ja-JP" sz="2000" kern="1200" dirty="0"/>
            <a:t>予測結果を出力</a:t>
          </a:r>
          <a:endParaRPr lang="ja-JP" sz="2000" kern="1200" dirty="0"/>
        </a:p>
      </dsp:txBody>
      <dsp:txXfrm>
        <a:off x="688724" y="4318890"/>
        <a:ext cx="3134189" cy="53947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35936D-836F-419C-9F68-DEDA5DD6EA2C}" type="datetimeFigureOut">
              <a:rPr kumimoji="1" lang="ja-JP" altLang="en-US" smtClean="0"/>
              <a:t>2026/10/6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8306EB-F4D8-4CD3-A9EA-E1E8C435DBF8}" type="slidenum">
              <a:rPr kumimoji="1" lang="ja-JP" altLang="en-US" smtClean="0"/>
              <a:t>‹#›</a:t>
            </a:fld>
            <a:endParaRPr kumimoji="1" lang="ja-JP" altLang="en-US"/>
          </a:p>
        </p:txBody>
      </p:sp>
    </p:spTree>
    <p:extLst>
      <p:ext uri="{BB962C8B-B14F-4D97-AF65-F5344CB8AC3E}">
        <p14:creationId xmlns:p14="http://schemas.microsoft.com/office/powerpoint/2010/main" val="250072237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2026/10/6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4274596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2026/10/6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1399187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2026/10/6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640061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ABC02D7-CBD1-4D33-B166-78A898DF0F76}" type="datetimeFigureOut">
              <a:rPr kumimoji="1" lang="ja-JP" altLang="en-US" smtClean="0"/>
              <a:t>2026/10/6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3793255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ABC02D7-CBD1-4D33-B166-78A898DF0F76}" type="datetimeFigureOut">
              <a:rPr kumimoji="1" lang="ja-JP" altLang="en-US" smtClean="0"/>
              <a:t>2026/10/6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1109388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ABC02D7-CBD1-4D33-B166-78A898DF0F76}" type="datetimeFigureOut">
              <a:rPr kumimoji="1" lang="ja-JP" altLang="en-US" smtClean="0"/>
              <a:t>2026/10/6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1505892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BC02D7-CBD1-4D33-B166-78A898DF0F76}" type="datetimeFigureOut">
              <a:rPr kumimoji="1" lang="ja-JP" altLang="en-US" smtClean="0"/>
              <a:t>2026/10/6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444552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ABC02D7-CBD1-4D33-B166-78A898DF0F76}" type="datetimeFigureOut">
              <a:rPr kumimoji="1" lang="ja-JP" altLang="en-US" smtClean="0"/>
              <a:t>2026/10/6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462289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ABC02D7-CBD1-4D33-B166-78A898DF0F76}" type="datetimeFigureOut">
              <a:rPr kumimoji="1" lang="ja-JP" altLang="en-US" smtClean="0"/>
              <a:t>2026/10/6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853552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2026/10/6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2479904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ABC02D7-CBD1-4D33-B166-78A898DF0F76}" type="datetimeFigureOut">
              <a:rPr kumimoji="1" lang="ja-JP" altLang="en-US" smtClean="0"/>
              <a:t>2026/10/6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3931805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BC02D7-CBD1-4D33-B166-78A898DF0F76}" type="datetimeFigureOut">
              <a:rPr kumimoji="1" lang="ja-JP" altLang="en-US" smtClean="0"/>
              <a:t>2026/10/6</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05ECF2-9EE9-4E94-BB06-97D79EC54085}" type="slidenum">
              <a:rPr kumimoji="1" lang="ja-JP" altLang="en-US" smtClean="0"/>
              <a:t>‹#›</a:t>
            </a:fld>
            <a:endParaRPr kumimoji="1" lang="ja-JP" altLang="en-US"/>
          </a:p>
        </p:txBody>
      </p:sp>
    </p:spTree>
    <p:extLst>
      <p:ext uri="{BB962C8B-B14F-4D97-AF65-F5344CB8AC3E}">
        <p14:creationId xmlns:p14="http://schemas.microsoft.com/office/powerpoint/2010/main" val="41027019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Layout" Target="../diagrams/layout1.xml"/><Relationship Id="rId7" Type="http://schemas.openxmlformats.org/officeDocument/2006/relationships/image" Target="../media/image11.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11" Type="http://schemas.openxmlformats.org/officeDocument/2006/relationships/image" Target="../media/image21.png"/><Relationship Id="rId5" Type="http://schemas.openxmlformats.org/officeDocument/2006/relationships/diagramColors" Target="../diagrams/colors1.xml"/><Relationship Id="rId10" Type="http://schemas.openxmlformats.org/officeDocument/2006/relationships/image" Target="../media/image20.png"/><Relationship Id="rId4" Type="http://schemas.openxmlformats.org/officeDocument/2006/relationships/diagramQuickStyle" Target="../diagrams/quickStyle1.xml"/><Relationship Id="rId9"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0DF4DB4-0544-435C-992C-E0E55AA5E14F}"/>
              </a:ext>
            </a:extLst>
          </p:cNvPr>
          <p:cNvSpPr txBox="1"/>
          <p:nvPr/>
        </p:nvSpPr>
        <p:spPr>
          <a:xfrm>
            <a:off x="232242" y="2584515"/>
            <a:ext cx="7098383" cy="769441"/>
          </a:xfrm>
          <a:prstGeom prst="rect">
            <a:avLst/>
          </a:prstGeom>
          <a:noFill/>
        </p:spPr>
        <p:txBody>
          <a:bodyPr wrap="square" rtlCol="0">
            <a:spAutoFit/>
          </a:bodyPr>
          <a:lstStyle/>
          <a:p>
            <a:pPr algn="ctr"/>
            <a:r>
              <a:rPr kumimoji="1" lang="ja-JP" altLang="en-US" sz="4400" b="1" dirty="0">
                <a:latin typeface="メイリオ" panose="020B0604030504040204" pitchFamily="50" charset="-128"/>
                <a:ea typeface="メイリオ" panose="020B0604030504040204" pitchFamily="50" charset="-128"/>
              </a:rPr>
              <a:t>教師あり機械学習の基本</a:t>
            </a:r>
          </a:p>
        </p:txBody>
      </p:sp>
    </p:spTree>
    <p:extLst>
      <p:ext uri="{BB962C8B-B14F-4D97-AF65-F5344CB8AC3E}">
        <p14:creationId xmlns:p14="http://schemas.microsoft.com/office/powerpoint/2010/main" val="117530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88C169BB-12D3-4AE7-9566-A8DF6AE4E851}"/>
              </a:ext>
            </a:extLst>
          </p:cNvPr>
          <p:cNvSpPr/>
          <p:nvPr/>
        </p:nvSpPr>
        <p:spPr>
          <a:xfrm>
            <a:off x="1666211" y="6286500"/>
            <a:ext cx="7743825" cy="31432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340E4062-61A2-4E2F-89C9-E34FBDCDF7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1662" y="4733024"/>
            <a:ext cx="498494" cy="945491"/>
          </a:xfrm>
          <a:prstGeom prst="rect">
            <a:avLst/>
          </a:prstGeom>
        </p:spPr>
      </p:pic>
      <p:pic>
        <p:nvPicPr>
          <p:cNvPr id="10" name="図 9">
            <a:extLst>
              <a:ext uri="{FF2B5EF4-FFF2-40B4-BE49-F238E27FC236}">
                <a16:creationId xmlns:a16="http://schemas.microsoft.com/office/drawing/2014/main" id="{62F55D95-BCC0-45E8-8252-21F68381F1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7425477" y="4806337"/>
            <a:ext cx="240023" cy="812384"/>
          </a:xfrm>
          <a:prstGeom prst="rect">
            <a:avLst/>
          </a:prstGeom>
        </p:spPr>
      </p:pic>
      <p:pic>
        <p:nvPicPr>
          <p:cNvPr id="11" name="図 10">
            <a:extLst>
              <a:ext uri="{FF2B5EF4-FFF2-40B4-BE49-F238E27FC236}">
                <a16:creationId xmlns:a16="http://schemas.microsoft.com/office/drawing/2014/main" id="{10094BC3-9531-43D0-8F22-088B442482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5947" y="4764913"/>
            <a:ext cx="743023" cy="873824"/>
          </a:xfrm>
          <a:prstGeom prst="rect">
            <a:avLst/>
          </a:prstGeom>
        </p:spPr>
      </p:pic>
      <p:pic>
        <p:nvPicPr>
          <p:cNvPr id="12" name="図 11">
            <a:extLst>
              <a:ext uri="{FF2B5EF4-FFF2-40B4-BE49-F238E27FC236}">
                <a16:creationId xmlns:a16="http://schemas.microsoft.com/office/drawing/2014/main" id="{A594785B-D75A-42CE-B5B3-A5D6D92BEE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3436696" y="4703116"/>
            <a:ext cx="377774" cy="1019160"/>
          </a:xfrm>
          <a:prstGeom prst="rect">
            <a:avLst/>
          </a:prstGeom>
        </p:spPr>
      </p:pic>
      <p:pic>
        <p:nvPicPr>
          <p:cNvPr id="13" name="図 12">
            <a:extLst>
              <a:ext uri="{FF2B5EF4-FFF2-40B4-BE49-F238E27FC236}">
                <a16:creationId xmlns:a16="http://schemas.microsoft.com/office/drawing/2014/main" id="{B30A2778-7922-4EDB-9C17-38F31C134B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33363" y="4744897"/>
            <a:ext cx="587877" cy="873824"/>
          </a:xfrm>
          <a:prstGeom prst="rect">
            <a:avLst/>
          </a:prstGeom>
        </p:spPr>
      </p:pic>
      <p:pic>
        <p:nvPicPr>
          <p:cNvPr id="14" name="図 13">
            <a:extLst>
              <a:ext uri="{FF2B5EF4-FFF2-40B4-BE49-F238E27FC236}">
                <a16:creationId xmlns:a16="http://schemas.microsoft.com/office/drawing/2014/main" id="{2ECF67A5-7687-4153-AC14-796C978A350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869737" y="4698457"/>
            <a:ext cx="727501" cy="966707"/>
          </a:xfrm>
          <a:prstGeom prst="rect">
            <a:avLst/>
          </a:prstGeom>
        </p:spPr>
      </p:pic>
      <p:pic>
        <p:nvPicPr>
          <p:cNvPr id="15" name="図 14">
            <a:extLst>
              <a:ext uri="{FF2B5EF4-FFF2-40B4-BE49-F238E27FC236}">
                <a16:creationId xmlns:a16="http://schemas.microsoft.com/office/drawing/2014/main" id="{6B44B04C-6867-4DA6-96BC-FF55154A5E4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44060" y="4650955"/>
            <a:ext cx="623661" cy="1039435"/>
          </a:xfrm>
          <a:prstGeom prst="rect">
            <a:avLst/>
          </a:prstGeom>
        </p:spPr>
      </p:pic>
      <p:pic>
        <p:nvPicPr>
          <p:cNvPr id="16" name="図 15">
            <a:extLst>
              <a:ext uri="{FF2B5EF4-FFF2-40B4-BE49-F238E27FC236}">
                <a16:creationId xmlns:a16="http://schemas.microsoft.com/office/drawing/2014/main" id="{9F9E3A9F-D961-4D21-A648-436382D3C10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36704" y="406569"/>
            <a:ext cx="4491283" cy="3368462"/>
          </a:xfrm>
          <a:prstGeom prst="rect">
            <a:avLst/>
          </a:prstGeom>
        </p:spPr>
      </p:pic>
      <p:sp>
        <p:nvSpPr>
          <p:cNvPr id="18" name="テキスト ボックス 17">
            <a:extLst>
              <a:ext uri="{FF2B5EF4-FFF2-40B4-BE49-F238E27FC236}">
                <a16:creationId xmlns:a16="http://schemas.microsoft.com/office/drawing/2014/main" id="{C132B315-660D-4C29-B5ED-AB24C56AED46}"/>
              </a:ext>
            </a:extLst>
          </p:cNvPr>
          <p:cNvSpPr txBox="1"/>
          <p:nvPr/>
        </p:nvSpPr>
        <p:spPr>
          <a:xfrm>
            <a:off x="3196155" y="4082697"/>
            <a:ext cx="5109091"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人といってもシルエットはいろいろ</a:t>
            </a:r>
          </a:p>
        </p:txBody>
      </p:sp>
      <p:sp>
        <p:nvSpPr>
          <p:cNvPr id="19" name="テキスト ボックス 18">
            <a:extLst>
              <a:ext uri="{FF2B5EF4-FFF2-40B4-BE49-F238E27FC236}">
                <a16:creationId xmlns:a16="http://schemas.microsoft.com/office/drawing/2014/main" id="{508AEBF5-39C6-476A-8551-9BEE62E2B32C}"/>
              </a:ext>
            </a:extLst>
          </p:cNvPr>
          <p:cNvSpPr txBox="1"/>
          <p:nvPr/>
        </p:nvSpPr>
        <p:spPr>
          <a:xfrm>
            <a:off x="2530346" y="5796983"/>
            <a:ext cx="8883486" cy="954107"/>
          </a:xfrm>
          <a:prstGeom prst="rect">
            <a:avLst/>
          </a:prstGeom>
          <a:noFill/>
        </p:spPr>
        <p:txBody>
          <a:bodyPr wrap="square" rtlCol="0">
            <a:spAutoFit/>
          </a:bodyPr>
          <a:lstStyle/>
          <a:p>
            <a:pPr algn="l"/>
            <a:r>
              <a:rPr kumimoji="1" lang="ja-JP" altLang="en-US" sz="2800" b="1" dirty="0">
                <a:latin typeface="メイリオ" panose="020B0604030504040204" pitchFamily="50" charset="-128"/>
                <a:ea typeface="メイリオ" panose="020B0604030504040204" pitchFamily="50" charset="-128"/>
              </a:rPr>
              <a:t>数百万枚</a:t>
            </a:r>
            <a:r>
              <a:rPr kumimoji="1" lang="ja-JP" altLang="en-US" sz="2800" dirty="0">
                <a:latin typeface="メイリオ" panose="020B0604030504040204" pitchFamily="50" charset="-128"/>
                <a:ea typeface="メイリオ" panose="020B0604030504040204" pitchFamily="50" charset="-128"/>
              </a:rPr>
              <a:t>？？のバリエーションから学習！？</a:t>
            </a:r>
            <a:endParaRPr kumimoji="1" lang="en-US" altLang="ja-JP" sz="2800" dirty="0">
              <a:latin typeface="メイリオ" panose="020B0604030504040204" pitchFamily="50" charset="-128"/>
              <a:ea typeface="メイリオ" panose="020B0604030504040204" pitchFamily="50" charset="-128"/>
            </a:endParaRPr>
          </a:p>
          <a:p>
            <a:pPr algn="l"/>
            <a:r>
              <a:rPr kumimoji="1" lang="ja-JP" altLang="en-US" sz="2800" dirty="0">
                <a:latin typeface="メイリオ" panose="020B0604030504040204" pitchFamily="50" charset="-128"/>
                <a:ea typeface="メイリオ" panose="020B0604030504040204" pitchFamily="50" charset="-128"/>
              </a:rPr>
              <a:t>（</a:t>
            </a:r>
            <a:r>
              <a:rPr kumimoji="1" lang="ja-JP" altLang="en-US" sz="2800" b="1" dirty="0">
                <a:latin typeface="メイリオ" panose="020B0604030504040204" pitchFamily="50" charset="-128"/>
                <a:ea typeface="メイリオ" panose="020B0604030504040204" pitchFamily="50" charset="-128"/>
              </a:rPr>
              <a:t>ビッグデータからの学習</a:t>
            </a:r>
            <a:r>
              <a:rPr kumimoji="1" lang="ja-JP" altLang="en-US" sz="2800" dirty="0">
                <a:latin typeface="メイリオ" panose="020B0604030504040204" pitchFamily="50" charset="-128"/>
                <a:ea typeface="メイリオ" panose="020B0604030504040204" pitchFamily="50" charset="-128"/>
              </a:rPr>
              <a:t>）</a:t>
            </a:r>
          </a:p>
        </p:txBody>
      </p:sp>
      <p:sp>
        <p:nvSpPr>
          <p:cNvPr id="2" name="テキスト ボックス 1">
            <a:extLst>
              <a:ext uri="{FF2B5EF4-FFF2-40B4-BE49-F238E27FC236}">
                <a16:creationId xmlns:a16="http://schemas.microsoft.com/office/drawing/2014/main" id="{AF66E8E6-A10A-4CD7-9E9C-25D7129846C6}"/>
              </a:ext>
            </a:extLst>
          </p:cNvPr>
          <p:cNvSpPr txBox="1"/>
          <p:nvPr/>
        </p:nvSpPr>
        <p:spPr>
          <a:xfrm>
            <a:off x="1046840" y="2925129"/>
            <a:ext cx="4491283" cy="954107"/>
          </a:xfrm>
          <a:prstGeom prst="rect">
            <a:avLst/>
          </a:prstGeom>
          <a:noFill/>
        </p:spPr>
        <p:txBody>
          <a:bodyPr wrap="square" rtlCol="0">
            <a:spAutoFit/>
          </a:bodyPr>
          <a:lstStyle/>
          <a:p>
            <a:pPr algn="l"/>
            <a:r>
              <a:rPr kumimoji="1" lang="en-US" altLang="ja-JP" sz="2800" dirty="0">
                <a:latin typeface="メイリオ" panose="020B0604030504040204" pitchFamily="50" charset="-128"/>
                <a:ea typeface="メイリオ" panose="020B0604030504040204" pitchFamily="50" charset="-128"/>
              </a:rPr>
              <a:t>AI</a:t>
            </a:r>
            <a:r>
              <a:rPr kumimoji="1" lang="ja-JP" altLang="en-US" sz="2800" dirty="0">
                <a:latin typeface="メイリオ" panose="020B0604030504040204" pitchFamily="50" charset="-128"/>
                <a:ea typeface="メイリオ" panose="020B0604030504040204" pitchFamily="50" charset="-128"/>
              </a:rPr>
              <a:t>に「どういうのが人か」学習させる必要がある</a:t>
            </a:r>
          </a:p>
        </p:txBody>
      </p:sp>
      <p:sp>
        <p:nvSpPr>
          <p:cNvPr id="3" name="テキスト ボックス 2">
            <a:extLst>
              <a:ext uri="{FF2B5EF4-FFF2-40B4-BE49-F238E27FC236}">
                <a16:creationId xmlns:a16="http://schemas.microsoft.com/office/drawing/2014/main" id="{D960E011-316C-E294-445D-3960121AE39A}"/>
              </a:ext>
            </a:extLst>
          </p:cNvPr>
          <p:cNvSpPr txBox="1"/>
          <p:nvPr/>
        </p:nvSpPr>
        <p:spPr>
          <a:xfrm>
            <a:off x="249766" y="251536"/>
            <a:ext cx="5142755"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AI</a:t>
            </a:r>
            <a:r>
              <a:rPr kumimoji="1" lang="ja-JP" altLang="en-US" sz="3200" dirty="0">
                <a:latin typeface="メイリオ" panose="020B0604030504040204" pitchFamily="50" charset="-128"/>
                <a:ea typeface="メイリオ" panose="020B0604030504040204" pitchFamily="50" charset="-128"/>
              </a:rPr>
              <a:t>は学習で成り立っている</a:t>
            </a:r>
            <a:endParaRPr kumimoji="1" lang="en-US" altLang="ja-JP" sz="3200" dirty="0">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A8B1B101-3382-5575-ED06-1B4D9B6EA5AF}"/>
              </a:ext>
            </a:extLst>
          </p:cNvPr>
          <p:cNvSpPr txBox="1"/>
          <p:nvPr/>
        </p:nvSpPr>
        <p:spPr>
          <a:xfrm>
            <a:off x="1074034" y="1403666"/>
            <a:ext cx="4116875" cy="954107"/>
          </a:xfrm>
          <a:prstGeom prst="rect">
            <a:avLst/>
          </a:prstGeom>
          <a:noFill/>
        </p:spPr>
        <p:txBody>
          <a:bodyPr wrap="square" rtlCol="0">
            <a:spAutoFit/>
          </a:bodyPr>
          <a:lstStyle/>
          <a:p>
            <a:pPr algn="l"/>
            <a:r>
              <a:rPr lang="ja-JP" altLang="en-US" sz="2800" dirty="0">
                <a:latin typeface="メイリオ" panose="020B0604030504040204" pitchFamily="50" charset="-128"/>
                <a:ea typeface="メイリオ" panose="020B0604030504040204" pitchFamily="50" charset="-128"/>
              </a:rPr>
              <a:t>前方に人がいることをどうやって認識するか</a:t>
            </a:r>
            <a:endParaRPr kumimoji="1" lang="ja-JP" altLang="en-US" sz="2800" dirty="0">
              <a:latin typeface="メイリオ" panose="020B0604030504040204" pitchFamily="50" charset="-128"/>
              <a:ea typeface="メイリオ" panose="020B0604030504040204" pitchFamily="50" charset="-128"/>
            </a:endParaRPr>
          </a:p>
        </p:txBody>
      </p:sp>
      <p:sp>
        <p:nvSpPr>
          <p:cNvPr id="5" name="矢印: 下 4">
            <a:extLst>
              <a:ext uri="{FF2B5EF4-FFF2-40B4-BE49-F238E27FC236}">
                <a16:creationId xmlns:a16="http://schemas.microsoft.com/office/drawing/2014/main" id="{969D6EA4-D0B8-7F0B-45AA-846A64F35C9F}"/>
              </a:ext>
            </a:extLst>
          </p:cNvPr>
          <p:cNvSpPr/>
          <p:nvPr/>
        </p:nvSpPr>
        <p:spPr>
          <a:xfrm>
            <a:off x="2560028" y="2293887"/>
            <a:ext cx="1464906" cy="41923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0E09B120-0CE1-214B-EED5-41F11856977A}"/>
              </a:ext>
            </a:extLst>
          </p:cNvPr>
          <p:cNvSpPr txBox="1"/>
          <p:nvPr/>
        </p:nvSpPr>
        <p:spPr>
          <a:xfrm>
            <a:off x="362309" y="864163"/>
            <a:ext cx="2339102" cy="523220"/>
          </a:xfrm>
          <a:prstGeom prst="rect">
            <a:avLst/>
          </a:prstGeom>
          <a:noFill/>
        </p:spPr>
        <p:txBody>
          <a:bodyPr wrap="none" rtlCol="0">
            <a:spAutoFit/>
          </a:bodyPr>
          <a:lstStyle/>
          <a:p>
            <a:r>
              <a:rPr lang="ja-JP" altLang="en-US" sz="2800" b="1" dirty="0">
                <a:latin typeface="メイリオ" panose="020B0604030504040204" pitchFamily="50" charset="-128"/>
                <a:ea typeface="メイリオ" panose="020B0604030504040204" pitchFamily="50" charset="-128"/>
              </a:rPr>
              <a:t>例：自動運転</a:t>
            </a:r>
            <a:endParaRPr kumimoji="1" lang="ja-JP" altLang="en-US" sz="28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08105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正方形/長方形 18">
            <a:extLst>
              <a:ext uri="{FF2B5EF4-FFF2-40B4-BE49-F238E27FC236}">
                <a16:creationId xmlns:a16="http://schemas.microsoft.com/office/drawing/2014/main" id="{C4A8325E-0E6E-4BCC-A8BD-25B8D2A361BA}"/>
              </a:ext>
            </a:extLst>
          </p:cNvPr>
          <p:cNvSpPr/>
          <p:nvPr/>
        </p:nvSpPr>
        <p:spPr>
          <a:xfrm>
            <a:off x="4516883" y="4263265"/>
            <a:ext cx="2659772" cy="1660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4BF11792-1B89-6E7A-19BF-2BA4BDF17B81}"/>
              </a:ext>
            </a:extLst>
          </p:cNvPr>
          <p:cNvPicPr>
            <a:picLocks noChangeAspect="1"/>
          </p:cNvPicPr>
          <p:nvPr/>
        </p:nvPicPr>
        <p:blipFill>
          <a:blip r:embed="rId2"/>
          <a:stretch>
            <a:fillRect/>
          </a:stretch>
        </p:blipFill>
        <p:spPr>
          <a:xfrm>
            <a:off x="10295338" y="2399029"/>
            <a:ext cx="1188540" cy="1501384"/>
          </a:xfrm>
          <a:prstGeom prst="rect">
            <a:avLst/>
          </a:prstGeom>
        </p:spPr>
      </p:pic>
      <p:sp>
        <p:nvSpPr>
          <p:cNvPr id="7" name="テキスト ボックス 6">
            <a:extLst>
              <a:ext uri="{FF2B5EF4-FFF2-40B4-BE49-F238E27FC236}">
                <a16:creationId xmlns:a16="http://schemas.microsoft.com/office/drawing/2014/main" id="{E58C9979-516B-3677-B3C0-39CC98E5AE6C}"/>
              </a:ext>
            </a:extLst>
          </p:cNvPr>
          <p:cNvSpPr txBox="1"/>
          <p:nvPr/>
        </p:nvSpPr>
        <p:spPr>
          <a:xfrm>
            <a:off x="7773732" y="1479504"/>
            <a:ext cx="2140330" cy="1938992"/>
          </a:xfrm>
          <a:prstGeom prst="rect">
            <a:avLst/>
          </a:prstGeom>
          <a:noFill/>
        </p:spPr>
        <p:txBody>
          <a:bodyPr wrap="none" rtlCol="0">
            <a:spAutoFit/>
          </a:bodyPr>
          <a:lstStyle/>
          <a:p>
            <a:pPr algn="l"/>
            <a:r>
              <a:rPr kumimoji="1" lang="en-US" altLang="ja-JP" sz="6000" dirty="0">
                <a:latin typeface="メイリオ" panose="020B0604030504040204" pitchFamily="50" charset="-128"/>
                <a:ea typeface="メイリオ" panose="020B0604030504040204" pitchFamily="50" charset="-128"/>
              </a:rPr>
              <a:t>0 1 2</a:t>
            </a:r>
          </a:p>
          <a:p>
            <a:pPr algn="l"/>
            <a:r>
              <a:rPr kumimoji="1" lang="en-US" altLang="ja-JP" sz="6000" dirty="0">
                <a:latin typeface="メイリオ" panose="020B0604030504040204" pitchFamily="50" charset="-128"/>
                <a:ea typeface="メイリオ" panose="020B0604030504040204" pitchFamily="50" charset="-128"/>
              </a:rPr>
              <a:t>5 6 7</a:t>
            </a:r>
            <a:endParaRPr kumimoji="1" lang="ja-JP" altLang="en-US" sz="60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B1B3AB6E-376F-4505-0FB4-ABF2D425AE56}"/>
              </a:ext>
            </a:extLst>
          </p:cNvPr>
          <p:cNvSpPr txBox="1"/>
          <p:nvPr/>
        </p:nvSpPr>
        <p:spPr>
          <a:xfrm>
            <a:off x="10445195" y="1793855"/>
            <a:ext cx="1005403"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教師</a:t>
            </a:r>
          </a:p>
        </p:txBody>
      </p:sp>
      <p:sp>
        <p:nvSpPr>
          <p:cNvPr id="11" name="テキスト ボックス 10">
            <a:extLst>
              <a:ext uri="{FF2B5EF4-FFF2-40B4-BE49-F238E27FC236}">
                <a16:creationId xmlns:a16="http://schemas.microsoft.com/office/drawing/2014/main" id="{687B7165-C850-9308-FE7C-694C2D948180}"/>
              </a:ext>
            </a:extLst>
          </p:cNvPr>
          <p:cNvSpPr txBox="1"/>
          <p:nvPr/>
        </p:nvSpPr>
        <p:spPr>
          <a:xfrm>
            <a:off x="536051" y="900894"/>
            <a:ext cx="1620957" cy="523220"/>
          </a:xfrm>
          <a:prstGeom prst="rect">
            <a:avLst/>
          </a:prstGeom>
          <a:noFill/>
        </p:spPr>
        <p:txBody>
          <a:bodyPr wrap="none" rtlCol="0">
            <a:spAutoFit/>
          </a:bodyPr>
          <a:lstStyle/>
          <a:p>
            <a:pPr algn="l"/>
            <a:r>
              <a:rPr kumimoji="1" lang="ja-JP" altLang="en-US" sz="2800" dirty="0">
                <a:latin typeface="メイリオ" panose="020B0604030504040204" pitchFamily="50" charset="-128"/>
                <a:ea typeface="メイリオ" panose="020B0604030504040204" pitchFamily="50" charset="-128"/>
              </a:rPr>
              <a:t>生データ</a:t>
            </a:r>
          </a:p>
        </p:txBody>
      </p:sp>
      <p:sp>
        <p:nvSpPr>
          <p:cNvPr id="12" name="テキスト ボックス 11">
            <a:extLst>
              <a:ext uri="{FF2B5EF4-FFF2-40B4-BE49-F238E27FC236}">
                <a16:creationId xmlns:a16="http://schemas.microsoft.com/office/drawing/2014/main" id="{38070538-13FD-4341-51FD-69D6606F3B73}"/>
              </a:ext>
            </a:extLst>
          </p:cNvPr>
          <p:cNvSpPr txBox="1"/>
          <p:nvPr/>
        </p:nvSpPr>
        <p:spPr>
          <a:xfrm>
            <a:off x="3398706" y="6387355"/>
            <a:ext cx="2339102" cy="523220"/>
          </a:xfrm>
          <a:prstGeom prst="rect">
            <a:avLst/>
          </a:prstGeom>
          <a:noFill/>
        </p:spPr>
        <p:txBody>
          <a:bodyPr wrap="none" rtlCol="0">
            <a:spAutoFit/>
          </a:bodyPr>
          <a:lstStyle/>
          <a:p>
            <a:pPr algn="l"/>
            <a:r>
              <a:rPr kumimoji="1" lang="ja-JP" altLang="en-US" sz="2800" dirty="0">
                <a:latin typeface="メイリオ" panose="020B0604030504040204" pitchFamily="50" charset="-128"/>
                <a:ea typeface="メイリオ" panose="020B0604030504040204" pitchFamily="50" charset="-128"/>
              </a:rPr>
              <a:t>データセット</a:t>
            </a:r>
          </a:p>
        </p:txBody>
      </p:sp>
      <p:graphicFrame>
        <p:nvGraphicFramePr>
          <p:cNvPr id="13" name="表 12">
            <a:extLst>
              <a:ext uri="{FF2B5EF4-FFF2-40B4-BE49-F238E27FC236}">
                <a16:creationId xmlns:a16="http://schemas.microsoft.com/office/drawing/2014/main" id="{173F44F2-BA99-4A9B-EB4D-E19F0C1FD6BD}"/>
              </a:ext>
            </a:extLst>
          </p:cNvPr>
          <p:cNvGraphicFramePr>
            <a:graphicFrameLocks noGrp="1"/>
          </p:cNvGraphicFramePr>
          <p:nvPr>
            <p:extLst>
              <p:ext uri="{D42A27DB-BD31-4B8C-83A1-F6EECF244321}">
                <p14:modId xmlns:p14="http://schemas.microsoft.com/office/powerpoint/2010/main" val="47543323"/>
              </p:ext>
            </p:extLst>
          </p:nvPr>
        </p:nvGraphicFramePr>
        <p:xfrm>
          <a:off x="657382" y="4419413"/>
          <a:ext cx="3273158" cy="1516947"/>
        </p:xfrm>
        <a:graphic>
          <a:graphicData uri="http://schemas.openxmlformats.org/drawingml/2006/table">
            <a:tbl>
              <a:tblPr firstRow="1" bandRow="1">
                <a:tableStyleId>{5940675A-B579-460E-94D1-54222C63F5DA}</a:tableStyleId>
              </a:tblPr>
              <a:tblGrid>
                <a:gridCol w="467594">
                  <a:extLst>
                    <a:ext uri="{9D8B030D-6E8A-4147-A177-3AD203B41FA5}">
                      <a16:colId xmlns:a16="http://schemas.microsoft.com/office/drawing/2014/main" val="2358362963"/>
                    </a:ext>
                  </a:extLst>
                </a:gridCol>
                <a:gridCol w="467594">
                  <a:extLst>
                    <a:ext uri="{9D8B030D-6E8A-4147-A177-3AD203B41FA5}">
                      <a16:colId xmlns:a16="http://schemas.microsoft.com/office/drawing/2014/main" val="3601153560"/>
                    </a:ext>
                  </a:extLst>
                </a:gridCol>
                <a:gridCol w="467594">
                  <a:extLst>
                    <a:ext uri="{9D8B030D-6E8A-4147-A177-3AD203B41FA5}">
                      <a16:colId xmlns:a16="http://schemas.microsoft.com/office/drawing/2014/main" val="1413766551"/>
                    </a:ext>
                  </a:extLst>
                </a:gridCol>
                <a:gridCol w="467594">
                  <a:extLst>
                    <a:ext uri="{9D8B030D-6E8A-4147-A177-3AD203B41FA5}">
                      <a16:colId xmlns:a16="http://schemas.microsoft.com/office/drawing/2014/main" val="1201650989"/>
                    </a:ext>
                  </a:extLst>
                </a:gridCol>
                <a:gridCol w="467594">
                  <a:extLst>
                    <a:ext uri="{9D8B030D-6E8A-4147-A177-3AD203B41FA5}">
                      <a16:colId xmlns:a16="http://schemas.microsoft.com/office/drawing/2014/main" val="4211347385"/>
                    </a:ext>
                  </a:extLst>
                </a:gridCol>
                <a:gridCol w="467594">
                  <a:extLst>
                    <a:ext uri="{9D8B030D-6E8A-4147-A177-3AD203B41FA5}">
                      <a16:colId xmlns:a16="http://schemas.microsoft.com/office/drawing/2014/main" val="1436684637"/>
                    </a:ext>
                  </a:extLst>
                </a:gridCol>
                <a:gridCol w="467594">
                  <a:extLst>
                    <a:ext uri="{9D8B030D-6E8A-4147-A177-3AD203B41FA5}">
                      <a16:colId xmlns:a16="http://schemas.microsoft.com/office/drawing/2014/main" val="373586154"/>
                    </a:ext>
                  </a:extLst>
                </a:gridCol>
              </a:tblGrid>
              <a:tr h="505649">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948907442"/>
                  </a:ext>
                </a:extLst>
              </a:tr>
              <a:tr h="505649">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791928764"/>
                  </a:ext>
                </a:extLst>
              </a:tr>
              <a:tr h="505649">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1928578243"/>
                  </a:ext>
                </a:extLst>
              </a:tr>
            </a:tbl>
          </a:graphicData>
        </a:graphic>
      </p:graphicFrame>
      <p:sp>
        <p:nvSpPr>
          <p:cNvPr id="20" name="テキスト ボックス 19">
            <a:extLst>
              <a:ext uri="{FF2B5EF4-FFF2-40B4-BE49-F238E27FC236}">
                <a16:creationId xmlns:a16="http://schemas.microsoft.com/office/drawing/2014/main" id="{CE9B851F-F74A-7C27-1E80-4628D0B969C0}"/>
              </a:ext>
            </a:extLst>
          </p:cNvPr>
          <p:cNvSpPr txBox="1"/>
          <p:nvPr/>
        </p:nvSpPr>
        <p:spPr>
          <a:xfrm>
            <a:off x="657382" y="3230435"/>
            <a:ext cx="3035807" cy="707886"/>
          </a:xfrm>
          <a:prstGeom prst="rect">
            <a:avLst/>
          </a:prstGeom>
          <a:noFill/>
        </p:spPr>
        <p:txBody>
          <a:bodyPr wrap="square" rtlCol="0">
            <a:spAutoFit/>
          </a:bodyPr>
          <a:lstStyle/>
          <a:p>
            <a:pPr algn="l"/>
            <a:r>
              <a:rPr lang="ja-JP" altLang="en-US" sz="2000" dirty="0">
                <a:latin typeface="メイリオ" panose="020B0604030504040204" pitchFamily="50" charset="-128"/>
                <a:ea typeface="メイリオ" panose="020B0604030504040204" pitchFamily="50" charset="-128"/>
              </a:rPr>
              <a:t>手書き数字を何かの方法で各</a:t>
            </a:r>
            <a:r>
              <a:rPr lang="en-US" altLang="ja-JP" sz="2000" dirty="0">
                <a:latin typeface="メイリオ" panose="020B0604030504040204" pitchFamily="50" charset="-128"/>
                <a:ea typeface="メイリオ" panose="020B0604030504040204" pitchFamily="50" charset="-128"/>
              </a:rPr>
              <a:t>1</a:t>
            </a:r>
            <a:r>
              <a:rPr lang="ja-JP" altLang="en-US" sz="2000" dirty="0">
                <a:latin typeface="メイリオ" panose="020B0604030504040204" pitchFamily="50" charset="-128"/>
                <a:ea typeface="メイリオ" panose="020B0604030504040204" pitchFamily="50" charset="-128"/>
              </a:rPr>
              <a:t>行のデータに変換</a:t>
            </a:r>
            <a:endParaRPr kumimoji="1" lang="ja-JP" altLang="en-US" sz="2000" dirty="0">
              <a:latin typeface="メイリオ" panose="020B0604030504040204" pitchFamily="50" charset="-128"/>
              <a:ea typeface="メイリオ" panose="020B0604030504040204" pitchFamily="50" charset="-128"/>
            </a:endParaRPr>
          </a:p>
        </p:txBody>
      </p:sp>
      <p:pic>
        <p:nvPicPr>
          <p:cNvPr id="22" name="図 21">
            <a:extLst>
              <a:ext uri="{FF2B5EF4-FFF2-40B4-BE49-F238E27FC236}">
                <a16:creationId xmlns:a16="http://schemas.microsoft.com/office/drawing/2014/main" id="{D8F26BA5-1C41-BD5C-F0F6-7A7A8CA2D587}"/>
              </a:ext>
            </a:extLst>
          </p:cNvPr>
          <p:cNvPicPr>
            <a:picLocks noChangeAspect="1"/>
          </p:cNvPicPr>
          <p:nvPr/>
        </p:nvPicPr>
        <p:blipFill>
          <a:blip r:embed="rId3"/>
          <a:stretch>
            <a:fillRect/>
          </a:stretch>
        </p:blipFill>
        <p:spPr>
          <a:xfrm>
            <a:off x="748660" y="1304516"/>
            <a:ext cx="2661650" cy="1984264"/>
          </a:xfrm>
          <a:prstGeom prst="rect">
            <a:avLst/>
          </a:prstGeom>
        </p:spPr>
      </p:pic>
      <p:pic>
        <p:nvPicPr>
          <p:cNvPr id="24" name="図 23">
            <a:extLst>
              <a:ext uri="{FF2B5EF4-FFF2-40B4-BE49-F238E27FC236}">
                <a16:creationId xmlns:a16="http://schemas.microsoft.com/office/drawing/2014/main" id="{F63BA154-218D-4AC7-3653-9EF19198EF57}"/>
              </a:ext>
            </a:extLst>
          </p:cNvPr>
          <p:cNvPicPr>
            <a:picLocks noChangeAspect="1"/>
          </p:cNvPicPr>
          <p:nvPr/>
        </p:nvPicPr>
        <p:blipFill>
          <a:blip r:embed="rId4"/>
          <a:stretch>
            <a:fillRect/>
          </a:stretch>
        </p:blipFill>
        <p:spPr>
          <a:xfrm>
            <a:off x="197927" y="4403290"/>
            <a:ext cx="425218" cy="461665"/>
          </a:xfrm>
          <a:prstGeom prst="rect">
            <a:avLst/>
          </a:prstGeom>
        </p:spPr>
      </p:pic>
      <p:pic>
        <p:nvPicPr>
          <p:cNvPr id="26" name="図 25">
            <a:extLst>
              <a:ext uri="{FF2B5EF4-FFF2-40B4-BE49-F238E27FC236}">
                <a16:creationId xmlns:a16="http://schemas.microsoft.com/office/drawing/2014/main" id="{1E37AA97-F1B4-E5B1-0C0B-05FB91AB30FF}"/>
              </a:ext>
            </a:extLst>
          </p:cNvPr>
          <p:cNvPicPr>
            <a:picLocks noChangeAspect="1"/>
          </p:cNvPicPr>
          <p:nvPr/>
        </p:nvPicPr>
        <p:blipFill>
          <a:blip r:embed="rId5"/>
          <a:stretch>
            <a:fillRect/>
          </a:stretch>
        </p:blipFill>
        <p:spPr>
          <a:xfrm>
            <a:off x="76596" y="5372787"/>
            <a:ext cx="455965" cy="461665"/>
          </a:xfrm>
          <a:prstGeom prst="rect">
            <a:avLst/>
          </a:prstGeom>
        </p:spPr>
      </p:pic>
      <p:pic>
        <p:nvPicPr>
          <p:cNvPr id="28" name="図 27">
            <a:extLst>
              <a:ext uri="{FF2B5EF4-FFF2-40B4-BE49-F238E27FC236}">
                <a16:creationId xmlns:a16="http://schemas.microsoft.com/office/drawing/2014/main" id="{7FA829A5-D9F2-54A8-AD52-A4DCDAABAB37}"/>
              </a:ext>
            </a:extLst>
          </p:cNvPr>
          <p:cNvPicPr>
            <a:picLocks noChangeAspect="1"/>
          </p:cNvPicPr>
          <p:nvPr/>
        </p:nvPicPr>
        <p:blipFill>
          <a:blip r:embed="rId6"/>
          <a:stretch>
            <a:fillRect/>
          </a:stretch>
        </p:blipFill>
        <p:spPr>
          <a:xfrm>
            <a:off x="124607" y="4864955"/>
            <a:ext cx="442191" cy="527989"/>
          </a:xfrm>
          <a:prstGeom prst="rect">
            <a:avLst/>
          </a:prstGeom>
        </p:spPr>
      </p:pic>
      <p:graphicFrame>
        <p:nvGraphicFramePr>
          <p:cNvPr id="29" name="表 28">
            <a:extLst>
              <a:ext uri="{FF2B5EF4-FFF2-40B4-BE49-F238E27FC236}">
                <a16:creationId xmlns:a16="http://schemas.microsoft.com/office/drawing/2014/main" id="{3400C696-CD02-93B3-7A39-A8ED57458D8F}"/>
              </a:ext>
            </a:extLst>
          </p:cNvPr>
          <p:cNvGraphicFramePr>
            <a:graphicFrameLocks noGrp="1"/>
          </p:cNvGraphicFramePr>
          <p:nvPr>
            <p:extLst>
              <p:ext uri="{D42A27DB-BD31-4B8C-83A1-F6EECF244321}">
                <p14:modId xmlns:p14="http://schemas.microsoft.com/office/powerpoint/2010/main" val="2492199402"/>
              </p:ext>
            </p:extLst>
          </p:nvPr>
        </p:nvGraphicFramePr>
        <p:xfrm>
          <a:off x="8230065" y="4370475"/>
          <a:ext cx="559919" cy="1516947"/>
        </p:xfrm>
        <a:graphic>
          <a:graphicData uri="http://schemas.openxmlformats.org/drawingml/2006/table">
            <a:tbl>
              <a:tblPr firstRow="1" bandRow="1">
                <a:tableStyleId>{5940675A-B579-460E-94D1-54222C63F5DA}</a:tableStyleId>
              </a:tblPr>
              <a:tblGrid>
                <a:gridCol w="559919">
                  <a:extLst>
                    <a:ext uri="{9D8B030D-6E8A-4147-A177-3AD203B41FA5}">
                      <a16:colId xmlns:a16="http://schemas.microsoft.com/office/drawing/2014/main" val="3285066785"/>
                    </a:ext>
                  </a:extLst>
                </a:gridCol>
              </a:tblGrid>
              <a:tr h="505649">
                <a:tc>
                  <a:txBody>
                    <a:bodyPr/>
                    <a:lstStyle/>
                    <a:p>
                      <a:pPr algn="ctr"/>
                      <a:r>
                        <a:rPr kumimoji="1" lang="en-US" altLang="ja-JP" sz="2400" dirty="0"/>
                        <a:t>1</a:t>
                      </a:r>
                      <a:endParaRPr kumimoji="1" lang="ja-JP" altLang="en-US" sz="2400" dirty="0"/>
                    </a:p>
                  </a:txBody>
                  <a:tcPr/>
                </a:tc>
                <a:extLst>
                  <a:ext uri="{0D108BD9-81ED-4DB2-BD59-A6C34878D82A}">
                    <a16:rowId xmlns:a16="http://schemas.microsoft.com/office/drawing/2014/main" val="585417918"/>
                  </a:ext>
                </a:extLst>
              </a:tr>
              <a:tr h="505649">
                <a:tc>
                  <a:txBody>
                    <a:bodyPr/>
                    <a:lstStyle/>
                    <a:p>
                      <a:pPr algn="ctr"/>
                      <a:r>
                        <a:rPr kumimoji="1" lang="en-US" altLang="ja-JP" sz="2400" dirty="0"/>
                        <a:t>6</a:t>
                      </a:r>
                      <a:endParaRPr kumimoji="1" lang="ja-JP" altLang="en-US" sz="2400" dirty="0"/>
                    </a:p>
                  </a:txBody>
                  <a:tcPr/>
                </a:tc>
                <a:extLst>
                  <a:ext uri="{0D108BD9-81ED-4DB2-BD59-A6C34878D82A}">
                    <a16:rowId xmlns:a16="http://schemas.microsoft.com/office/drawing/2014/main" val="2747493821"/>
                  </a:ext>
                </a:extLst>
              </a:tr>
              <a:tr h="505649">
                <a:tc>
                  <a:txBody>
                    <a:bodyPr/>
                    <a:lstStyle/>
                    <a:p>
                      <a:pPr algn="ctr"/>
                      <a:r>
                        <a:rPr kumimoji="1" lang="en-US" altLang="ja-JP" sz="2400" dirty="0"/>
                        <a:t>2</a:t>
                      </a:r>
                      <a:endParaRPr kumimoji="1" lang="ja-JP" altLang="en-US" sz="2400" dirty="0"/>
                    </a:p>
                  </a:txBody>
                  <a:tcPr/>
                </a:tc>
                <a:extLst>
                  <a:ext uri="{0D108BD9-81ED-4DB2-BD59-A6C34878D82A}">
                    <a16:rowId xmlns:a16="http://schemas.microsoft.com/office/drawing/2014/main" val="531032650"/>
                  </a:ext>
                </a:extLst>
              </a:tr>
            </a:tbl>
          </a:graphicData>
        </a:graphic>
      </p:graphicFrame>
      <p:sp>
        <p:nvSpPr>
          <p:cNvPr id="30" name="矢印: 下 29">
            <a:extLst>
              <a:ext uri="{FF2B5EF4-FFF2-40B4-BE49-F238E27FC236}">
                <a16:creationId xmlns:a16="http://schemas.microsoft.com/office/drawing/2014/main" id="{99D48DD8-651F-9A8D-F9E1-91F97C7C3179}"/>
              </a:ext>
            </a:extLst>
          </p:cNvPr>
          <p:cNvSpPr/>
          <p:nvPr/>
        </p:nvSpPr>
        <p:spPr>
          <a:xfrm>
            <a:off x="2134249" y="3897253"/>
            <a:ext cx="978408" cy="36601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923A2D2E-9887-76F9-F537-BAE2AC82A9AE}"/>
              </a:ext>
            </a:extLst>
          </p:cNvPr>
          <p:cNvSpPr txBox="1"/>
          <p:nvPr/>
        </p:nvSpPr>
        <p:spPr>
          <a:xfrm>
            <a:off x="482770" y="165273"/>
            <a:ext cx="10887917"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AI</a:t>
            </a:r>
            <a:r>
              <a:rPr kumimoji="1" lang="ja-JP" altLang="en-US" sz="3200" dirty="0">
                <a:latin typeface="メイリオ" panose="020B0604030504040204" pitchFamily="50" charset="-128"/>
                <a:ea typeface="メイリオ" panose="020B0604030504040204" pitchFamily="50" charset="-128"/>
              </a:rPr>
              <a:t>の学習には「データセット」と呼ばれる入力形式が必要</a:t>
            </a:r>
          </a:p>
        </p:txBody>
      </p:sp>
      <p:sp>
        <p:nvSpPr>
          <p:cNvPr id="2" name="テキスト ボックス 1">
            <a:extLst>
              <a:ext uri="{FF2B5EF4-FFF2-40B4-BE49-F238E27FC236}">
                <a16:creationId xmlns:a16="http://schemas.microsoft.com/office/drawing/2014/main" id="{964091B3-CF75-71B0-48EF-3074D315ED93}"/>
              </a:ext>
            </a:extLst>
          </p:cNvPr>
          <p:cNvSpPr txBox="1"/>
          <p:nvPr/>
        </p:nvSpPr>
        <p:spPr>
          <a:xfrm>
            <a:off x="1104129" y="4748895"/>
            <a:ext cx="2460049"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入力可能なデータ形式に変換</a:t>
            </a:r>
          </a:p>
        </p:txBody>
      </p:sp>
      <p:sp>
        <p:nvSpPr>
          <p:cNvPr id="3" name="左中かっこ 2">
            <a:extLst>
              <a:ext uri="{FF2B5EF4-FFF2-40B4-BE49-F238E27FC236}">
                <a16:creationId xmlns:a16="http://schemas.microsoft.com/office/drawing/2014/main" id="{97777DED-E5FA-F8A1-79E2-87AFCEE08CBD}"/>
              </a:ext>
            </a:extLst>
          </p:cNvPr>
          <p:cNvSpPr/>
          <p:nvPr/>
        </p:nvSpPr>
        <p:spPr>
          <a:xfrm rot="16200000" flipV="1">
            <a:off x="4637933" y="2381025"/>
            <a:ext cx="472749" cy="758341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06CED4E-47BD-C3C9-888B-DFC7A0B5E7F1}"/>
              </a:ext>
            </a:extLst>
          </p:cNvPr>
          <p:cNvSpPr txBox="1"/>
          <p:nvPr/>
        </p:nvSpPr>
        <p:spPr>
          <a:xfrm>
            <a:off x="566798" y="4023842"/>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特徴量</a:t>
            </a:r>
          </a:p>
        </p:txBody>
      </p:sp>
      <p:sp>
        <p:nvSpPr>
          <p:cNvPr id="9" name="テキスト ボックス 8">
            <a:extLst>
              <a:ext uri="{FF2B5EF4-FFF2-40B4-BE49-F238E27FC236}">
                <a16:creationId xmlns:a16="http://schemas.microsoft.com/office/drawing/2014/main" id="{4DE5F1CD-2CC5-E1C4-7A6B-287ED65559CD}"/>
              </a:ext>
            </a:extLst>
          </p:cNvPr>
          <p:cNvSpPr txBox="1"/>
          <p:nvPr/>
        </p:nvSpPr>
        <p:spPr>
          <a:xfrm>
            <a:off x="7804242" y="3924059"/>
            <a:ext cx="172354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教師データ</a:t>
            </a:r>
          </a:p>
        </p:txBody>
      </p:sp>
      <p:pic>
        <p:nvPicPr>
          <p:cNvPr id="14" name="図 13">
            <a:extLst>
              <a:ext uri="{FF2B5EF4-FFF2-40B4-BE49-F238E27FC236}">
                <a16:creationId xmlns:a16="http://schemas.microsoft.com/office/drawing/2014/main" id="{22BFDCEA-A2A1-563C-C150-09368974C535}"/>
              </a:ext>
            </a:extLst>
          </p:cNvPr>
          <p:cNvPicPr>
            <a:picLocks noChangeAspect="1"/>
          </p:cNvPicPr>
          <p:nvPr/>
        </p:nvPicPr>
        <p:blipFill>
          <a:blip r:embed="rId7"/>
          <a:stretch>
            <a:fillRect/>
          </a:stretch>
        </p:blipFill>
        <p:spPr>
          <a:xfrm>
            <a:off x="4418269" y="1205020"/>
            <a:ext cx="2567375" cy="2258640"/>
          </a:xfrm>
          <a:prstGeom prst="rect">
            <a:avLst/>
          </a:prstGeom>
        </p:spPr>
      </p:pic>
      <p:sp>
        <p:nvSpPr>
          <p:cNvPr id="15" name="矢印: 右 14">
            <a:extLst>
              <a:ext uri="{FF2B5EF4-FFF2-40B4-BE49-F238E27FC236}">
                <a16:creationId xmlns:a16="http://schemas.microsoft.com/office/drawing/2014/main" id="{5956AC67-12A5-4941-5811-B7DCA6E002B7}"/>
              </a:ext>
            </a:extLst>
          </p:cNvPr>
          <p:cNvSpPr/>
          <p:nvPr/>
        </p:nvSpPr>
        <p:spPr>
          <a:xfrm>
            <a:off x="3693189" y="2022764"/>
            <a:ext cx="435466" cy="8512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矢印: 右 16">
            <a:extLst>
              <a:ext uri="{FF2B5EF4-FFF2-40B4-BE49-F238E27FC236}">
                <a16:creationId xmlns:a16="http://schemas.microsoft.com/office/drawing/2014/main" id="{E6DD8F03-33D8-87F7-7520-F16C4931830D}"/>
              </a:ext>
            </a:extLst>
          </p:cNvPr>
          <p:cNvSpPr/>
          <p:nvPr/>
        </p:nvSpPr>
        <p:spPr>
          <a:xfrm flipH="1">
            <a:off x="7121746" y="1973427"/>
            <a:ext cx="435466" cy="8512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E1375DE1-C52F-74DE-BAA4-20B4B0572E0D}"/>
              </a:ext>
            </a:extLst>
          </p:cNvPr>
          <p:cNvSpPr txBox="1"/>
          <p:nvPr/>
        </p:nvSpPr>
        <p:spPr>
          <a:xfrm>
            <a:off x="5479564" y="4853699"/>
            <a:ext cx="516488" cy="461665"/>
          </a:xfrm>
          <a:prstGeom prst="rect">
            <a:avLst/>
          </a:prstGeom>
          <a:noFill/>
        </p:spPr>
        <p:txBody>
          <a:bodyPr wrap="none" rtlCol="0">
            <a:spAutoFit/>
          </a:bodyPr>
          <a:lstStyle/>
          <a:p>
            <a:pPr algn="l"/>
            <a:r>
              <a:rPr kumimoji="1" lang="en-US" altLang="ja-JP" sz="2400" dirty="0">
                <a:solidFill>
                  <a:schemeClr val="bg1"/>
                </a:solidFill>
                <a:latin typeface="メイリオ" panose="020B0604030504040204" pitchFamily="50" charset="-128"/>
                <a:ea typeface="メイリオ" panose="020B0604030504040204" pitchFamily="50" charset="-128"/>
              </a:rPr>
              <a:t>AI</a:t>
            </a:r>
            <a:endParaRPr kumimoji="1" lang="ja-JP" altLang="en-US" sz="2400" dirty="0">
              <a:solidFill>
                <a:schemeClr val="bg1"/>
              </a:solidFill>
              <a:latin typeface="メイリオ" panose="020B0604030504040204" pitchFamily="50" charset="-128"/>
              <a:ea typeface="メイリオ" panose="020B0604030504040204" pitchFamily="50" charset="-128"/>
            </a:endParaRPr>
          </a:p>
        </p:txBody>
      </p:sp>
      <p:sp>
        <p:nvSpPr>
          <p:cNvPr id="23" name="矢印: 右 22">
            <a:extLst>
              <a:ext uri="{FF2B5EF4-FFF2-40B4-BE49-F238E27FC236}">
                <a16:creationId xmlns:a16="http://schemas.microsoft.com/office/drawing/2014/main" id="{3F4D5B55-777B-5923-2FAA-0404CD91BFA8}"/>
              </a:ext>
            </a:extLst>
          </p:cNvPr>
          <p:cNvSpPr/>
          <p:nvPr/>
        </p:nvSpPr>
        <p:spPr>
          <a:xfrm>
            <a:off x="4021124" y="4658931"/>
            <a:ext cx="435466" cy="8512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矢印: 右 26">
            <a:extLst>
              <a:ext uri="{FF2B5EF4-FFF2-40B4-BE49-F238E27FC236}">
                <a16:creationId xmlns:a16="http://schemas.microsoft.com/office/drawing/2014/main" id="{CBDD07C7-FEA9-A732-1AAD-A07075CE50CE}"/>
              </a:ext>
            </a:extLst>
          </p:cNvPr>
          <p:cNvSpPr/>
          <p:nvPr/>
        </p:nvSpPr>
        <p:spPr>
          <a:xfrm flipH="1">
            <a:off x="7219165" y="4691065"/>
            <a:ext cx="435466" cy="8512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01507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15C476B-C98B-01B2-4A94-1A3B99E9EA62}"/>
              </a:ext>
            </a:extLst>
          </p:cNvPr>
          <p:cNvSpPr txBox="1"/>
          <p:nvPr/>
        </p:nvSpPr>
        <p:spPr>
          <a:xfrm>
            <a:off x="879894" y="619916"/>
            <a:ext cx="5416868"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原データ→データセットへの変換の例</a:t>
            </a:r>
          </a:p>
        </p:txBody>
      </p:sp>
      <p:pic>
        <p:nvPicPr>
          <p:cNvPr id="5" name="Picture 2" descr="図2　MNISTに含まれる画像データの内容">
            <a:extLst>
              <a:ext uri="{FF2B5EF4-FFF2-40B4-BE49-F238E27FC236}">
                <a16:creationId xmlns:a16="http://schemas.microsoft.com/office/drawing/2014/main" id="{DBABA41F-2888-8BD2-26A3-61CF81404E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779" y="1069407"/>
            <a:ext cx="9483338" cy="5047065"/>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09ED4741-4DEB-5F42-A35C-5BFAABA35F48}"/>
              </a:ext>
            </a:extLst>
          </p:cNvPr>
          <p:cNvSpPr txBox="1"/>
          <p:nvPr/>
        </p:nvSpPr>
        <p:spPr>
          <a:xfrm>
            <a:off x="4279392" y="1279296"/>
            <a:ext cx="3651962" cy="461665"/>
          </a:xfrm>
          <a:prstGeom prst="rect">
            <a:avLst/>
          </a:prstGeom>
          <a:noFill/>
        </p:spPr>
        <p:txBody>
          <a:bodyPr wrap="none" rtlCol="0">
            <a:spAutoFit/>
          </a:bodyPr>
          <a:lstStyle/>
          <a:p>
            <a:pPr algn="l"/>
            <a:r>
              <a:rPr kumimoji="1" lang="en-US" altLang="ja-JP" sz="2400" b="1" dirty="0">
                <a:latin typeface="メイリオ" panose="020B0604030504040204" pitchFamily="50" charset="-128"/>
                <a:ea typeface="メイリオ" panose="020B0604030504040204" pitchFamily="50" charset="-128"/>
              </a:rPr>
              <a:t>PC</a:t>
            </a:r>
            <a:r>
              <a:rPr kumimoji="1" lang="ja-JP" altLang="en-US" sz="2400" b="1" dirty="0">
                <a:latin typeface="メイリオ" panose="020B0604030504040204" pitchFamily="50" charset="-128"/>
                <a:ea typeface="メイリオ" panose="020B0604030504040204" pitchFamily="50" charset="-128"/>
              </a:rPr>
              <a:t>の画面を顕微鏡で拡大</a:t>
            </a:r>
          </a:p>
        </p:txBody>
      </p:sp>
      <p:sp>
        <p:nvSpPr>
          <p:cNvPr id="7" name="テキスト ボックス 6">
            <a:extLst>
              <a:ext uri="{FF2B5EF4-FFF2-40B4-BE49-F238E27FC236}">
                <a16:creationId xmlns:a16="http://schemas.microsoft.com/office/drawing/2014/main" id="{A6626006-3A63-0BC0-20B0-19CE6328141C}"/>
              </a:ext>
            </a:extLst>
          </p:cNvPr>
          <p:cNvSpPr txBox="1"/>
          <p:nvPr/>
        </p:nvSpPr>
        <p:spPr>
          <a:xfrm>
            <a:off x="5029200" y="6351479"/>
            <a:ext cx="376096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これを</a:t>
            </a:r>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行のデータにする</a:t>
            </a:r>
          </a:p>
        </p:txBody>
      </p:sp>
      <p:sp>
        <p:nvSpPr>
          <p:cNvPr id="8" name="矢印: 下 7">
            <a:extLst>
              <a:ext uri="{FF2B5EF4-FFF2-40B4-BE49-F238E27FC236}">
                <a16:creationId xmlns:a16="http://schemas.microsoft.com/office/drawing/2014/main" id="{61D8103F-F898-0DAA-8BF0-40457E2E3066}"/>
              </a:ext>
            </a:extLst>
          </p:cNvPr>
          <p:cNvSpPr/>
          <p:nvPr/>
        </p:nvSpPr>
        <p:spPr>
          <a:xfrm>
            <a:off x="6647688" y="6035040"/>
            <a:ext cx="1389888" cy="29132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EC7D5EE4-BC7B-B7D1-2CF9-A14AEDD9FA9C}"/>
              </a:ext>
            </a:extLst>
          </p:cNvPr>
          <p:cNvSpPr txBox="1"/>
          <p:nvPr/>
        </p:nvSpPr>
        <p:spPr>
          <a:xfrm>
            <a:off x="4279392" y="1654182"/>
            <a:ext cx="6428106" cy="1200329"/>
          </a:xfrm>
          <a:prstGeom prst="rect">
            <a:avLst/>
          </a:prstGeom>
          <a:solidFill>
            <a:schemeClr val="bg1"/>
          </a:solid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ピクセル座標に白⇔黒のレベル値が入る</a:t>
            </a:r>
            <a:endParaRPr kumimoji="1" lang="en-US" altLang="ja-JP" sz="2400" dirty="0">
              <a:latin typeface="メイリオ" panose="020B0604030504040204" pitchFamily="50" charset="-128"/>
              <a:ea typeface="メイリオ" panose="020B0604030504040204" pitchFamily="50" charset="-128"/>
            </a:endParaRPr>
          </a:p>
          <a:p>
            <a:pPr algn="l"/>
            <a:r>
              <a:rPr lang="ja-JP" altLang="en-US" sz="2400" dirty="0">
                <a:latin typeface="メイリオ" panose="020B0604030504040204" pitchFamily="50" charset="-128"/>
                <a:ea typeface="メイリオ" panose="020B0604030504040204" pitchFamily="50" charset="-128"/>
              </a:rPr>
              <a:t>下例は</a:t>
            </a:r>
            <a:r>
              <a:rPr lang="en-US" altLang="ja-JP" sz="2400" dirty="0">
                <a:latin typeface="メイリオ" panose="020B0604030504040204" pitchFamily="50" charset="-128"/>
                <a:ea typeface="メイリオ" panose="020B0604030504040204" pitchFamily="50" charset="-128"/>
              </a:rPr>
              <a:t>28×28 pixel : </a:t>
            </a:r>
            <a:r>
              <a:rPr lang="ja-JP" altLang="en-US" sz="2400" dirty="0">
                <a:latin typeface="メイリオ" panose="020B0604030504040204" pitchFamily="50" charset="-128"/>
                <a:ea typeface="メイリオ" panose="020B0604030504040204" pitchFamily="50" charset="-128"/>
              </a:rPr>
              <a:t>左上から</a:t>
            </a:r>
            <a:r>
              <a:rPr lang="en-US" altLang="ja-JP" sz="2400" dirty="0">
                <a:latin typeface="メイリオ" panose="020B0604030504040204" pitchFamily="50" charset="-128"/>
                <a:ea typeface="メイリオ" panose="020B0604030504040204" pitchFamily="50" charset="-128"/>
              </a:rPr>
              <a:t>(0,0) (0,1)…</a:t>
            </a:r>
            <a:endParaRPr kumimoji="1" lang="en-US" altLang="ja-JP" sz="2400" dirty="0">
              <a:latin typeface="メイリオ" panose="020B0604030504040204" pitchFamily="50" charset="-128"/>
              <a:ea typeface="メイリオ" panose="020B0604030504040204" pitchFamily="50" charset="-128"/>
            </a:endParaRPr>
          </a:p>
          <a:p>
            <a:pPr algn="l"/>
            <a:endParaRPr kumimoji="1" lang="ja-JP" altLang="en-US" sz="240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AF6558C7-1F74-41C0-89E6-7933627CE155}"/>
              </a:ext>
            </a:extLst>
          </p:cNvPr>
          <p:cNvSpPr txBox="1"/>
          <p:nvPr/>
        </p:nvSpPr>
        <p:spPr>
          <a:xfrm>
            <a:off x="4138863" y="2502568"/>
            <a:ext cx="942887"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(0,0)</a:t>
            </a:r>
            <a:endParaRPr kumimoji="1" lang="ja-JP" altLang="en-US" sz="2400" dirty="0">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521DCFFA-3C06-4286-0C34-B431EA5269B3}"/>
              </a:ext>
            </a:extLst>
          </p:cNvPr>
          <p:cNvSpPr txBox="1"/>
          <p:nvPr/>
        </p:nvSpPr>
        <p:spPr>
          <a:xfrm>
            <a:off x="9302664" y="2510349"/>
            <a:ext cx="1133644"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(0,27)</a:t>
            </a:r>
            <a:endParaRPr kumimoji="1" lang="ja-JP" altLang="en-US" sz="240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F117B7BB-681E-BBE4-4F6C-E9482BDC7526}"/>
              </a:ext>
            </a:extLst>
          </p:cNvPr>
          <p:cNvSpPr txBox="1"/>
          <p:nvPr/>
        </p:nvSpPr>
        <p:spPr>
          <a:xfrm>
            <a:off x="3953325" y="5788593"/>
            <a:ext cx="1133644"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(27,0)</a:t>
            </a:r>
            <a:endParaRPr kumimoji="1" lang="ja-JP" altLang="en-US" sz="2400" dirty="0">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9D333ED7-ADD4-9B96-42DD-FC17EA4236E0}"/>
              </a:ext>
            </a:extLst>
          </p:cNvPr>
          <p:cNvSpPr txBox="1"/>
          <p:nvPr/>
        </p:nvSpPr>
        <p:spPr>
          <a:xfrm>
            <a:off x="9302664" y="5788592"/>
            <a:ext cx="1324402"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(27,27)</a:t>
            </a:r>
            <a:endParaRPr kumimoji="1" lang="ja-JP" altLang="en-US" sz="2400" dirty="0">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B77734A3-73D9-3B2A-1C8E-3A432D40DFC3}"/>
              </a:ext>
            </a:extLst>
          </p:cNvPr>
          <p:cNvSpPr txBox="1"/>
          <p:nvPr/>
        </p:nvSpPr>
        <p:spPr>
          <a:xfrm>
            <a:off x="879894" y="112143"/>
            <a:ext cx="4698722"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特徴量エンジニアリング</a:t>
            </a:r>
          </a:p>
        </p:txBody>
      </p:sp>
    </p:spTree>
    <p:extLst>
      <p:ext uri="{BB962C8B-B14F-4D97-AF65-F5344CB8AC3E}">
        <p14:creationId xmlns:p14="http://schemas.microsoft.com/office/powerpoint/2010/main" val="1698741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EBCA718-A060-E6F5-D2DB-2506A4B2B106}"/>
              </a:ext>
            </a:extLst>
          </p:cNvPr>
          <p:cNvSpPr txBox="1"/>
          <p:nvPr/>
        </p:nvSpPr>
        <p:spPr>
          <a:xfrm>
            <a:off x="612648" y="2844225"/>
            <a:ext cx="10131491"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コンピュータは画像データを</a:t>
            </a:r>
            <a:r>
              <a:rPr kumimoji="1" lang="en-US" altLang="ja-JP" sz="3200" dirty="0">
                <a:latin typeface="メイリオ" panose="020B0604030504040204" pitchFamily="50" charset="-128"/>
                <a:ea typeface="メイリオ" panose="020B0604030504040204" pitchFamily="50" charset="-128"/>
              </a:rPr>
              <a:t>pixel</a:t>
            </a:r>
            <a:r>
              <a:rPr kumimoji="1" lang="ja-JP" altLang="en-US" sz="3200" dirty="0">
                <a:latin typeface="メイリオ" panose="020B0604030504040204" pitchFamily="50" charset="-128"/>
                <a:ea typeface="メイリオ" panose="020B0604030504040204" pitchFamily="50" charset="-128"/>
              </a:rPr>
              <a:t>内の階調で表現する</a:t>
            </a:r>
          </a:p>
        </p:txBody>
      </p:sp>
      <p:sp>
        <p:nvSpPr>
          <p:cNvPr id="6" name="テキスト ボックス 5">
            <a:extLst>
              <a:ext uri="{FF2B5EF4-FFF2-40B4-BE49-F238E27FC236}">
                <a16:creationId xmlns:a16="http://schemas.microsoft.com/office/drawing/2014/main" id="{EC6985A7-C086-4979-B6C6-9095792D61F1}"/>
              </a:ext>
            </a:extLst>
          </p:cNvPr>
          <p:cNvSpPr txBox="1"/>
          <p:nvPr/>
        </p:nvSpPr>
        <p:spPr>
          <a:xfrm>
            <a:off x="612648" y="3529639"/>
            <a:ext cx="5296386" cy="830997"/>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PC</a:t>
            </a:r>
            <a:r>
              <a:rPr kumimoji="1" lang="ja-JP" altLang="en-US" sz="2400" dirty="0">
                <a:latin typeface="メイリオ" panose="020B0604030504040204" pitchFamily="50" charset="-128"/>
                <a:ea typeface="メイリオ" panose="020B0604030504040204" pitchFamily="50" charset="-128"/>
              </a:rPr>
              <a:t>液晶だと。</a:t>
            </a:r>
            <a:r>
              <a:rPr kumimoji="1" lang="en-US" altLang="ja-JP" sz="2400" dirty="0">
                <a:latin typeface="メイリオ" panose="020B0604030504040204" pitchFamily="50" charset="-128"/>
                <a:ea typeface="メイリオ" panose="020B0604030504040204" pitchFamily="50" charset="-128"/>
              </a:rPr>
              <a:t>1920×1080</a:t>
            </a:r>
            <a:r>
              <a:rPr kumimoji="1" lang="ja-JP" altLang="en-US" sz="2400" dirty="0">
                <a:latin typeface="メイリオ" panose="020B0604030504040204" pitchFamily="50" charset="-128"/>
                <a:ea typeface="メイリオ" panose="020B0604030504040204" pitchFamily="50" charset="-128"/>
              </a:rPr>
              <a:t> </a:t>
            </a:r>
            <a:r>
              <a:rPr kumimoji="1" lang="en-US" altLang="ja-JP" sz="2400" dirty="0">
                <a:latin typeface="メイリオ" panose="020B0604030504040204" pitchFamily="50" charset="-128"/>
                <a:ea typeface="メイリオ" panose="020B0604030504040204" pitchFamily="50" charset="-128"/>
              </a:rPr>
              <a:t>pixel</a:t>
            </a:r>
            <a:r>
              <a:rPr kumimoji="1" lang="ja-JP" altLang="en-US" sz="2400" dirty="0">
                <a:latin typeface="メイリオ" panose="020B0604030504040204" pitchFamily="50" charset="-128"/>
                <a:ea typeface="メイリオ" panose="020B0604030504040204" pitchFamily="50" charset="-128"/>
              </a:rPr>
              <a:t>とか</a:t>
            </a:r>
            <a:endParaRPr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つまり、</a:t>
            </a:r>
            <a:r>
              <a:rPr kumimoji="1" lang="en-US" altLang="ja-JP" sz="2400" dirty="0">
                <a:latin typeface="メイリオ" panose="020B0604030504040204" pitchFamily="50" charset="-128"/>
                <a:ea typeface="メイリオ" panose="020B0604030504040204" pitchFamily="50" charset="-128"/>
              </a:rPr>
              <a:t>pixel</a:t>
            </a:r>
            <a:r>
              <a:rPr kumimoji="1" lang="ja-JP" altLang="en-US" sz="2400" dirty="0">
                <a:latin typeface="メイリオ" panose="020B0604030504040204" pitchFamily="50" charset="-128"/>
                <a:ea typeface="メイリオ" panose="020B0604030504040204" pitchFamily="50" charset="-128"/>
              </a:rPr>
              <a:t>数 </a:t>
            </a:r>
            <a:r>
              <a:rPr kumimoji="1" lang="en-US" altLang="ja-JP" sz="2400" dirty="0">
                <a:latin typeface="メイリオ" panose="020B0604030504040204" pitchFamily="50" charset="-128"/>
                <a:ea typeface="メイリオ" panose="020B0604030504040204" pitchFamily="50" charset="-128"/>
              </a:rPr>
              <a:t>= </a:t>
            </a:r>
            <a:r>
              <a:rPr kumimoji="1" lang="ja-JP" altLang="en-US" sz="2400" dirty="0">
                <a:latin typeface="メイリオ" panose="020B0604030504040204" pitchFamily="50" charset="-128"/>
                <a:ea typeface="メイリオ" panose="020B0604030504040204" pitchFamily="50" charset="-128"/>
              </a:rPr>
              <a:t>解像度</a:t>
            </a:r>
          </a:p>
        </p:txBody>
      </p:sp>
    </p:spTree>
    <p:extLst>
      <p:ext uri="{BB962C8B-B14F-4D97-AF65-F5344CB8AC3E}">
        <p14:creationId xmlns:p14="http://schemas.microsoft.com/office/powerpoint/2010/main" val="2604520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a:extLst>
              <a:ext uri="{FF2B5EF4-FFF2-40B4-BE49-F238E27FC236}">
                <a16:creationId xmlns:a16="http://schemas.microsoft.com/office/drawing/2014/main" id="{B2355DFF-4EF2-8D2B-42E5-A804206B73E0}"/>
              </a:ext>
            </a:extLst>
          </p:cNvPr>
          <p:cNvGraphicFramePr>
            <a:graphicFrameLocks noGrp="1"/>
          </p:cNvGraphicFramePr>
          <p:nvPr/>
        </p:nvGraphicFramePr>
        <p:xfrm>
          <a:off x="431801" y="1719927"/>
          <a:ext cx="2514804" cy="2225988"/>
        </p:xfrm>
        <a:graphic>
          <a:graphicData uri="http://schemas.openxmlformats.org/drawingml/2006/table">
            <a:tbl>
              <a:tblPr firstRow="1" bandRow="1">
                <a:tableStyleId>{5940675A-B579-460E-94D1-54222C63F5DA}</a:tableStyleId>
              </a:tblPr>
              <a:tblGrid>
                <a:gridCol w="628701">
                  <a:extLst>
                    <a:ext uri="{9D8B030D-6E8A-4147-A177-3AD203B41FA5}">
                      <a16:colId xmlns:a16="http://schemas.microsoft.com/office/drawing/2014/main" val="3127766517"/>
                    </a:ext>
                  </a:extLst>
                </a:gridCol>
                <a:gridCol w="628701">
                  <a:extLst>
                    <a:ext uri="{9D8B030D-6E8A-4147-A177-3AD203B41FA5}">
                      <a16:colId xmlns:a16="http://schemas.microsoft.com/office/drawing/2014/main" val="1079368985"/>
                    </a:ext>
                  </a:extLst>
                </a:gridCol>
                <a:gridCol w="628701">
                  <a:extLst>
                    <a:ext uri="{9D8B030D-6E8A-4147-A177-3AD203B41FA5}">
                      <a16:colId xmlns:a16="http://schemas.microsoft.com/office/drawing/2014/main" val="2055185853"/>
                    </a:ext>
                  </a:extLst>
                </a:gridCol>
                <a:gridCol w="628701">
                  <a:extLst>
                    <a:ext uri="{9D8B030D-6E8A-4147-A177-3AD203B41FA5}">
                      <a16:colId xmlns:a16="http://schemas.microsoft.com/office/drawing/2014/main" val="1729000935"/>
                    </a:ext>
                  </a:extLst>
                </a:gridCol>
              </a:tblGrid>
              <a:tr h="556497">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2434525574"/>
                  </a:ext>
                </a:extLst>
              </a:tr>
              <a:tr h="556497">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2762826904"/>
                  </a:ext>
                </a:extLst>
              </a:tr>
              <a:tr h="556497">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3292007555"/>
                  </a:ext>
                </a:extLst>
              </a:tr>
              <a:tr h="556497">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3049220472"/>
                  </a:ext>
                </a:extLst>
              </a:tr>
            </a:tbl>
          </a:graphicData>
        </a:graphic>
      </p:graphicFrame>
      <p:pic>
        <p:nvPicPr>
          <p:cNvPr id="5" name="図 4">
            <a:extLst>
              <a:ext uri="{FF2B5EF4-FFF2-40B4-BE49-F238E27FC236}">
                <a16:creationId xmlns:a16="http://schemas.microsoft.com/office/drawing/2014/main" id="{6FCEA8A6-2EF8-09F5-C7FF-C8BCE582ECFD}"/>
              </a:ext>
            </a:extLst>
          </p:cNvPr>
          <p:cNvPicPr>
            <a:picLocks noChangeAspect="1"/>
          </p:cNvPicPr>
          <p:nvPr/>
        </p:nvPicPr>
        <p:blipFill>
          <a:blip r:embed="rId2"/>
          <a:stretch>
            <a:fillRect/>
          </a:stretch>
        </p:blipFill>
        <p:spPr>
          <a:xfrm>
            <a:off x="431801" y="1814416"/>
            <a:ext cx="2250122" cy="2037009"/>
          </a:xfrm>
          <a:prstGeom prst="rect">
            <a:avLst/>
          </a:prstGeom>
        </p:spPr>
      </p:pic>
      <p:sp>
        <p:nvSpPr>
          <p:cNvPr id="6" name="テキスト ボックス 5">
            <a:extLst>
              <a:ext uri="{FF2B5EF4-FFF2-40B4-BE49-F238E27FC236}">
                <a16:creationId xmlns:a16="http://schemas.microsoft.com/office/drawing/2014/main" id="{AFD792E2-9696-FD6D-2AB6-AEB8FA8F9714}"/>
              </a:ext>
            </a:extLst>
          </p:cNvPr>
          <p:cNvSpPr txBox="1"/>
          <p:nvPr/>
        </p:nvSpPr>
        <p:spPr>
          <a:xfrm>
            <a:off x="299727" y="1229641"/>
            <a:ext cx="2744854" cy="584775"/>
          </a:xfrm>
          <a:prstGeom prst="rect">
            <a:avLst/>
          </a:prstGeom>
          <a:noFill/>
        </p:spPr>
        <p:txBody>
          <a:bodyPr wrap="none" rtlCol="0">
            <a:spAutoFit/>
          </a:bodyPr>
          <a:lstStyle/>
          <a:p>
            <a:pPr algn="l"/>
            <a:r>
              <a:rPr lang="ja-JP" altLang="en-US" sz="3200" dirty="0">
                <a:latin typeface="メイリオ" panose="020B0604030504040204" pitchFamily="50" charset="-128"/>
                <a:ea typeface="メイリオ" panose="020B0604030504040204" pitchFamily="50" charset="-128"/>
              </a:rPr>
              <a:t>粗い</a:t>
            </a:r>
            <a:r>
              <a:rPr lang="en-US" altLang="ja-JP" sz="3200" dirty="0">
                <a:latin typeface="メイリオ" panose="020B0604030504040204" pitchFamily="50" charset="-128"/>
                <a:ea typeface="メイリオ" panose="020B0604030504040204" pitchFamily="50" charset="-128"/>
              </a:rPr>
              <a:t>pixel</a:t>
            </a:r>
            <a:r>
              <a:rPr lang="ja-JP" altLang="en-US" sz="3200" dirty="0">
                <a:latin typeface="メイリオ" panose="020B0604030504040204" pitchFamily="50" charset="-128"/>
                <a:ea typeface="メイリオ" panose="020B0604030504040204" pitchFamily="50" charset="-128"/>
              </a:rPr>
              <a:t>画像</a:t>
            </a:r>
            <a:endParaRPr kumimoji="1" lang="ja-JP" altLang="en-US" sz="3200"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8E744610-511B-8A8E-568E-A05C9224BD46}"/>
              </a:ext>
            </a:extLst>
          </p:cNvPr>
          <p:cNvSpPr txBox="1"/>
          <p:nvPr/>
        </p:nvSpPr>
        <p:spPr>
          <a:xfrm>
            <a:off x="1556862" y="4457473"/>
            <a:ext cx="2721964"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この</a:t>
            </a:r>
            <a:r>
              <a:rPr kumimoji="1" lang="en-US" altLang="ja-JP" sz="2400" dirty="0">
                <a:latin typeface="メイリオ" panose="020B0604030504040204" pitchFamily="50" charset="-128"/>
                <a:ea typeface="メイリオ" panose="020B0604030504040204" pitchFamily="50" charset="-128"/>
              </a:rPr>
              <a:t>pixel</a:t>
            </a:r>
            <a:r>
              <a:rPr kumimoji="1" lang="ja-JP" altLang="en-US" sz="2400" dirty="0">
                <a:latin typeface="メイリオ" panose="020B0604030504040204" pitchFamily="50" charset="-128"/>
                <a:ea typeface="メイリオ" panose="020B0604030504040204" pitchFamily="50" charset="-128"/>
              </a:rPr>
              <a:t>座標は？</a:t>
            </a:r>
          </a:p>
        </p:txBody>
      </p:sp>
      <p:sp>
        <p:nvSpPr>
          <p:cNvPr id="8" name="矢印: 下 7">
            <a:extLst>
              <a:ext uri="{FF2B5EF4-FFF2-40B4-BE49-F238E27FC236}">
                <a16:creationId xmlns:a16="http://schemas.microsoft.com/office/drawing/2014/main" id="{DD364C07-7DF8-7E2A-F5B0-69DB4185AF58}"/>
              </a:ext>
            </a:extLst>
          </p:cNvPr>
          <p:cNvSpPr/>
          <p:nvPr/>
        </p:nvSpPr>
        <p:spPr>
          <a:xfrm>
            <a:off x="2276727" y="4040404"/>
            <a:ext cx="565831" cy="31330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9" name="表 8">
            <a:extLst>
              <a:ext uri="{FF2B5EF4-FFF2-40B4-BE49-F238E27FC236}">
                <a16:creationId xmlns:a16="http://schemas.microsoft.com/office/drawing/2014/main" id="{262C5F04-269F-246D-C3FF-8F5CA9099E61}"/>
              </a:ext>
            </a:extLst>
          </p:cNvPr>
          <p:cNvGraphicFramePr>
            <a:graphicFrameLocks noGrp="1"/>
          </p:cNvGraphicFramePr>
          <p:nvPr/>
        </p:nvGraphicFramePr>
        <p:xfrm>
          <a:off x="3087257" y="2856346"/>
          <a:ext cx="8928824" cy="799088"/>
        </p:xfrm>
        <a:graphic>
          <a:graphicData uri="http://schemas.openxmlformats.org/drawingml/2006/table">
            <a:tbl>
              <a:tblPr firstRow="1" bandRow="1">
                <a:tableStyleId>{5940675A-B579-460E-94D1-54222C63F5DA}</a:tableStyleId>
              </a:tblPr>
              <a:tblGrid>
                <a:gridCol w="566070">
                  <a:extLst>
                    <a:ext uri="{9D8B030D-6E8A-4147-A177-3AD203B41FA5}">
                      <a16:colId xmlns:a16="http://schemas.microsoft.com/office/drawing/2014/main" val="1665846259"/>
                    </a:ext>
                  </a:extLst>
                </a:gridCol>
                <a:gridCol w="566070">
                  <a:extLst>
                    <a:ext uri="{9D8B030D-6E8A-4147-A177-3AD203B41FA5}">
                      <a16:colId xmlns:a16="http://schemas.microsoft.com/office/drawing/2014/main" val="3728287902"/>
                    </a:ext>
                  </a:extLst>
                </a:gridCol>
                <a:gridCol w="566070">
                  <a:extLst>
                    <a:ext uri="{9D8B030D-6E8A-4147-A177-3AD203B41FA5}">
                      <a16:colId xmlns:a16="http://schemas.microsoft.com/office/drawing/2014/main" val="3492389942"/>
                    </a:ext>
                  </a:extLst>
                </a:gridCol>
                <a:gridCol w="566070">
                  <a:extLst>
                    <a:ext uri="{9D8B030D-6E8A-4147-A177-3AD203B41FA5}">
                      <a16:colId xmlns:a16="http://schemas.microsoft.com/office/drawing/2014/main" val="3922782065"/>
                    </a:ext>
                  </a:extLst>
                </a:gridCol>
                <a:gridCol w="566070">
                  <a:extLst>
                    <a:ext uri="{9D8B030D-6E8A-4147-A177-3AD203B41FA5}">
                      <a16:colId xmlns:a16="http://schemas.microsoft.com/office/drawing/2014/main" val="153106336"/>
                    </a:ext>
                  </a:extLst>
                </a:gridCol>
                <a:gridCol w="566070">
                  <a:extLst>
                    <a:ext uri="{9D8B030D-6E8A-4147-A177-3AD203B41FA5}">
                      <a16:colId xmlns:a16="http://schemas.microsoft.com/office/drawing/2014/main" val="3666653527"/>
                    </a:ext>
                  </a:extLst>
                </a:gridCol>
                <a:gridCol w="566070">
                  <a:extLst>
                    <a:ext uri="{9D8B030D-6E8A-4147-A177-3AD203B41FA5}">
                      <a16:colId xmlns:a16="http://schemas.microsoft.com/office/drawing/2014/main" val="3066767695"/>
                    </a:ext>
                  </a:extLst>
                </a:gridCol>
                <a:gridCol w="566070">
                  <a:extLst>
                    <a:ext uri="{9D8B030D-6E8A-4147-A177-3AD203B41FA5}">
                      <a16:colId xmlns:a16="http://schemas.microsoft.com/office/drawing/2014/main" val="4110266532"/>
                    </a:ext>
                  </a:extLst>
                </a:gridCol>
                <a:gridCol w="550033">
                  <a:extLst>
                    <a:ext uri="{9D8B030D-6E8A-4147-A177-3AD203B41FA5}">
                      <a16:colId xmlns:a16="http://schemas.microsoft.com/office/drawing/2014/main" val="2370334970"/>
                    </a:ext>
                  </a:extLst>
                </a:gridCol>
                <a:gridCol w="550033">
                  <a:extLst>
                    <a:ext uri="{9D8B030D-6E8A-4147-A177-3AD203B41FA5}">
                      <a16:colId xmlns:a16="http://schemas.microsoft.com/office/drawing/2014/main" val="34492400"/>
                    </a:ext>
                  </a:extLst>
                </a:gridCol>
                <a:gridCol w="550033">
                  <a:extLst>
                    <a:ext uri="{9D8B030D-6E8A-4147-A177-3AD203B41FA5}">
                      <a16:colId xmlns:a16="http://schemas.microsoft.com/office/drawing/2014/main" val="2790872874"/>
                    </a:ext>
                  </a:extLst>
                </a:gridCol>
                <a:gridCol w="550033">
                  <a:extLst>
                    <a:ext uri="{9D8B030D-6E8A-4147-A177-3AD203B41FA5}">
                      <a16:colId xmlns:a16="http://schemas.microsoft.com/office/drawing/2014/main" val="805026864"/>
                    </a:ext>
                  </a:extLst>
                </a:gridCol>
                <a:gridCol w="550033">
                  <a:extLst>
                    <a:ext uri="{9D8B030D-6E8A-4147-A177-3AD203B41FA5}">
                      <a16:colId xmlns:a16="http://schemas.microsoft.com/office/drawing/2014/main" val="2931578416"/>
                    </a:ext>
                  </a:extLst>
                </a:gridCol>
                <a:gridCol w="550033">
                  <a:extLst>
                    <a:ext uri="{9D8B030D-6E8A-4147-A177-3AD203B41FA5}">
                      <a16:colId xmlns:a16="http://schemas.microsoft.com/office/drawing/2014/main" val="13949404"/>
                    </a:ext>
                  </a:extLst>
                </a:gridCol>
                <a:gridCol w="550033">
                  <a:extLst>
                    <a:ext uri="{9D8B030D-6E8A-4147-A177-3AD203B41FA5}">
                      <a16:colId xmlns:a16="http://schemas.microsoft.com/office/drawing/2014/main" val="2229602790"/>
                    </a:ext>
                  </a:extLst>
                </a:gridCol>
                <a:gridCol w="550033">
                  <a:extLst>
                    <a:ext uri="{9D8B030D-6E8A-4147-A177-3AD203B41FA5}">
                      <a16:colId xmlns:a16="http://schemas.microsoft.com/office/drawing/2014/main" val="1088699817"/>
                    </a:ext>
                  </a:extLst>
                </a:gridCol>
              </a:tblGrid>
              <a:tr h="419224">
                <a:tc>
                  <a:txBody>
                    <a:bodyPr/>
                    <a:lstStyle/>
                    <a:p>
                      <a:r>
                        <a:rPr kumimoji="1" lang="en-US" altLang="ja-JP" dirty="0"/>
                        <a:t>0,0</a:t>
                      </a:r>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r>
                        <a:rPr kumimoji="1" lang="en-US" altLang="ja-JP" dirty="0"/>
                        <a:t>0,3</a:t>
                      </a:r>
                      <a:endParaRPr kumimoji="1" lang="ja-JP" altLang="en-US" dirty="0"/>
                    </a:p>
                  </a:txBody>
                  <a:tcPr/>
                </a:tc>
                <a:tc>
                  <a:txBody>
                    <a:bodyPr/>
                    <a:lstStyle/>
                    <a:p>
                      <a:r>
                        <a:rPr kumimoji="1" lang="en-US" altLang="ja-JP" dirty="0"/>
                        <a:t>1,0</a:t>
                      </a:r>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solidFill>
                      <a:srgbClr val="FF0000"/>
                    </a:solidFill>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r>
                        <a:rPr kumimoji="1" lang="en-US" altLang="ja-JP" dirty="0"/>
                        <a:t>3,0</a:t>
                      </a:r>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r>
                        <a:rPr kumimoji="1" lang="en-US" altLang="ja-JP" dirty="0"/>
                        <a:t>3,3</a:t>
                      </a:r>
                      <a:endParaRPr kumimoji="1" lang="ja-JP" altLang="en-US" dirty="0"/>
                    </a:p>
                  </a:txBody>
                  <a:tcPr/>
                </a:tc>
                <a:extLst>
                  <a:ext uri="{0D108BD9-81ED-4DB2-BD59-A6C34878D82A}">
                    <a16:rowId xmlns:a16="http://schemas.microsoft.com/office/drawing/2014/main" val="3289454030"/>
                  </a:ext>
                </a:extLst>
              </a:tr>
              <a:tr h="379864">
                <a:tc>
                  <a:txBody>
                    <a:bodyPr/>
                    <a:lstStyle/>
                    <a:p>
                      <a:pPr algn="r"/>
                      <a:r>
                        <a:rPr kumimoji="1" lang="en-US" altLang="ja-JP" dirty="0"/>
                        <a:t>0</a:t>
                      </a:r>
                      <a:endParaRPr kumimoji="1" lang="ja-JP" altLang="en-US" dirty="0"/>
                    </a:p>
                  </a:txBody>
                  <a:tcPr/>
                </a:tc>
                <a:tc>
                  <a:txBody>
                    <a:bodyPr/>
                    <a:lstStyle/>
                    <a:p>
                      <a:pPr algn="r"/>
                      <a:r>
                        <a:rPr kumimoji="1" lang="en-US" altLang="ja-JP" dirty="0"/>
                        <a:t>200</a:t>
                      </a:r>
                      <a:endParaRPr kumimoji="1" lang="ja-JP" altLang="en-US" dirty="0"/>
                    </a:p>
                  </a:txBody>
                  <a:tcPr/>
                </a:tc>
                <a:tc>
                  <a:txBody>
                    <a:bodyPr/>
                    <a:lstStyle/>
                    <a:p>
                      <a:pPr algn="r"/>
                      <a:r>
                        <a:rPr kumimoji="1" lang="en-US" altLang="ja-JP" dirty="0"/>
                        <a:t>100</a:t>
                      </a:r>
                      <a:endParaRPr kumimoji="1" lang="ja-JP" altLang="en-US" dirty="0"/>
                    </a:p>
                  </a:txBody>
                  <a:tcPr/>
                </a:tc>
                <a:tc>
                  <a:txBody>
                    <a:bodyPr/>
                    <a:lstStyle/>
                    <a:p>
                      <a:pPr algn="r"/>
                      <a:r>
                        <a:rPr kumimoji="1" lang="en-US" altLang="ja-JP" dirty="0"/>
                        <a:t>0</a:t>
                      </a:r>
                      <a:endParaRPr kumimoji="1" lang="ja-JP" altLang="en-US" dirty="0"/>
                    </a:p>
                  </a:txBody>
                  <a:tcPr/>
                </a:tc>
                <a:tc>
                  <a:txBody>
                    <a:bodyPr/>
                    <a:lstStyle/>
                    <a:p>
                      <a:pPr algn="r"/>
                      <a:r>
                        <a:rPr kumimoji="1" lang="en-US" altLang="ja-JP" dirty="0"/>
                        <a:t>0</a:t>
                      </a:r>
                      <a:endParaRPr kumimoji="1" lang="ja-JP" altLang="en-US" dirty="0"/>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2042163058"/>
                  </a:ext>
                </a:extLst>
              </a:tr>
            </a:tbl>
          </a:graphicData>
        </a:graphic>
      </p:graphicFrame>
      <p:sp>
        <p:nvSpPr>
          <p:cNvPr id="10" name="テキスト ボックス 9">
            <a:extLst>
              <a:ext uri="{FF2B5EF4-FFF2-40B4-BE49-F238E27FC236}">
                <a16:creationId xmlns:a16="http://schemas.microsoft.com/office/drawing/2014/main" id="{280E0F40-082D-6BD4-D798-37CD27EDA290}"/>
              </a:ext>
            </a:extLst>
          </p:cNvPr>
          <p:cNvSpPr txBox="1"/>
          <p:nvPr/>
        </p:nvSpPr>
        <p:spPr>
          <a:xfrm>
            <a:off x="937439" y="6076626"/>
            <a:ext cx="5295809" cy="523220"/>
          </a:xfrm>
          <a:prstGeom prst="rect">
            <a:avLst/>
          </a:prstGeom>
          <a:noFill/>
        </p:spPr>
        <p:txBody>
          <a:bodyPr wrap="none" rtlCol="0">
            <a:spAutoFit/>
          </a:bodyPr>
          <a:lstStyle/>
          <a:p>
            <a:pPr algn="l"/>
            <a:r>
              <a:rPr lang="ja-JP" altLang="en-US" sz="2800" dirty="0">
                <a:solidFill>
                  <a:srgbClr val="FF0000"/>
                </a:solidFill>
                <a:latin typeface="メイリオ" panose="020B0604030504040204" pitchFamily="50" charset="-128"/>
                <a:ea typeface="メイリオ" panose="020B0604030504040204" pitchFamily="50" charset="-128"/>
              </a:rPr>
              <a:t>■</a:t>
            </a:r>
            <a:r>
              <a:rPr kumimoji="1" lang="ja-JP" altLang="en-US" sz="2800" dirty="0">
                <a:latin typeface="メイリオ" panose="020B0604030504040204" pitchFamily="50" charset="-128"/>
                <a:ea typeface="メイリオ" panose="020B0604030504040204" pitchFamily="50" charset="-128"/>
              </a:rPr>
              <a:t>の</a:t>
            </a:r>
            <a:r>
              <a:rPr kumimoji="1" lang="en-US" altLang="ja-JP" sz="2800" dirty="0">
                <a:latin typeface="メイリオ" panose="020B0604030504040204" pitchFamily="50" charset="-128"/>
                <a:ea typeface="メイリオ" panose="020B0604030504040204" pitchFamily="50" charset="-128"/>
              </a:rPr>
              <a:t>pixel</a:t>
            </a:r>
            <a:r>
              <a:rPr kumimoji="1" lang="ja-JP" altLang="en-US" sz="2800" dirty="0">
                <a:latin typeface="メイリオ" panose="020B0604030504040204" pitchFamily="50" charset="-128"/>
                <a:ea typeface="メイリオ" panose="020B0604030504040204" pitchFamily="50" charset="-128"/>
              </a:rPr>
              <a:t>座標と値はいくつか？</a:t>
            </a:r>
          </a:p>
        </p:txBody>
      </p:sp>
      <p:sp>
        <p:nvSpPr>
          <p:cNvPr id="11" name="テキスト ボックス 10">
            <a:extLst>
              <a:ext uri="{FF2B5EF4-FFF2-40B4-BE49-F238E27FC236}">
                <a16:creationId xmlns:a16="http://schemas.microsoft.com/office/drawing/2014/main" id="{B600CB99-8EBE-A09E-E6D3-B97AE2A8DB97}"/>
              </a:ext>
            </a:extLst>
          </p:cNvPr>
          <p:cNvSpPr txBox="1"/>
          <p:nvPr/>
        </p:nvSpPr>
        <p:spPr>
          <a:xfrm>
            <a:off x="3199174" y="1516957"/>
            <a:ext cx="3953070"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pixel</a:t>
            </a:r>
            <a:r>
              <a:rPr kumimoji="1" lang="ja-JP" altLang="en-US" sz="2400" dirty="0">
                <a:latin typeface="メイリオ" panose="020B0604030504040204" pitchFamily="50" charset="-128"/>
                <a:ea typeface="メイリオ" panose="020B0604030504040204" pitchFamily="50" charset="-128"/>
              </a:rPr>
              <a:t>座標を全部横に並べる</a:t>
            </a:r>
          </a:p>
        </p:txBody>
      </p:sp>
      <p:sp>
        <p:nvSpPr>
          <p:cNvPr id="13" name="テキスト ボックス 12">
            <a:extLst>
              <a:ext uri="{FF2B5EF4-FFF2-40B4-BE49-F238E27FC236}">
                <a16:creationId xmlns:a16="http://schemas.microsoft.com/office/drawing/2014/main" id="{8FF134DB-BBA7-AB78-F3D5-7C6B1D122696}"/>
              </a:ext>
            </a:extLst>
          </p:cNvPr>
          <p:cNvSpPr txBox="1"/>
          <p:nvPr/>
        </p:nvSpPr>
        <p:spPr>
          <a:xfrm>
            <a:off x="1039528" y="5534526"/>
            <a:ext cx="80021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問題</a:t>
            </a:r>
          </a:p>
        </p:txBody>
      </p:sp>
      <p:sp>
        <p:nvSpPr>
          <p:cNvPr id="3" name="テキスト ボックス 2">
            <a:extLst>
              <a:ext uri="{FF2B5EF4-FFF2-40B4-BE49-F238E27FC236}">
                <a16:creationId xmlns:a16="http://schemas.microsoft.com/office/drawing/2014/main" id="{0E5103B0-BABB-B639-58B5-91147E2A0006}"/>
              </a:ext>
            </a:extLst>
          </p:cNvPr>
          <p:cNvSpPr txBox="1"/>
          <p:nvPr/>
        </p:nvSpPr>
        <p:spPr>
          <a:xfrm>
            <a:off x="431801" y="420624"/>
            <a:ext cx="10537052" cy="584775"/>
          </a:xfrm>
          <a:prstGeom prst="rect">
            <a:avLst/>
          </a:prstGeom>
          <a:noFill/>
        </p:spPr>
        <p:txBody>
          <a:bodyPr wrap="none" rtlCol="0">
            <a:spAutoFit/>
          </a:bodyPr>
          <a:lstStyle/>
          <a:p>
            <a:pPr algn="l"/>
            <a:r>
              <a:rPr kumimoji="1" lang="en-US" altLang="ja-JP" sz="3200" dirty="0">
                <a:latin typeface="メイリオ" panose="020B0604030504040204" pitchFamily="50" charset="-128"/>
                <a:ea typeface="メイリオ" panose="020B0604030504040204" pitchFamily="50" charset="-128"/>
              </a:rPr>
              <a:t>Pixel</a:t>
            </a:r>
            <a:r>
              <a:rPr kumimoji="1" lang="ja-JP" altLang="en-US" sz="3200" dirty="0">
                <a:latin typeface="メイリオ" panose="020B0604030504040204" pitchFamily="50" charset="-128"/>
                <a:ea typeface="メイリオ" panose="020B0604030504040204" pitchFamily="50" charset="-128"/>
              </a:rPr>
              <a:t>を全部列方向に並べると特徴量データセットになる</a:t>
            </a:r>
            <a:endParaRPr kumimoji="1" lang="en-US" altLang="ja-JP" sz="3200" dirty="0">
              <a:latin typeface="メイリオ" panose="020B0604030504040204" pitchFamily="50" charset="-128"/>
              <a:ea typeface="メイリオ" panose="020B0604030504040204" pitchFamily="50" charset="-128"/>
            </a:endParaRPr>
          </a:p>
        </p:txBody>
      </p:sp>
      <p:sp>
        <p:nvSpPr>
          <p:cNvPr id="4" name="右中かっこ 3">
            <a:extLst>
              <a:ext uri="{FF2B5EF4-FFF2-40B4-BE49-F238E27FC236}">
                <a16:creationId xmlns:a16="http://schemas.microsoft.com/office/drawing/2014/main" id="{A9B3A88B-A4F3-A9F6-A32C-A467DB78B65F}"/>
              </a:ext>
            </a:extLst>
          </p:cNvPr>
          <p:cNvSpPr/>
          <p:nvPr/>
        </p:nvSpPr>
        <p:spPr>
          <a:xfrm rot="16200000">
            <a:off x="4089461" y="1547453"/>
            <a:ext cx="302331" cy="2157984"/>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4" name="右中かっこ 13">
            <a:extLst>
              <a:ext uri="{FF2B5EF4-FFF2-40B4-BE49-F238E27FC236}">
                <a16:creationId xmlns:a16="http://schemas.microsoft.com/office/drawing/2014/main" id="{02C6F8A5-E077-6563-94CD-2974758DCC7B}"/>
              </a:ext>
            </a:extLst>
          </p:cNvPr>
          <p:cNvSpPr/>
          <p:nvPr/>
        </p:nvSpPr>
        <p:spPr>
          <a:xfrm rot="16200000">
            <a:off x="6321512" y="1547452"/>
            <a:ext cx="302331" cy="2157984"/>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5" name="右中かっこ 14">
            <a:extLst>
              <a:ext uri="{FF2B5EF4-FFF2-40B4-BE49-F238E27FC236}">
                <a16:creationId xmlns:a16="http://schemas.microsoft.com/office/drawing/2014/main" id="{FD925475-6740-B46E-4509-C31B5A1D3835}"/>
              </a:ext>
            </a:extLst>
          </p:cNvPr>
          <p:cNvSpPr/>
          <p:nvPr/>
        </p:nvSpPr>
        <p:spPr>
          <a:xfrm rot="16200000">
            <a:off x="8553563" y="1547451"/>
            <a:ext cx="302331" cy="2157984"/>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6" name="右中かっこ 15">
            <a:extLst>
              <a:ext uri="{FF2B5EF4-FFF2-40B4-BE49-F238E27FC236}">
                <a16:creationId xmlns:a16="http://schemas.microsoft.com/office/drawing/2014/main" id="{B50B75BA-30DC-8B14-0A58-E52E6A76E8F4}"/>
              </a:ext>
            </a:extLst>
          </p:cNvPr>
          <p:cNvSpPr/>
          <p:nvPr/>
        </p:nvSpPr>
        <p:spPr>
          <a:xfrm rot="16200000">
            <a:off x="10767326" y="1547451"/>
            <a:ext cx="302331" cy="2157984"/>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29C85C1F-81F8-4073-1CEC-675844EAC7F0}"/>
              </a:ext>
            </a:extLst>
          </p:cNvPr>
          <p:cNvSpPr txBox="1"/>
          <p:nvPr/>
        </p:nvSpPr>
        <p:spPr>
          <a:xfrm>
            <a:off x="3716674" y="2111966"/>
            <a:ext cx="990977"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0</a:t>
            </a:r>
            <a:r>
              <a:rPr kumimoji="1" lang="ja-JP" altLang="en-US" sz="2400" dirty="0">
                <a:latin typeface="メイリオ" panose="020B0604030504040204" pitchFamily="50" charset="-128"/>
                <a:ea typeface="メイリオ" panose="020B0604030504040204" pitchFamily="50" charset="-128"/>
              </a:rPr>
              <a:t>行目</a:t>
            </a:r>
          </a:p>
        </p:txBody>
      </p:sp>
      <p:sp>
        <p:nvSpPr>
          <p:cNvPr id="18" name="テキスト ボックス 17">
            <a:extLst>
              <a:ext uri="{FF2B5EF4-FFF2-40B4-BE49-F238E27FC236}">
                <a16:creationId xmlns:a16="http://schemas.microsoft.com/office/drawing/2014/main" id="{CDA9FA5C-A737-A23E-48F4-169606A3026A}"/>
              </a:ext>
            </a:extLst>
          </p:cNvPr>
          <p:cNvSpPr txBox="1"/>
          <p:nvPr/>
        </p:nvSpPr>
        <p:spPr>
          <a:xfrm>
            <a:off x="6022791" y="2111965"/>
            <a:ext cx="990977"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行目</a:t>
            </a:r>
          </a:p>
        </p:txBody>
      </p:sp>
      <p:sp>
        <p:nvSpPr>
          <p:cNvPr id="19" name="テキスト ボックス 18">
            <a:extLst>
              <a:ext uri="{FF2B5EF4-FFF2-40B4-BE49-F238E27FC236}">
                <a16:creationId xmlns:a16="http://schemas.microsoft.com/office/drawing/2014/main" id="{2203F064-D402-AB65-D3DB-CAEEAB65CDE2}"/>
              </a:ext>
            </a:extLst>
          </p:cNvPr>
          <p:cNvSpPr txBox="1"/>
          <p:nvPr/>
        </p:nvSpPr>
        <p:spPr>
          <a:xfrm>
            <a:off x="8163638" y="2124480"/>
            <a:ext cx="990977"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2</a:t>
            </a:r>
            <a:r>
              <a:rPr kumimoji="1" lang="ja-JP" altLang="en-US" sz="2400" dirty="0">
                <a:latin typeface="メイリオ" panose="020B0604030504040204" pitchFamily="50" charset="-128"/>
                <a:ea typeface="メイリオ" panose="020B0604030504040204" pitchFamily="50" charset="-128"/>
              </a:rPr>
              <a:t>行目</a:t>
            </a:r>
          </a:p>
        </p:txBody>
      </p:sp>
      <p:sp>
        <p:nvSpPr>
          <p:cNvPr id="20" name="テキスト ボックス 19">
            <a:extLst>
              <a:ext uri="{FF2B5EF4-FFF2-40B4-BE49-F238E27FC236}">
                <a16:creationId xmlns:a16="http://schemas.microsoft.com/office/drawing/2014/main" id="{8CFCCD66-3929-A75E-3302-6130CF383B01}"/>
              </a:ext>
            </a:extLst>
          </p:cNvPr>
          <p:cNvSpPr txBox="1"/>
          <p:nvPr/>
        </p:nvSpPr>
        <p:spPr>
          <a:xfrm>
            <a:off x="10395689" y="2111964"/>
            <a:ext cx="990977" cy="461665"/>
          </a:xfrm>
          <a:prstGeom prst="rect">
            <a:avLst/>
          </a:prstGeom>
          <a:noFill/>
        </p:spPr>
        <p:txBody>
          <a:bodyPr wrap="none" rtlCol="0">
            <a:spAutoFit/>
          </a:bodyPr>
          <a:lstStyle/>
          <a:p>
            <a:pPr algn="l"/>
            <a:r>
              <a:rPr kumimoji="1" lang="en-US" altLang="ja-JP" sz="2400" dirty="0">
                <a:latin typeface="メイリオ" panose="020B0604030504040204" pitchFamily="50" charset="-128"/>
                <a:ea typeface="メイリオ" panose="020B0604030504040204" pitchFamily="50" charset="-128"/>
              </a:rPr>
              <a:t>3</a:t>
            </a:r>
            <a:r>
              <a:rPr kumimoji="1" lang="ja-JP" altLang="en-US" sz="2400" dirty="0">
                <a:latin typeface="メイリオ" panose="020B0604030504040204" pitchFamily="50" charset="-128"/>
                <a:ea typeface="メイリオ" panose="020B0604030504040204" pitchFamily="50" charset="-128"/>
              </a:rPr>
              <a:t>行目</a:t>
            </a:r>
          </a:p>
        </p:txBody>
      </p:sp>
    </p:spTree>
    <p:extLst>
      <p:ext uri="{BB962C8B-B14F-4D97-AF65-F5344CB8AC3E}">
        <p14:creationId xmlns:p14="http://schemas.microsoft.com/office/powerpoint/2010/main" val="3608100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7977598-44B4-10ED-36C5-0526707D833A}"/>
              </a:ext>
            </a:extLst>
          </p:cNvPr>
          <p:cNvSpPr txBox="1"/>
          <p:nvPr/>
        </p:nvSpPr>
        <p:spPr>
          <a:xfrm>
            <a:off x="585604" y="688376"/>
            <a:ext cx="11418510" cy="1569660"/>
          </a:xfrm>
          <a:prstGeom prst="rect">
            <a:avLst/>
          </a:prstGeom>
          <a:noFill/>
        </p:spPr>
        <p:txBody>
          <a:bodyPr wrap="none" rtlCol="0">
            <a:spAutoFit/>
          </a:bodyPr>
          <a:lstStyle/>
          <a:p>
            <a:pPr marL="457200" indent="-457200" algn="l">
              <a:buFont typeface="+mj-lt"/>
              <a:buAutoNum type="arabicPeriod"/>
            </a:pPr>
            <a:r>
              <a:rPr lang="ja-JP" altLang="en-US" sz="2400" dirty="0">
                <a:latin typeface="メイリオ" panose="020B0604030504040204" pitchFamily="50" charset="-128"/>
                <a:ea typeface="メイリオ" panose="020B0604030504040204" pitchFamily="50" charset="-128"/>
              </a:rPr>
              <a:t>行方向がデータ方向</a:t>
            </a:r>
            <a:endParaRPr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列方向が次元方向（手書きでは</a:t>
            </a:r>
            <a:r>
              <a:rPr kumimoji="1" lang="en-US" altLang="ja-JP" sz="2400" dirty="0">
                <a:latin typeface="メイリオ" panose="020B0604030504040204" pitchFamily="50" charset="-128"/>
                <a:ea typeface="メイリオ" panose="020B0604030504040204" pitchFamily="50" charset="-128"/>
              </a:rPr>
              <a:t>pixel</a:t>
            </a:r>
            <a:r>
              <a:rPr kumimoji="1" lang="ja-JP" altLang="en-US" sz="2400" dirty="0">
                <a:latin typeface="メイリオ" panose="020B0604030504040204" pitchFamily="50" charset="-128"/>
                <a:ea typeface="メイリオ" panose="020B0604030504040204" pitchFamily="50" charset="-128"/>
              </a:rPr>
              <a:t>座標）</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lang="ja-JP" altLang="en-US" sz="2400" dirty="0">
                <a:latin typeface="メイリオ" panose="020B0604030504040204" pitchFamily="50" charset="-128"/>
                <a:ea typeface="メイリオ" panose="020B0604030504040204" pitchFamily="50" charset="-128"/>
              </a:rPr>
              <a:t>なぜ次元方向と呼ぶかは後で。。（実はデータセットは幾何学的な空間表現）</a:t>
            </a:r>
            <a:endParaRPr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lang="ja-JP" altLang="en-US" sz="2400" dirty="0">
                <a:latin typeface="メイリオ" panose="020B0604030504040204" pitchFamily="50" charset="-128"/>
                <a:ea typeface="メイリオ" panose="020B0604030504040204" pitchFamily="50" charset="-128"/>
              </a:rPr>
              <a:t>かならず教師ラベルとペアになる</a:t>
            </a:r>
            <a:endParaRPr kumimoji="1" lang="en-US" altLang="ja-JP" sz="2400" dirty="0">
              <a:latin typeface="メイリオ" panose="020B0604030504040204" pitchFamily="50" charset="-128"/>
              <a:ea typeface="メイリオ" panose="020B0604030504040204" pitchFamily="50" charset="-128"/>
            </a:endParaRPr>
          </a:p>
        </p:txBody>
      </p:sp>
      <p:pic>
        <p:nvPicPr>
          <p:cNvPr id="5" name="図 4">
            <a:extLst>
              <a:ext uri="{FF2B5EF4-FFF2-40B4-BE49-F238E27FC236}">
                <a16:creationId xmlns:a16="http://schemas.microsoft.com/office/drawing/2014/main" id="{C0048FA1-3EEF-46FA-FD84-883C9CB67702}"/>
              </a:ext>
            </a:extLst>
          </p:cNvPr>
          <p:cNvPicPr>
            <a:picLocks noChangeAspect="1"/>
          </p:cNvPicPr>
          <p:nvPr/>
        </p:nvPicPr>
        <p:blipFill>
          <a:blip r:embed="rId2"/>
          <a:stretch>
            <a:fillRect/>
          </a:stretch>
        </p:blipFill>
        <p:spPr>
          <a:xfrm>
            <a:off x="10226212" y="4346562"/>
            <a:ext cx="1625304" cy="1247255"/>
          </a:xfrm>
          <a:prstGeom prst="rect">
            <a:avLst/>
          </a:prstGeom>
        </p:spPr>
      </p:pic>
      <p:graphicFrame>
        <p:nvGraphicFramePr>
          <p:cNvPr id="6" name="表 5">
            <a:extLst>
              <a:ext uri="{FF2B5EF4-FFF2-40B4-BE49-F238E27FC236}">
                <a16:creationId xmlns:a16="http://schemas.microsoft.com/office/drawing/2014/main" id="{0DB45E5A-74D6-ED6D-4EF5-2F2ACDB53548}"/>
              </a:ext>
            </a:extLst>
          </p:cNvPr>
          <p:cNvGraphicFramePr>
            <a:graphicFrameLocks noGrp="1"/>
          </p:cNvGraphicFramePr>
          <p:nvPr/>
        </p:nvGraphicFramePr>
        <p:xfrm>
          <a:off x="10250122" y="2315103"/>
          <a:ext cx="1732002" cy="1619160"/>
        </p:xfrm>
        <a:graphic>
          <a:graphicData uri="http://schemas.openxmlformats.org/drawingml/2006/table">
            <a:tbl>
              <a:tblPr firstRow="1" bandRow="1">
                <a:tableStyleId>{5940675A-B579-460E-94D1-54222C63F5DA}</a:tableStyleId>
              </a:tblPr>
              <a:tblGrid>
                <a:gridCol w="421439">
                  <a:extLst>
                    <a:ext uri="{9D8B030D-6E8A-4147-A177-3AD203B41FA5}">
                      <a16:colId xmlns:a16="http://schemas.microsoft.com/office/drawing/2014/main" val="3127766517"/>
                    </a:ext>
                  </a:extLst>
                </a:gridCol>
                <a:gridCol w="421439">
                  <a:extLst>
                    <a:ext uri="{9D8B030D-6E8A-4147-A177-3AD203B41FA5}">
                      <a16:colId xmlns:a16="http://schemas.microsoft.com/office/drawing/2014/main" val="1079368985"/>
                    </a:ext>
                  </a:extLst>
                </a:gridCol>
                <a:gridCol w="421439">
                  <a:extLst>
                    <a:ext uri="{9D8B030D-6E8A-4147-A177-3AD203B41FA5}">
                      <a16:colId xmlns:a16="http://schemas.microsoft.com/office/drawing/2014/main" val="2055185853"/>
                    </a:ext>
                  </a:extLst>
                </a:gridCol>
                <a:gridCol w="467685">
                  <a:extLst>
                    <a:ext uri="{9D8B030D-6E8A-4147-A177-3AD203B41FA5}">
                      <a16:colId xmlns:a16="http://schemas.microsoft.com/office/drawing/2014/main" val="1729000935"/>
                    </a:ext>
                  </a:extLst>
                </a:gridCol>
              </a:tblGrid>
              <a:tr h="40479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2434525574"/>
                  </a:ext>
                </a:extLst>
              </a:tr>
              <a:tr h="40479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2762826904"/>
                  </a:ext>
                </a:extLst>
              </a:tr>
              <a:tr h="40479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3292007555"/>
                  </a:ext>
                </a:extLst>
              </a:tr>
              <a:tr h="40479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3049220472"/>
                  </a:ext>
                </a:extLst>
              </a:tr>
            </a:tbl>
          </a:graphicData>
        </a:graphic>
      </p:graphicFrame>
      <p:pic>
        <p:nvPicPr>
          <p:cNvPr id="7" name="図 6">
            <a:extLst>
              <a:ext uri="{FF2B5EF4-FFF2-40B4-BE49-F238E27FC236}">
                <a16:creationId xmlns:a16="http://schemas.microsoft.com/office/drawing/2014/main" id="{9082E0F9-C0CD-C321-F1FD-D14963322715}"/>
              </a:ext>
            </a:extLst>
          </p:cNvPr>
          <p:cNvPicPr>
            <a:picLocks noChangeAspect="1"/>
          </p:cNvPicPr>
          <p:nvPr/>
        </p:nvPicPr>
        <p:blipFill>
          <a:blip r:embed="rId3"/>
          <a:stretch>
            <a:fillRect/>
          </a:stretch>
        </p:blipFill>
        <p:spPr>
          <a:xfrm>
            <a:off x="10250122" y="2409592"/>
            <a:ext cx="1684181" cy="1524669"/>
          </a:xfrm>
          <a:prstGeom prst="rect">
            <a:avLst/>
          </a:prstGeom>
        </p:spPr>
      </p:pic>
      <p:graphicFrame>
        <p:nvGraphicFramePr>
          <p:cNvPr id="9" name="表 8">
            <a:extLst>
              <a:ext uri="{FF2B5EF4-FFF2-40B4-BE49-F238E27FC236}">
                <a16:creationId xmlns:a16="http://schemas.microsoft.com/office/drawing/2014/main" id="{33EDE5D1-4DEA-2C25-FC72-62D93E9817A5}"/>
              </a:ext>
            </a:extLst>
          </p:cNvPr>
          <p:cNvGraphicFramePr>
            <a:graphicFrameLocks noGrp="1"/>
          </p:cNvGraphicFramePr>
          <p:nvPr/>
        </p:nvGraphicFramePr>
        <p:xfrm>
          <a:off x="1049154" y="2901582"/>
          <a:ext cx="8755000" cy="2273424"/>
        </p:xfrm>
        <a:graphic>
          <a:graphicData uri="http://schemas.openxmlformats.org/drawingml/2006/table">
            <a:tbl>
              <a:tblPr firstRow="1" bandRow="1">
                <a:tableStyleId>{5940675A-B579-460E-94D1-54222C63F5DA}</a:tableStyleId>
              </a:tblPr>
              <a:tblGrid>
                <a:gridCol w="555050">
                  <a:extLst>
                    <a:ext uri="{9D8B030D-6E8A-4147-A177-3AD203B41FA5}">
                      <a16:colId xmlns:a16="http://schemas.microsoft.com/office/drawing/2014/main" val="1665846259"/>
                    </a:ext>
                  </a:extLst>
                </a:gridCol>
                <a:gridCol w="555050">
                  <a:extLst>
                    <a:ext uri="{9D8B030D-6E8A-4147-A177-3AD203B41FA5}">
                      <a16:colId xmlns:a16="http://schemas.microsoft.com/office/drawing/2014/main" val="3728287902"/>
                    </a:ext>
                  </a:extLst>
                </a:gridCol>
                <a:gridCol w="555050">
                  <a:extLst>
                    <a:ext uri="{9D8B030D-6E8A-4147-A177-3AD203B41FA5}">
                      <a16:colId xmlns:a16="http://schemas.microsoft.com/office/drawing/2014/main" val="3492389942"/>
                    </a:ext>
                  </a:extLst>
                </a:gridCol>
                <a:gridCol w="555050">
                  <a:extLst>
                    <a:ext uri="{9D8B030D-6E8A-4147-A177-3AD203B41FA5}">
                      <a16:colId xmlns:a16="http://schemas.microsoft.com/office/drawing/2014/main" val="3922782065"/>
                    </a:ext>
                  </a:extLst>
                </a:gridCol>
                <a:gridCol w="555050">
                  <a:extLst>
                    <a:ext uri="{9D8B030D-6E8A-4147-A177-3AD203B41FA5}">
                      <a16:colId xmlns:a16="http://schemas.microsoft.com/office/drawing/2014/main" val="153106336"/>
                    </a:ext>
                  </a:extLst>
                </a:gridCol>
                <a:gridCol w="555050">
                  <a:extLst>
                    <a:ext uri="{9D8B030D-6E8A-4147-A177-3AD203B41FA5}">
                      <a16:colId xmlns:a16="http://schemas.microsoft.com/office/drawing/2014/main" val="3666653527"/>
                    </a:ext>
                  </a:extLst>
                </a:gridCol>
                <a:gridCol w="555050">
                  <a:extLst>
                    <a:ext uri="{9D8B030D-6E8A-4147-A177-3AD203B41FA5}">
                      <a16:colId xmlns:a16="http://schemas.microsoft.com/office/drawing/2014/main" val="3066767695"/>
                    </a:ext>
                  </a:extLst>
                </a:gridCol>
                <a:gridCol w="555050">
                  <a:extLst>
                    <a:ext uri="{9D8B030D-6E8A-4147-A177-3AD203B41FA5}">
                      <a16:colId xmlns:a16="http://schemas.microsoft.com/office/drawing/2014/main" val="4110266532"/>
                    </a:ext>
                  </a:extLst>
                </a:gridCol>
                <a:gridCol w="539325">
                  <a:extLst>
                    <a:ext uri="{9D8B030D-6E8A-4147-A177-3AD203B41FA5}">
                      <a16:colId xmlns:a16="http://schemas.microsoft.com/office/drawing/2014/main" val="2370334970"/>
                    </a:ext>
                  </a:extLst>
                </a:gridCol>
                <a:gridCol w="539325">
                  <a:extLst>
                    <a:ext uri="{9D8B030D-6E8A-4147-A177-3AD203B41FA5}">
                      <a16:colId xmlns:a16="http://schemas.microsoft.com/office/drawing/2014/main" val="34492400"/>
                    </a:ext>
                  </a:extLst>
                </a:gridCol>
                <a:gridCol w="539325">
                  <a:extLst>
                    <a:ext uri="{9D8B030D-6E8A-4147-A177-3AD203B41FA5}">
                      <a16:colId xmlns:a16="http://schemas.microsoft.com/office/drawing/2014/main" val="2790872874"/>
                    </a:ext>
                  </a:extLst>
                </a:gridCol>
                <a:gridCol w="539325">
                  <a:extLst>
                    <a:ext uri="{9D8B030D-6E8A-4147-A177-3AD203B41FA5}">
                      <a16:colId xmlns:a16="http://schemas.microsoft.com/office/drawing/2014/main" val="805026864"/>
                    </a:ext>
                  </a:extLst>
                </a:gridCol>
                <a:gridCol w="539325">
                  <a:extLst>
                    <a:ext uri="{9D8B030D-6E8A-4147-A177-3AD203B41FA5}">
                      <a16:colId xmlns:a16="http://schemas.microsoft.com/office/drawing/2014/main" val="2931578416"/>
                    </a:ext>
                  </a:extLst>
                </a:gridCol>
                <a:gridCol w="539325">
                  <a:extLst>
                    <a:ext uri="{9D8B030D-6E8A-4147-A177-3AD203B41FA5}">
                      <a16:colId xmlns:a16="http://schemas.microsoft.com/office/drawing/2014/main" val="13949404"/>
                    </a:ext>
                  </a:extLst>
                </a:gridCol>
                <a:gridCol w="539325">
                  <a:extLst>
                    <a:ext uri="{9D8B030D-6E8A-4147-A177-3AD203B41FA5}">
                      <a16:colId xmlns:a16="http://schemas.microsoft.com/office/drawing/2014/main" val="2229602790"/>
                    </a:ext>
                  </a:extLst>
                </a:gridCol>
                <a:gridCol w="539325">
                  <a:extLst>
                    <a:ext uri="{9D8B030D-6E8A-4147-A177-3AD203B41FA5}">
                      <a16:colId xmlns:a16="http://schemas.microsoft.com/office/drawing/2014/main" val="1088699817"/>
                    </a:ext>
                  </a:extLst>
                </a:gridCol>
              </a:tblGrid>
              <a:tr h="419224">
                <a:tc>
                  <a:txBody>
                    <a:bodyPr/>
                    <a:lstStyle/>
                    <a:p>
                      <a:r>
                        <a:rPr kumimoji="1" lang="en-US" altLang="ja-JP" dirty="0"/>
                        <a:t>0,0</a:t>
                      </a:r>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r>
                        <a:rPr kumimoji="1" lang="en-US" altLang="ja-JP" dirty="0"/>
                        <a:t>0,3</a:t>
                      </a:r>
                      <a:endParaRPr kumimoji="1" lang="ja-JP" altLang="en-US" dirty="0"/>
                    </a:p>
                  </a:txBody>
                  <a:tcPr/>
                </a:tc>
                <a:tc>
                  <a:txBody>
                    <a:bodyPr/>
                    <a:lstStyle/>
                    <a:p>
                      <a:r>
                        <a:rPr kumimoji="1" lang="en-US" altLang="ja-JP" dirty="0"/>
                        <a:t>1,0</a:t>
                      </a:r>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solidFill>
                      <a:schemeClr val="bg1"/>
                    </a:solidFill>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r>
                        <a:rPr kumimoji="1" lang="en-US" altLang="ja-JP" dirty="0"/>
                        <a:t>3,0</a:t>
                      </a:r>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r>
                        <a:rPr kumimoji="1" lang="en-US" altLang="ja-JP" dirty="0"/>
                        <a:t>3,3</a:t>
                      </a:r>
                      <a:endParaRPr kumimoji="1" lang="ja-JP" altLang="en-US" dirty="0"/>
                    </a:p>
                  </a:txBody>
                  <a:tcPr/>
                </a:tc>
                <a:extLst>
                  <a:ext uri="{0D108BD9-81ED-4DB2-BD59-A6C34878D82A}">
                    <a16:rowId xmlns:a16="http://schemas.microsoft.com/office/drawing/2014/main" val="3289454030"/>
                  </a:ext>
                </a:extLst>
              </a:tr>
              <a:tr h="370840">
                <a:tc>
                  <a:txBody>
                    <a:bodyPr/>
                    <a:lstStyle/>
                    <a:p>
                      <a:pPr algn="r"/>
                      <a:r>
                        <a:rPr kumimoji="1" lang="en-US" altLang="ja-JP" sz="1600" dirty="0"/>
                        <a:t>0</a:t>
                      </a:r>
                      <a:endParaRPr kumimoji="1" lang="ja-JP" altLang="en-US" sz="1600" dirty="0"/>
                    </a:p>
                  </a:txBody>
                  <a:tcPr/>
                </a:tc>
                <a:tc>
                  <a:txBody>
                    <a:bodyPr/>
                    <a:lstStyle/>
                    <a:p>
                      <a:pPr algn="r"/>
                      <a:r>
                        <a:rPr kumimoji="1" lang="en-US" altLang="ja-JP" sz="1600" dirty="0"/>
                        <a:t>200</a:t>
                      </a:r>
                      <a:endParaRPr kumimoji="1" lang="ja-JP" altLang="en-US" sz="1600" dirty="0"/>
                    </a:p>
                  </a:txBody>
                  <a:tcPr/>
                </a:tc>
                <a:tc>
                  <a:txBody>
                    <a:bodyPr/>
                    <a:lstStyle/>
                    <a:p>
                      <a:pPr algn="r"/>
                      <a:r>
                        <a:rPr kumimoji="1" lang="en-US" altLang="ja-JP" sz="1600" dirty="0"/>
                        <a:t>100</a:t>
                      </a:r>
                      <a:endParaRPr kumimoji="1" lang="ja-JP" altLang="en-US" sz="1600" dirty="0"/>
                    </a:p>
                  </a:txBody>
                  <a:tcPr/>
                </a:tc>
                <a:tc>
                  <a:txBody>
                    <a:bodyPr/>
                    <a:lstStyle/>
                    <a:p>
                      <a:pPr algn="r"/>
                      <a:r>
                        <a:rPr kumimoji="1" lang="en-US" altLang="ja-JP" sz="1600" dirty="0"/>
                        <a:t>0</a:t>
                      </a:r>
                      <a:endParaRPr kumimoji="1" lang="ja-JP" altLang="en-US" sz="1600" dirty="0"/>
                    </a:p>
                  </a:txBody>
                  <a:tcPr/>
                </a:tc>
                <a:tc>
                  <a:txBody>
                    <a:bodyPr/>
                    <a:lstStyle/>
                    <a:p>
                      <a:pPr algn="r"/>
                      <a:r>
                        <a:rPr kumimoji="1" lang="en-US" altLang="ja-JP" sz="1600" dirty="0"/>
                        <a:t>0</a:t>
                      </a:r>
                      <a:endParaRPr kumimoji="1" lang="ja-JP" altLang="en-US" sz="1600"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2042163058"/>
                  </a:ext>
                </a:extLst>
              </a:tr>
              <a:tr h="370840">
                <a:tc>
                  <a:txBody>
                    <a:bodyPr/>
                    <a:lstStyle/>
                    <a:p>
                      <a:pPr algn="r"/>
                      <a:r>
                        <a:rPr kumimoji="1" lang="en-US" altLang="ja-JP" sz="1600" dirty="0"/>
                        <a:t>0</a:t>
                      </a:r>
                      <a:endParaRPr kumimoji="1" lang="ja-JP" altLang="en-US" sz="1600" dirty="0"/>
                    </a:p>
                  </a:txBody>
                  <a:tcPr/>
                </a:tc>
                <a:tc>
                  <a:txBody>
                    <a:bodyPr/>
                    <a:lstStyle/>
                    <a:p>
                      <a:pPr algn="r"/>
                      <a:r>
                        <a:rPr kumimoji="1" lang="en-US" altLang="ja-JP" sz="1600" dirty="0"/>
                        <a:t>100</a:t>
                      </a:r>
                      <a:endParaRPr kumimoji="1" lang="ja-JP" altLang="en-US" sz="1600" dirty="0"/>
                    </a:p>
                  </a:txBody>
                  <a:tcPr/>
                </a:tc>
                <a:tc>
                  <a:txBody>
                    <a:bodyPr/>
                    <a:lstStyle/>
                    <a:p>
                      <a:pPr algn="r"/>
                      <a:r>
                        <a:rPr kumimoji="1" lang="en-US" altLang="ja-JP" sz="1600" dirty="0"/>
                        <a:t>150</a:t>
                      </a:r>
                      <a:endParaRPr kumimoji="1" lang="ja-JP" altLang="en-US" sz="1600" dirty="0"/>
                    </a:p>
                  </a:txBody>
                  <a:tcPr/>
                </a:tc>
                <a:tc>
                  <a:txBody>
                    <a:bodyPr/>
                    <a:lstStyle/>
                    <a:p>
                      <a:pPr algn="r"/>
                      <a:r>
                        <a:rPr kumimoji="1" lang="en-US" altLang="ja-JP" sz="1600" dirty="0"/>
                        <a:t>0</a:t>
                      </a:r>
                      <a:endParaRPr kumimoji="1" lang="ja-JP" altLang="en-US" sz="1600" dirty="0"/>
                    </a:p>
                  </a:txBody>
                  <a:tcPr/>
                </a:tc>
                <a:tc>
                  <a:txBody>
                    <a:bodyPr/>
                    <a:lstStyle/>
                    <a:p>
                      <a:pPr algn="r"/>
                      <a:endParaRPr kumimoji="1" lang="ja-JP" altLang="en-US" sz="1600"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4069322809"/>
                  </a:ext>
                </a:extLst>
              </a:tr>
              <a:tr h="370840">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4203753500"/>
                  </a:ext>
                </a:extLst>
              </a:tr>
              <a:tr h="370840">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1316444743"/>
                  </a:ext>
                </a:extLst>
              </a:tr>
              <a:tr h="370840">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3622611053"/>
                  </a:ext>
                </a:extLst>
              </a:tr>
            </a:tbl>
          </a:graphicData>
        </a:graphic>
      </p:graphicFrame>
      <p:graphicFrame>
        <p:nvGraphicFramePr>
          <p:cNvPr id="10" name="表 9">
            <a:extLst>
              <a:ext uri="{FF2B5EF4-FFF2-40B4-BE49-F238E27FC236}">
                <a16:creationId xmlns:a16="http://schemas.microsoft.com/office/drawing/2014/main" id="{2190708A-F8D5-309F-11BC-D55B1DE45814}"/>
              </a:ext>
            </a:extLst>
          </p:cNvPr>
          <p:cNvGraphicFramePr>
            <a:graphicFrameLocks noGrp="1"/>
          </p:cNvGraphicFramePr>
          <p:nvPr/>
        </p:nvGraphicFramePr>
        <p:xfrm>
          <a:off x="10226212" y="4177110"/>
          <a:ext cx="1732002" cy="1619160"/>
        </p:xfrm>
        <a:graphic>
          <a:graphicData uri="http://schemas.openxmlformats.org/drawingml/2006/table">
            <a:tbl>
              <a:tblPr firstRow="1" bandRow="1">
                <a:tableStyleId>{5940675A-B579-460E-94D1-54222C63F5DA}</a:tableStyleId>
              </a:tblPr>
              <a:tblGrid>
                <a:gridCol w="421439">
                  <a:extLst>
                    <a:ext uri="{9D8B030D-6E8A-4147-A177-3AD203B41FA5}">
                      <a16:colId xmlns:a16="http://schemas.microsoft.com/office/drawing/2014/main" val="3127766517"/>
                    </a:ext>
                  </a:extLst>
                </a:gridCol>
                <a:gridCol w="421439">
                  <a:extLst>
                    <a:ext uri="{9D8B030D-6E8A-4147-A177-3AD203B41FA5}">
                      <a16:colId xmlns:a16="http://schemas.microsoft.com/office/drawing/2014/main" val="1079368985"/>
                    </a:ext>
                  </a:extLst>
                </a:gridCol>
                <a:gridCol w="421439">
                  <a:extLst>
                    <a:ext uri="{9D8B030D-6E8A-4147-A177-3AD203B41FA5}">
                      <a16:colId xmlns:a16="http://schemas.microsoft.com/office/drawing/2014/main" val="2055185853"/>
                    </a:ext>
                  </a:extLst>
                </a:gridCol>
                <a:gridCol w="467685">
                  <a:extLst>
                    <a:ext uri="{9D8B030D-6E8A-4147-A177-3AD203B41FA5}">
                      <a16:colId xmlns:a16="http://schemas.microsoft.com/office/drawing/2014/main" val="1729000935"/>
                    </a:ext>
                  </a:extLst>
                </a:gridCol>
              </a:tblGrid>
              <a:tr h="40479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2434525574"/>
                  </a:ext>
                </a:extLst>
              </a:tr>
              <a:tr h="40479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2762826904"/>
                  </a:ext>
                </a:extLst>
              </a:tr>
              <a:tr h="40479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3292007555"/>
                  </a:ext>
                </a:extLst>
              </a:tr>
              <a:tr h="40479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3049220472"/>
                  </a:ext>
                </a:extLst>
              </a:tr>
            </a:tbl>
          </a:graphicData>
        </a:graphic>
      </p:graphicFrame>
      <p:sp>
        <p:nvSpPr>
          <p:cNvPr id="11" name="矢印: 左 10">
            <a:extLst>
              <a:ext uri="{FF2B5EF4-FFF2-40B4-BE49-F238E27FC236}">
                <a16:creationId xmlns:a16="http://schemas.microsoft.com/office/drawing/2014/main" id="{03E47CCA-823D-B07C-148E-2FAE79F2DE74}"/>
              </a:ext>
            </a:extLst>
          </p:cNvPr>
          <p:cNvSpPr/>
          <p:nvPr/>
        </p:nvSpPr>
        <p:spPr>
          <a:xfrm>
            <a:off x="9765055" y="3342391"/>
            <a:ext cx="410790" cy="342716"/>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矢印: 上 11">
            <a:extLst>
              <a:ext uri="{FF2B5EF4-FFF2-40B4-BE49-F238E27FC236}">
                <a16:creationId xmlns:a16="http://schemas.microsoft.com/office/drawing/2014/main" id="{4736BCE1-FE8F-9717-B37B-8323F01A327D}"/>
              </a:ext>
            </a:extLst>
          </p:cNvPr>
          <p:cNvSpPr/>
          <p:nvPr/>
        </p:nvSpPr>
        <p:spPr>
          <a:xfrm rot="18532171">
            <a:off x="9733591" y="3883647"/>
            <a:ext cx="413886" cy="461665"/>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3FEB4CAD-B0D6-86C6-E5D1-7891435CBE24}"/>
              </a:ext>
            </a:extLst>
          </p:cNvPr>
          <p:cNvSpPr txBox="1"/>
          <p:nvPr/>
        </p:nvSpPr>
        <p:spPr>
          <a:xfrm>
            <a:off x="585604" y="159173"/>
            <a:ext cx="5618846"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データセット：</a:t>
            </a:r>
            <a:r>
              <a:rPr kumimoji="1" lang="en-US" altLang="ja-JP" sz="3200" dirty="0">
                <a:latin typeface="メイリオ" panose="020B0604030504040204" pitchFamily="50" charset="-128"/>
                <a:ea typeface="メイリオ" panose="020B0604030504040204" pitchFamily="50" charset="-128"/>
              </a:rPr>
              <a:t>1</a:t>
            </a:r>
            <a:r>
              <a:rPr kumimoji="1" lang="ja-JP" altLang="en-US" sz="3200" dirty="0">
                <a:latin typeface="メイリオ" panose="020B0604030504040204" pitchFamily="50" charset="-128"/>
                <a:ea typeface="メイリオ" panose="020B0604030504040204" pitchFamily="50" charset="-128"/>
              </a:rPr>
              <a:t>データを</a:t>
            </a:r>
            <a:r>
              <a:rPr kumimoji="1" lang="en-US" altLang="ja-JP" sz="3200" dirty="0">
                <a:latin typeface="メイリオ" panose="020B0604030504040204" pitchFamily="50" charset="-128"/>
                <a:ea typeface="メイリオ" panose="020B0604030504040204" pitchFamily="50" charset="-128"/>
              </a:rPr>
              <a:t>1</a:t>
            </a:r>
            <a:r>
              <a:rPr kumimoji="1" lang="ja-JP" altLang="en-US" sz="3200" dirty="0">
                <a:latin typeface="メイリオ" panose="020B0604030504040204" pitchFamily="50" charset="-128"/>
                <a:ea typeface="メイリオ" panose="020B0604030504040204" pitchFamily="50" charset="-128"/>
              </a:rPr>
              <a:t>行</a:t>
            </a:r>
          </a:p>
        </p:txBody>
      </p:sp>
      <p:graphicFrame>
        <p:nvGraphicFramePr>
          <p:cNvPr id="14" name="表 13">
            <a:extLst>
              <a:ext uri="{FF2B5EF4-FFF2-40B4-BE49-F238E27FC236}">
                <a16:creationId xmlns:a16="http://schemas.microsoft.com/office/drawing/2014/main" id="{878B5FBA-843C-900A-8170-92E720A3BEE6}"/>
              </a:ext>
            </a:extLst>
          </p:cNvPr>
          <p:cNvGraphicFramePr>
            <a:graphicFrameLocks noGrp="1"/>
          </p:cNvGraphicFramePr>
          <p:nvPr/>
        </p:nvGraphicFramePr>
        <p:xfrm>
          <a:off x="437597" y="3320806"/>
          <a:ext cx="379663" cy="1854200"/>
        </p:xfrm>
        <a:graphic>
          <a:graphicData uri="http://schemas.openxmlformats.org/drawingml/2006/table">
            <a:tbl>
              <a:tblPr firstRow="1" bandRow="1">
                <a:tableStyleId>{5940675A-B579-460E-94D1-54222C63F5DA}</a:tableStyleId>
              </a:tblPr>
              <a:tblGrid>
                <a:gridCol w="379663">
                  <a:extLst>
                    <a:ext uri="{9D8B030D-6E8A-4147-A177-3AD203B41FA5}">
                      <a16:colId xmlns:a16="http://schemas.microsoft.com/office/drawing/2014/main" val="816176744"/>
                    </a:ext>
                  </a:extLst>
                </a:gridCol>
              </a:tblGrid>
              <a:tr h="370840">
                <a:tc>
                  <a:txBody>
                    <a:bodyPr/>
                    <a:lstStyle/>
                    <a:p>
                      <a:r>
                        <a:rPr kumimoji="1" lang="ja-JP" altLang="en-US" dirty="0"/>
                        <a:t>５</a:t>
                      </a:r>
                    </a:p>
                  </a:txBody>
                  <a:tcPr/>
                </a:tc>
                <a:extLst>
                  <a:ext uri="{0D108BD9-81ED-4DB2-BD59-A6C34878D82A}">
                    <a16:rowId xmlns:a16="http://schemas.microsoft.com/office/drawing/2014/main" val="2628316448"/>
                  </a:ext>
                </a:extLst>
              </a:tr>
              <a:tr h="370840">
                <a:tc>
                  <a:txBody>
                    <a:bodyPr/>
                    <a:lstStyle/>
                    <a:p>
                      <a:r>
                        <a:rPr kumimoji="1" lang="ja-JP" altLang="en-US" dirty="0"/>
                        <a:t>２</a:t>
                      </a:r>
                    </a:p>
                  </a:txBody>
                  <a:tcPr/>
                </a:tc>
                <a:extLst>
                  <a:ext uri="{0D108BD9-81ED-4DB2-BD59-A6C34878D82A}">
                    <a16:rowId xmlns:a16="http://schemas.microsoft.com/office/drawing/2014/main" val="1724048641"/>
                  </a:ext>
                </a:extLst>
              </a:tr>
              <a:tr h="370840">
                <a:tc>
                  <a:txBody>
                    <a:bodyPr/>
                    <a:lstStyle/>
                    <a:p>
                      <a:endParaRPr kumimoji="1" lang="ja-JP" altLang="en-US" dirty="0"/>
                    </a:p>
                  </a:txBody>
                  <a:tcPr/>
                </a:tc>
                <a:extLst>
                  <a:ext uri="{0D108BD9-81ED-4DB2-BD59-A6C34878D82A}">
                    <a16:rowId xmlns:a16="http://schemas.microsoft.com/office/drawing/2014/main" val="1335080491"/>
                  </a:ext>
                </a:extLst>
              </a:tr>
              <a:tr h="370840">
                <a:tc>
                  <a:txBody>
                    <a:bodyPr/>
                    <a:lstStyle/>
                    <a:p>
                      <a:endParaRPr kumimoji="1" lang="ja-JP" altLang="en-US" dirty="0"/>
                    </a:p>
                  </a:txBody>
                  <a:tcPr/>
                </a:tc>
                <a:extLst>
                  <a:ext uri="{0D108BD9-81ED-4DB2-BD59-A6C34878D82A}">
                    <a16:rowId xmlns:a16="http://schemas.microsoft.com/office/drawing/2014/main" val="3060768944"/>
                  </a:ext>
                </a:extLst>
              </a:tr>
              <a:tr h="370840">
                <a:tc>
                  <a:txBody>
                    <a:bodyPr/>
                    <a:lstStyle/>
                    <a:p>
                      <a:endParaRPr kumimoji="1" lang="ja-JP" altLang="en-US" dirty="0"/>
                    </a:p>
                  </a:txBody>
                  <a:tcPr/>
                </a:tc>
                <a:extLst>
                  <a:ext uri="{0D108BD9-81ED-4DB2-BD59-A6C34878D82A}">
                    <a16:rowId xmlns:a16="http://schemas.microsoft.com/office/drawing/2014/main" val="105528986"/>
                  </a:ext>
                </a:extLst>
              </a:tr>
            </a:tbl>
          </a:graphicData>
        </a:graphic>
      </p:graphicFrame>
      <p:cxnSp>
        <p:nvCxnSpPr>
          <p:cNvPr id="16" name="直線矢印コネクタ 15">
            <a:extLst>
              <a:ext uri="{FF2B5EF4-FFF2-40B4-BE49-F238E27FC236}">
                <a16:creationId xmlns:a16="http://schemas.microsoft.com/office/drawing/2014/main" id="{4C559532-C46E-B0BF-FC3C-151E4843C6ED}"/>
              </a:ext>
            </a:extLst>
          </p:cNvPr>
          <p:cNvCxnSpPr/>
          <p:nvPr/>
        </p:nvCxnSpPr>
        <p:spPr>
          <a:xfrm>
            <a:off x="1049154" y="3320806"/>
            <a:ext cx="0" cy="2439505"/>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0608DD70-E10C-BEC5-2898-5DFFCB6AA431}"/>
              </a:ext>
            </a:extLst>
          </p:cNvPr>
          <p:cNvSpPr txBox="1"/>
          <p:nvPr/>
        </p:nvSpPr>
        <p:spPr>
          <a:xfrm>
            <a:off x="327692" y="5786681"/>
            <a:ext cx="295465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行方向：データ方向</a:t>
            </a:r>
          </a:p>
        </p:txBody>
      </p:sp>
      <p:cxnSp>
        <p:nvCxnSpPr>
          <p:cNvPr id="21" name="直線矢印コネクタ 20">
            <a:extLst>
              <a:ext uri="{FF2B5EF4-FFF2-40B4-BE49-F238E27FC236}">
                <a16:creationId xmlns:a16="http://schemas.microsoft.com/office/drawing/2014/main" id="{9FFDF15E-F9EC-657A-EE53-F90C3EFBB946}"/>
              </a:ext>
            </a:extLst>
          </p:cNvPr>
          <p:cNvCxnSpPr/>
          <p:nvPr/>
        </p:nvCxnSpPr>
        <p:spPr>
          <a:xfrm>
            <a:off x="1158748" y="2719700"/>
            <a:ext cx="8461836"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テキスト ボックス 21">
            <a:extLst>
              <a:ext uri="{FF2B5EF4-FFF2-40B4-BE49-F238E27FC236}">
                <a16:creationId xmlns:a16="http://schemas.microsoft.com/office/drawing/2014/main" id="{C237E584-25C5-1F58-94B9-ACD1E6FED4D7}"/>
              </a:ext>
            </a:extLst>
          </p:cNvPr>
          <p:cNvSpPr txBox="1"/>
          <p:nvPr/>
        </p:nvSpPr>
        <p:spPr>
          <a:xfrm>
            <a:off x="1049154" y="2315103"/>
            <a:ext cx="2646878"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列方向：次元方向</a:t>
            </a:r>
          </a:p>
        </p:txBody>
      </p:sp>
      <p:sp>
        <p:nvSpPr>
          <p:cNvPr id="23" name="テキスト ボックス 22">
            <a:extLst>
              <a:ext uri="{FF2B5EF4-FFF2-40B4-BE49-F238E27FC236}">
                <a16:creationId xmlns:a16="http://schemas.microsoft.com/office/drawing/2014/main" id="{3B60C32E-EA1C-E021-D15F-B5B29C613000}"/>
              </a:ext>
            </a:extLst>
          </p:cNvPr>
          <p:cNvSpPr txBox="1"/>
          <p:nvPr/>
        </p:nvSpPr>
        <p:spPr>
          <a:xfrm>
            <a:off x="-71296" y="3482034"/>
            <a:ext cx="553998" cy="1631216"/>
          </a:xfrm>
          <a:prstGeom prst="rect">
            <a:avLst/>
          </a:prstGeom>
          <a:noFill/>
        </p:spPr>
        <p:txBody>
          <a:bodyPr vert="eaVert" wrap="none" rtlCol="0">
            <a:spAutoFit/>
          </a:bodyPr>
          <a:lstStyle/>
          <a:p>
            <a:pPr algn="l"/>
            <a:r>
              <a:rPr kumimoji="1" lang="ja-JP" altLang="en-US" sz="2400" dirty="0">
                <a:latin typeface="メイリオ" panose="020B0604030504040204" pitchFamily="50" charset="-128"/>
                <a:ea typeface="メイリオ" panose="020B0604030504040204" pitchFamily="50" charset="-128"/>
              </a:rPr>
              <a:t>教師ラベル</a:t>
            </a:r>
          </a:p>
        </p:txBody>
      </p:sp>
      <p:sp>
        <p:nvSpPr>
          <p:cNvPr id="24" name="テキスト ボックス 23">
            <a:extLst>
              <a:ext uri="{FF2B5EF4-FFF2-40B4-BE49-F238E27FC236}">
                <a16:creationId xmlns:a16="http://schemas.microsoft.com/office/drawing/2014/main" id="{DDB21595-A233-E54E-396E-570229F09DEB}"/>
              </a:ext>
            </a:extLst>
          </p:cNvPr>
          <p:cNvSpPr txBox="1"/>
          <p:nvPr/>
        </p:nvSpPr>
        <p:spPr>
          <a:xfrm>
            <a:off x="4821710" y="5673615"/>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特徴量</a:t>
            </a:r>
          </a:p>
        </p:txBody>
      </p:sp>
      <p:sp>
        <p:nvSpPr>
          <p:cNvPr id="25" name="左中かっこ 24">
            <a:extLst>
              <a:ext uri="{FF2B5EF4-FFF2-40B4-BE49-F238E27FC236}">
                <a16:creationId xmlns:a16="http://schemas.microsoft.com/office/drawing/2014/main" id="{D21EFE90-BA77-D14A-E01D-D8A78994137C}"/>
              </a:ext>
            </a:extLst>
          </p:cNvPr>
          <p:cNvSpPr/>
          <p:nvPr/>
        </p:nvSpPr>
        <p:spPr>
          <a:xfrm rot="16200000">
            <a:off x="5144876" y="1388988"/>
            <a:ext cx="461664" cy="810759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2006644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B982885-C608-EFA5-0341-CCDB3333D1BB}"/>
              </a:ext>
            </a:extLst>
          </p:cNvPr>
          <p:cNvSpPr txBox="1"/>
          <p:nvPr/>
        </p:nvSpPr>
        <p:spPr>
          <a:xfrm>
            <a:off x="546006" y="1995131"/>
            <a:ext cx="10808218" cy="1569660"/>
          </a:xfrm>
          <a:prstGeom prst="rect">
            <a:avLst/>
          </a:prstGeom>
          <a:noFill/>
        </p:spPr>
        <p:txBody>
          <a:bodyPr wrap="square" rtlCol="0">
            <a:spAutoFit/>
          </a:bodyPr>
          <a:lstStyle/>
          <a:p>
            <a:pPr marL="342900" indent="-342900">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行列の各行が</a:t>
            </a:r>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組のデータ（サンプルデータ、データポイント）</a:t>
            </a:r>
            <a:endParaRPr kumimoji="1"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データの</a:t>
            </a:r>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単位は、教師ラベル　＋　特徴量　からなる</a:t>
            </a:r>
            <a:endParaRPr kumimoji="1"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学習のために入力するデータ（つまり上記の行列全体）を訓練データ、トレーニングデータと呼ぶ</a:t>
            </a:r>
          </a:p>
        </p:txBody>
      </p:sp>
      <p:sp>
        <p:nvSpPr>
          <p:cNvPr id="4" name="テキスト ボックス 3">
            <a:extLst>
              <a:ext uri="{FF2B5EF4-FFF2-40B4-BE49-F238E27FC236}">
                <a16:creationId xmlns:a16="http://schemas.microsoft.com/office/drawing/2014/main" id="{1FF09EA1-EA9E-3B20-16A0-11B583548C8A}"/>
              </a:ext>
            </a:extLst>
          </p:cNvPr>
          <p:cNvSpPr txBox="1"/>
          <p:nvPr/>
        </p:nvSpPr>
        <p:spPr>
          <a:xfrm>
            <a:off x="595745" y="637309"/>
            <a:ext cx="4288353"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データセットは表形式</a:t>
            </a:r>
          </a:p>
        </p:txBody>
      </p:sp>
    </p:spTree>
    <p:extLst>
      <p:ext uri="{BB962C8B-B14F-4D97-AF65-F5344CB8AC3E}">
        <p14:creationId xmlns:p14="http://schemas.microsoft.com/office/powerpoint/2010/main" val="2578919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321062A-6172-CDD0-FCAA-E3CB26629B51}"/>
              </a:ext>
            </a:extLst>
          </p:cNvPr>
          <p:cNvSpPr txBox="1"/>
          <p:nvPr/>
        </p:nvSpPr>
        <p:spPr>
          <a:xfrm>
            <a:off x="567891" y="712269"/>
            <a:ext cx="3467616"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なぜ表形式なのか</a:t>
            </a:r>
          </a:p>
        </p:txBody>
      </p:sp>
      <p:sp>
        <p:nvSpPr>
          <p:cNvPr id="5" name="テキスト ボックス 4">
            <a:extLst>
              <a:ext uri="{FF2B5EF4-FFF2-40B4-BE49-F238E27FC236}">
                <a16:creationId xmlns:a16="http://schemas.microsoft.com/office/drawing/2014/main" id="{4703C435-9F7A-00B3-8CD9-5488F1847D1D}"/>
              </a:ext>
            </a:extLst>
          </p:cNvPr>
          <p:cNvSpPr txBox="1"/>
          <p:nvPr/>
        </p:nvSpPr>
        <p:spPr>
          <a:xfrm>
            <a:off x="807078" y="1297044"/>
            <a:ext cx="7417415" cy="1938992"/>
          </a:xfrm>
          <a:prstGeom prst="rect">
            <a:avLst/>
          </a:prstGeom>
          <a:noFill/>
        </p:spPr>
        <p:txBody>
          <a:bodyPr wrap="none" rtlCol="0">
            <a:spAutoFit/>
          </a:bodyPr>
          <a:lstStyle/>
          <a:p>
            <a:pPr marL="457200" indent="-457200" algn="l">
              <a:buFont typeface="+mj-lt"/>
              <a:buAutoNum type="arabicPeriod"/>
            </a:pPr>
            <a:r>
              <a:rPr lang="ja-JP" altLang="en-US" sz="2400" dirty="0">
                <a:latin typeface="メイリオ" panose="020B0604030504040204" pitchFamily="50" charset="-128"/>
                <a:ea typeface="メイリオ" panose="020B0604030504040204" pitchFamily="50" charset="-128"/>
              </a:rPr>
              <a:t>連立方程式から解を解けるから</a:t>
            </a:r>
            <a:endParaRPr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lang="ja-JP" altLang="en-US" sz="2400" dirty="0">
                <a:latin typeface="メイリオ" panose="020B0604030504040204" pitchFamily="50" charset="-128"/>
                <a:ea typeface="メイリオ" panose="020B0604030504040204" pitchFamily="50" charset="-128"/>
              </a:rPr>
              <a:t>データ間の類似度、相違度を距離計算できるから</a:t>
            </a:r>
            <a:endParaRPr lang="en-US" altLang="ja-JP" sz="24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400" dirty="0">
                <a:latin typeface="メイリオ" panose="020B0604030504040204" pitchFamily="50" charset="-128"/>
                <a:ea typeface="メイリオ" panose="020B0604030504040204" pitchFamily="50" charset="-128"/>
              </a:rPr>
              <a:t>大規模高速計算にむいているから</a:t>
            </a:r>
            <a:endParaRPr lang="en-US" altLang="ja-JP" sz="2400" dirty="0">
              <a:latin typeface="メイリオ" panose="020B0604030504040204" pitchFamily="50" charset="-128"/>
              <a:ea typeface="メイリオ" panose="020B0604030504040204" pitchFamily="50" charset="-128"/>
            </a:endParaRPr>
          </a:p>
          <a:p>
            <a:pPr marL="457200" indent="-457200">
              <a:buFont typeface="+mj-lt"/>
              <a:buAutoNum type="arabicPeriod"/>
            </a:pPr>
            <a:r>
              <a:rPr lang="ja-JP" altLang="en-US" sz="2400" b="1" dirty="0">
                <a:latin typeface="メイリオ" panose="020B0604030504040204" pitchFamily="50" charset="-128"/>
                <a:ea typeface="メイリオ" panose="020B0604030504040204" pitchFamily="50" charset="-128"/>
              </a:rPr>
              <a:t>行列計算ができるから</a:t>
            </a:r>
            <a:endParaRPr lang="en-US" altLang="ja-JP" sz="2400" b="1" dirty="0">
              <a:latin typeface="メイリオ" panose="020B0604030504040204" pitchFamily="50" charset="-128"/>
              <a:ea typeface="メイリオ" panose="020B0604030504040204" pitchFamily="50" charset="-128"/>
            </a:endParaRPr>
          </a:p>
          <a:p>
            <a:pPr marL="457200" indent="-457200" algn="l">
              <a:buFont typeface="+mj-lt"/>
              <a:buAutoNum type="arabicPeriod"/>
            </a:pPr>
            <a:endParaRPr kumimoji="1" lang="ja-JP" altLang="en-US" sz="2400" dirty="0">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58782C85-CF6E-48D0-1D2D-83710F361F08}"/>
              </a:ext>
            </a:extLst>
          </p:cNvPr>
          <p:cNvSpPr txBox="1"/>
          <p:nvPr/>
        </p:nvSpPr>
        <p:spPr>
          <a:xfrm>
            <a:off x="567891" y="3529632"/>
            <a:ext cx="5109091"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プログラミングとの関連性</a:t>
            </a:r>
          </a:p>
        </p:txBody>
      </p:sp>
      <p:sp>
        <p:nvSpPr>
          <p:cNvPr id="3" name="テキスト ボックス 2">
            <a:extLst>
              <a:ext uri="{FF2B5EF4-FFF2-40B4-BE49-F238E27FC236}">
                <a16:creationId xmlns:a16="http://schemas.microsoft.com/office/drawing/2014/main" id="{BA85BFC6-CB2D-2AF1-7BF4-1FD5B8850642}"/>
              </a:ext>
            </a:extLst>
          </p:cNvPr>
          <p:cNvSpPr txBox="1"/>
          <p:nvPr/>
        </p:nvSpPr>
        <p:spPr>
          <a:xfrm>
            <a:off x="838112" y="4308765"/>
            <a:ext cx="4139338" cy="1200329"/>
          </a:xfrm>
          <a:prstGeom prst="rect">
            <a:avLst/>
          </a:prstGeom>
          <a:noFill/>
        </p:spPr>
        <p:txBody>
          <a:bodyPr wrap="none" rtlCol="0">
            <a:spAutoFit/>
          </a:bodyPr>
          <a:lstStyle/>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2</a:t>
            </a:r>
            <a:r>
              <a:rPr kumimoji="1" lang="ja-JP" altLang="en-US" sz="2400" dirty="0">
                <a:latin typeface="メイリオ" panose="020B0604030504040204" pitchFamily="50" charset="-128"/>
                <a:ea typeface="メイリオ" panose="020B0604030504040204" pitchFamily="50" charset="-128"/>
              </a:rPr>
              <a:t>次元配列</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見出しなし：</a:t>
            </a:r>
            <a:r>
              <a:rPr kumimoji="1" lang="en-US" altLang="ja-JP" sz="2400" dirty="0" err="1">
                <a:latin typeface="メイリオ" panose="020B0604030504040204" pitchFamily="50" charset="-128"/>
                <a:ea typeface="メイリオ" panose="020B0604030504040204" pitchFamily="50" charset="-128"/>
              </a:rPr>
              <a:t>numpy</a:t>
            </a:r>
            <a:r>
              <a:rPr kumimoji="1" lang="en-US" altLang="ja-JP" sz="2400" dirty="0">
                <a:latin typeface="メイリオ" panose="020B0604030504040204" pitchFamily="50" charset="-128"/>
                <a:ea typeface="メイリオ" panose="020B0604030504040204" pitchFamily="50" charset="-128"/>
              </a:rPr>
              <a:t>, list</a:t>
            </a: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見出しあり：</a:t>
            </a:r>
            <a:r>
              <a:rPr kumimoji="1" lang="en-US" altLang="ja-JP" sz="2400" dirty="0" err="1">
                <a:latin typeface="メイリオ" panose="020B0604030504040204" pitchFamily="50" charset="-128"/>
                <a:ea typeface="メイリオ" panose="020B0604030504040204" pitchFamily="50" charset="-128"/>
              </a:rPr>
              <a:t>DataFrame</a:t>
            </a:r>
            <a:endParaRPr kumimoji="1" lang="ja-JP" altLang="en-US" sz="2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18034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6AF56C0-28E4-4946-2396-C0FA8C0C721E}"/>
              </a:ext>
            </a:extLst>
          </p:cNvPr>
          <p:cNvSpPr txBox="1"/>
          <p:nvPr/>
        </p:nvSpPr>
        <p:spPr>
          <a:xfrm>
            <a:off x="362251" y="157392"/>
            <a:ext cx="4322017"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データセットと</a:t>
            </a:r>
            <a:r>
              <a:rPr kumimoji="1" lang="en-US" altLang="ja-JP" sz="3200" dirty="0">
                <a:latin typeface="メイリオ" panose="020B0604030504040204" pitchFamily="50" charset="-128"/>
                <a:ea typeface="メイリオ" panose="020B0604030504040204" pitchFamily="50" charset="-128"/>
              </a:rPr>
              <a:t>AI</a:t>
            </a:r>
            <a:r>
              <a:rPr kumimoji="1" lang="ja-JP" altLang="en-US" sz="3200" dirty="0">
                <a:latin typeface="メイリオ" panose="020B0604030504040204" pitchFamily="50" charset="-128"/>
                <a:ea typeface="メイリオ" panose="020B0604030504040204" pitchFamily="50" charset="-128"/>
              </a:rPr>
              <a:t>実行</a:t>
            </a:r>
          </a:p>
        </p:txBody>
      </p:sp>
      <p:sp>
        <p:nvSpPr>
          <p:cNvPr id="5" name="テキスト ボックス 4">
            <a:extLst>
              <a:ext uri="{FF2B5EF4-FFF2-40B4-BE49-F238E27FC236}">
                <a16:creationId xmlns:a16="http://schemas.microsoft.com/office/drawing/2014/main" id="{F3078FB4-BCA3-B7FA-E255-670636991443}"/>
              </a:ext>
            </a:extLst>
          </p:cNvPr>
          <p:cNvSpPr txBox="1"/>
          <p:nvPr/>
        </p:nvSpPr>
        <p:spPr>
          <a:xfrm>
            <a:off x="394855" y="1326624"/>
            <a:ext cx="10460364" cy="2308324"/>
          </a:xfrm>
          <a:prstGeom prst="rect">
            <a:avLst/>
          </a:prstGeom>
          <a:noFill/>
        </p:spPr>
        <p:txBody>
          <a:bodyPr wrap="none" rtlCol="0">
            <a:spAutoFit/>
          </a:bodyPr>
          <a:lstStyle/>
          <a:p>
            <a:pPr marL="457200" indent="-457200">
              <a:buFont typeface="+mj-lt"/>
              <a:buAutoNum type="arabicPeriod"/>
            </a:pPr>
            <a:r>
              <a:rPr kumimoji="1" lang="ja-JP" altLang="en-US" sz="2400" dirty="0">
                <a:latin typeface="メイリオ" panose="020B0604030504040204" pitchFamily="50" charset="-128"/>
                <a:ea typeface="メイリオ" panose="020B0604030504040204" pitchFamily="50" charset="-128"/>
              </a:rPr>
              <a:t>手書き数字のデータセットを</a:t>
            </a:r>
            <a:r>
              <a:rPr kumimoji="1" lang="en-US" altLang="ja-JP" sz="2400" dirty="0">
                <a:latin typeface="メイリオ" panose="020B0604030504040204" pitchFamily="50" charset="-128"/>
                <a:ea typeface="メイリオ" panose="020B0604030504040204" pitchFamily="50" charset="-128"/>
              </a:rPr>
              <a:t>csv</a:t>
            </a:r>
            <a:r>
              <a:rPr kumimoji="1" lang="ja-JP" altLang="en-US" sz="2400" dirty="0">
                <a:latin typeface="メイリオ" panose="020B0604030504040204" pitchFamily="50" charset="-128"/>
                <a:ea typeface="メイリオ" panose="020B0604030504040204" pitchFamily="50" charset="-128"/>
              </a:rPr>
              <a:t>にしたもの </a:t>
            </a:r>
            <a:r>
              <a:rPr kumimoji="1" lang="en-US" altLang="ja-JP" sz="2400" dirty="0">
                <a:latin typeface="メイリオ" panose="020B0604030504040204" pitchFamily="50" charset="-128"/>
                <a:ea typeface="メイリオ" panose="020B0604030504040204" pitchFamily="50" charset="-128"/>
              </a:rPr>
              <a:t>: </a:t>
            </a:r>
            <a:r>
              <a:rPr lang="en-US" altLang="ja-JP" sz="2400" dirty="0">
                <a:latin typeface="メイリオ" panose="020B0604030504040204" pitchFamily="50" charset="-128"/>
                <a:ea typeface="メイリオ" panose="020B0604030504040204" pitchFamily="50" charset="-128"/>
              </a:rPr>
              <a:t>mnist_train_10000.csv</a:t>
            </a:r>
          </a:p>
          <a:p>
            <a:pPr marL="457200" indent="-457200">
              <a:buFont typeface="+mj-lt"/>
              <a:buAutoNum type="arabicPeriod"/>
            </a:pPr>
            <a:r>
              <a:rPr lang="en-US" altLang="ja-JP" sz="2400" dirty="0">
                <a:latin typeface="メイリオ" panose="020B0604030504040204" pitchFamily="50" charset="-128"/>
                <a:ea typeface="メイリオ" panose="020B0604030504040204" pitchFamily="50" charset="-128"/>
              </a:rPr>
              <a:t>Pixel : 28 × 28</a:t>
            </a:r>
          </a:p>
          <a:p>
            <a:pPr marL="457200" indent="-457200">
              <a:buFont typeface="+mj-lt"/>
              <a:buAutoNum type="arabicPeriod"/>
            </a:pPr>
            <a:r>
              <a:rPr kumimoji="1" lang="ja-JP" altLang="en-US" sz="2400" dirty="0">
                <a:latin typeface="メイリオ" panose="020B0604030504040204" pitchFamily="50" charset="-128"/>
                <a:ea typeface="メイリオ" panose="020B0604030504040204" pitchFamily="50" charset="-128"/>
              </a:rPr>
              <a:t>開いて前頁のレイアウトになっていることを確認する</a:t>
            </a:r>
            <a:endParaRPr kumimoji="1" lang="en-US" altLang="ja-JP" sz="2400" dirty="0">
              <a:latin typeface="メイリオ" panose="020B0604030504040204" pitchFamily="50" charset="-128"/>
              <a:ea typeface="メイリオ" panose="020B0604030504040204" pitchFamily="50" charset="-128"/>
            </a:endParaRPr>
          </a:p>
          <a:p>
            <a:pPr marL="914400" lvl="1" indent="-457200">
              <a:buFont typeface="+mj-lt"/>
              <a:buAutoNum type="alphaLcPeriod"/>
            </a:pPr>
            <a:r>
              <a:rPr kumimoji="1" lang="ja-JP" altLang="en-US" sz="2400" dirty="0">
                <a:latin typeface="メイリオ" panose="020B0604030504040204" pitchFamily="50" charset="-128"/>
                <a:ea typeface="メイリオ" panose="020B0604030504040204" pitchFamily="50" charset="-128"/>
              </a:rPr>
              <a:t>　</a:t>
            </a:r>
            <a:r>
              <a:rPr kumimoji="1" lang="en-US" altLang="ja-JP" sz="2400" dirty="0">
                <a:latin typeface="メイリオ" panose="020B0604030504040204" pitchFamily="50" charset="-128"/>
                <a:ea typeface="メイリオ" panose="020B0604030504040204" pitchFamily="50" charset="-128"/>
              </a:rPr>
              <a:t>1</a:t>
            </a:r>
            <a:r>
              <a:rPr kumimoji="1" lang="ja-JP" altLang="en-US" sz="2400" dirty="0">
                <a:latin typeface="メイリオ" panose="020B0604030504040204" pitchFamily="50" charset="-128"/>
                <a:ea typeface="メイリオ" panose="020B0604030504040204" pitchFamily="50" charset="-128"/>
              </a:rPr>
              <a:t>列目は何か</a:t>
            </a:r>
            <a:endParaRPr kumimoji="1" lang="en-US" altLang="ja-JP" sz="2400" dirty="0">
              <a:latin typeface="メイリオ" panose="020B0604030504040204" pitchFamily="50" charset="-128"/>
              <a:ea typeface="メイリオ" panose="020B0604030504040204" pitchFamily="50" charset="-128"/>
            </a:endParaRPr>
          </a:p>
          <a:p>
            <a:pPr marL="914400" lvl="1" indent="-457200">
              <a:buFont typeface="+mj-lt"/>
              <a:buAutoNum type="alphaLcPeriod"/>
            </a:pPr>
            <a:r>
              <a:rPr kumimoji="1" lang="ja-JP" altLang="en-US" sz="2400" dirty="0">
                <a:latin typeface="メイリオ" panose="020B0604030504040204" pitchFamily="50" charset="-128"/>
                <a:ea typeface="メイリオ" panose="020B0604030504040204" pitchFamily="50" charset="-128"/>
              </a:rPr>
              <a:t>　</a:t>
            </a:r>
            <a:r>
              <a:rPr kumimoji="1" lang="en-US" altLang="ja-JP" sz="2400" dirty="0">
                <a:latin typeface="メイリオ" panose="020B0604030504040204" pitchFamily="50" charset="-128"/>
                <a:ea typeface="メイリオ" panose="020B0604030504040204" pitchFamily="50" charset="-128"/>
              </a:rPr>
              <a:t>2</a:t>
            </a:r>
            <a:r>
              <a:rPr kumimoji="1" lang="ja-JP" altLang="en-US" sz="2400" dirty="0">
                <a:latin typeface="メイリオ" panose="020B0604030504040204" pitchFamily="50" charset="-128"/>
                <a:ea typeface="メイリオ" panose="020B0604030504040204" pitchFamily="50" charset="-128"/>
              </a:rPr>
              <a:t>列目以降は何列あるか</a:t>
            </a:r>
            <a:endParaRPr kumimoji="1" lang="en-US" altLang="ja-JP" sz="2400" dirty="0">
              <a:latin typeface="メイリオ" panose="020B0604030504040204" pitchFamily="50" charset="-128"/>
              <a:ea typeface="メイリオ" panose="020B0604030504040204" pitchFamily="50" charset="-128"/>
            </a:endParaRPr>
          </a:p>
          <a:p>
            <a:pPr marL="914400" lvl="1" indent="-457200">
              <a:buFont typeface="+mj-lt"/>
              <a:buAutoNum type="alphaLcPeriod"/>
            </a:pPr>
            <a:r>
              <a:rPr kumimoji="1" lang="en-US" altLang="ja-JP" sz="2400" dirty="0">
                <a:latin typeface="メイリオ" panose="020B0604030504040204" pitchFamily="50" charset="-128"/>
                <a:ea typeface="メイリオ" panose="020B0604030504040204" pitchFamily="50" charset="-128"/>
              </a:rPr>
              <a:t>   </a:t>
            </a:r>
            <a:r>
              <a:rPr kumimoji="1" lang="ja-JP" altLang="en-US" sz="2400" dirty="0">
                <a:latin typeface="メイリオ" panose="020B0604030504040204" pitchFamily="50" charset="-128"/>
                <a:ea typeface="メイリオ" panose="020B0604030504040204" pitchFamily="50" charset="-128"/>
              </a:rPr>
              <a:t>全部で何行か</a:t>
            </a:r>
          </a:p>
        </p:txBody>
      </p:sp>
      <p:sp>
        <p:nvSpPr>
          <p:cNvPr id="6" name="テキスト ボックス 5">
            <a:extLst>
              <a:ext uri="{FF2B5EF4-FFF2-40B4-BE49-F238E27FC236}">
                <a16:creationId xmlns:a16="http://schemas.microsoft.com/office/drawing/2014/main" id="{6C5E9508-9EA6-721A-8CC5-E5B8653223D8}"/>
              </a:ext>
            </a:extLst>
          </p:cNvPr>
          <p:cNvSpPr txBox="1"/>
          <p:nvPr/>
        </p:nvSpPr>
        <p:spPr>
          <a:xfrm>
            <a:off x="394855" y="803563"/>
            <a:ext cx="2866490" cy="461665"/>
          </a:xfrm>
          <a:prstGeom prst="rect">
            <a:avLst/>
          </a:prstGeom>
          <a:noFill/>
        </p:spPr>
        <p:txBody>
          <a:bodyPr wrap="none" rtlCol="0">
            <a:spAutoFit/>
          </a:bodyPr>
          <a:lstStyle/>
          <a:p>
            <a:pPr algn="l"/>
            <a:r>
              <a:rPr kumimoji="1" lang="en-US" altLang="ja-JP" sz="2400" u="sng" dirty="0" err="1">
                <a:latin typeface="メイリオ" panose="020B0604030504040204" pitchFamily="50" charset="-128"/>
                <a:ea typeface="メイリオ" panose="020B0604030504040204" pitchFamily="50" charset="-128"/>
              </a:rPr>
              <a:t>mnist</a:t>
            </a:r>
            <a:r>
              <a:rPr kumimoji="1" lang="ja-JP" altLang="en-US" sz="2400" u="sng" dirty="0">
                <a:latin typeface="メイリオ" panose="020B0604030504040204" pitchFamily="50" charset="-128"/>
                <a:ea typeface="メイリオ" panose="020B0604030504040204" pitchFamily="50" charset="-128"/>
              </a:rPr>
              <a:t>データセット</a:t>
            </a:r>
          </a:p>
        </p:txBody>
      </p:sp>
      <p:sp>
        <p:nvSpPr>
          <p:cNvPr id="7" name="テキスト ボックス 6">
            <a:extLst>
              <a:ext uri="{FF2B5EF4-FFF2-40B4-BE49-F238E27FC236}">
                <a16:creationId xmlns:a16="http://schemas.microsoft.com/office/drawing/2014/main" id="{9BC6DB1B-166F-53E1-7C11-175D46C23604}"/>
              </a:ext>
            </a:extLst>
          </p:cNvPr>
          <p:cNvSpPr txBox="1"/>
          <p:nvPr/>
        </p:nvSpPr>
        <p:spPr>
          <a:xfrm>
            <a:off x="309094" y="3737255"/>
            <a:ext cx="4493538" cy="461665"/>
          </a:xfrm>
          <a:prstGeom prst="rect">
            <a:avLst/>
          </a:prstGeom>
          <a:noFill/>
        </p:spPr>
        <p:txBody>
          <a:bodyPr wrap="none" rtlCol="0">
            <a:spAutoFit/>
          </a:bodyPr>
          <a:lstStyle/>
          <a:p>
            <a:pPr algn="l"/>
            <a:r>
              <a:rPr kumimoji="1" lang="ja-JP" altLang="en-US" sz="2400" u="sng" dirty="0">
                <a:latin typeface="メイリオ" panose="020B0604030504040204" pitchFamily="50" charset="-128"/>
                <a:ea typeface="メイリオ" panose="020B0604030504040204" pitchFamily="50" charset="-128"/>
              </a:rPr>
              <a:t>ニューラルネットワークの実行</a:t>
            </a:r>
          </a:p>
        </p:txBody>
      </p:sp>
      <p:sp>
        <p:nvSpPr>
          <p:cNvPr id="8" name="テキスト ボックス 7">
            <a:extLst>
              <a:ext uri="{FF2B5EF4-FFF2-40B4-BE49-F238E27FC236}">
                <a16:creationId xmlns:a16="http://schemas.microsoft.com/office/drawing/2014/main" id="{6B5ABB47-577D-C477-E4D1-605679720EB4}"/>
              </a:ext>
            </a:extLst>
          </p:cNvPr>
          <p:cNvSpPr txBox="1"/>
          <p:nvPr/>
        </p:nvSpPr>
        <p:spPr>
          <a:xfrm>
            <a:off x="362251" y="4198920"/>
            <a:ext cx="10755154" cy="1569660"/>
          </a:xfrm>
          <a:prstGeom prst="rect">
            <a:avLst/>
          </a:prstGeom>
          <a:noFill/>
        </p:spPr>
        <p:txBody>
          <a:bodyPr wrap="square" rtlCol="0">
            <a:spAutoFit/>
          </a:bodyPr>
          <a:lstStyle/>
          <a:p>
            <a:pPr marL="457200" indent="-457200" algn="l">
              <a:buFont typeface="+mj-lt"/>
              <a:buAutoNum type="arabicPeriod"/>
            </a:pPr>
            <a:r>
              <a:rPr kumimoji="1" lang="en-US" altLang="ja-JP" sz="2400" dirty="0" err="1">
                <a:latin typeface="メイリオ" panose="020B0604030504040204" pitchFamily="50" charset="-128"/>
                <a:ea typeface="メイリオ" panose="020B0604030504040204" pitchFamily="50" charset="-128"/>
              </a:rPr>
              <a:t>Neural.ipynb</a:t>
            </a:r>
            <a:r>
              <a:rPr kumimoji="1" lang="ja-JP" altLang="en-US" sz="2400" dirty="0">
                <a:latin typeface="メイリオ" panose="020B0604030504040204" pitchFamily="50" charset="-128"/>
                <a:ea typeface="メイリオ" panose="020B0604030504040204" pitchFamily="50" charset="-128"/>
              </a:rPr>
              <a:t>を実行</a:t>
            </a:r>
            <a:endParaRPr kumimoji="1" lang="en-US" altLang="ja-JP" sz="2400" dirty="0">
              <a:latin typeface="メイリオ" panose="020B0604030504040204" pitchFamily="50" charset="-128"/>
              <a:ea typeface="メイリオ" panose="020B0604030504040204" pitchFamily="50" charset="-128"/>
            </a:endParaRPr>
          </a:p>
          <a:p>
            <a:pPr marL="457200" indent="-457200">
              <a:buFont typeface="+mj-lt"/>
              <a:buAutoNum type="arabicPeriod"/>
            </a:pPr>
            <a:r>
              <a:rPr kumimoji="1" lang="ja-JP" altLang="en-US" sz="2400" dirty="0">
                <a:latin typeface="メイリオ" panose="020B0604030504040204" pitchFamily="50" charset="-128"/>
                <a:ea typeface="メイリオ" panose="020B0604030504040204" pitchFamily="50" charset="-128"/>
              </a:rPr>
              <a:t>どこかで</a:t>
            </a:r>
            <a:r>
              <a:rPr lang="en-US" altLang="ja-JP" sz="2400" dirty="0">
                <a:latin typeface="メイリオ" panose="020B0604030504040204" pitchFamily="50" charset="-128"/>
                <a:ea typeface="メイリオ" panose="020B0604030504040204" pitchFamily="50" charset="-128"/>
              </a:rPr>
              <a:t>mnist_train_10000.csv</a:t>
            </a:r>
            <a:r>
              <a:rPr lang="ja-JP" altLang="en-US" sz="2400" dirty="0">
                <a:latin typeface="メイリオ" panose="020B0604030504040204" pitchFamily="50" charset="-128"/>
                <a:ea typeface="メイリオ" panose="020B0604030504040204" pitchFamily="50" charset="-128"/>
              </a:rPr>
              <a:t>を読み込んで</a:t>
            </a:r>
            <a:r>
              <a:rPr kumimoji="1" lang="ja-JP" altLang="en-US" sz="2400" dirty="0">
                <a:latin typeface="メイリオ" panose="020B0604030504040204" pitchFamily="50" charset="-128"/>
                <a:ea typeface="メイリオ" panose="020B0604030504040204" pitchFamily="50" charset="-128"/>
              </a:rPr>
              <a:t>特徴量と教師データのペアを入力しているはず。どこだかわかるだろうか</a:t>
            </a:r>
            <a:endParaRPr kumimoji="1" lang="en-US" altLang="ja-JP" sz="2400" dirty="0">
              <a:latin typeface="メイリオ" panose="020B0604030504040204" pitchFamily="50" charset="-128"/>
              <a:ea typeface="メイリオ" panose="020B0604030504040204" pitchFamily="50" charset="-128"/>
            </a:endParaRPr>
          </a:p>
          <a:p>
            <a:pPr marL="457200" indent="-457200">
              <a:buFont typeface="+mj-lt"/>
              <a:buAutoNum type="arabicPeriod"/>
            </a:pPr>
            <a:r>
              <a:rPr kumimoji="1" lang="ja-JP" altLang="en-US" sz="2400" dirty="0">
                <a:latin typeface="メイリオ" panose="020B0604030504040204" pitchFamily="50" charset="-128"/>
                <a:ea typeface="メイリオ" panose="020B0604030504040204" pitchFamily="50" charset="-128"/>
              </a:rPr>
              <a:t>学習が終了すると以下のように表示される</a:t>
            </a:r>
          </a:p>
        </p:txBody>
      </p:sp>
      <p:pic>
        <p:nvPicPr>
          <p:cNvPr id="10" name="図 9">
            <a:extLst>
              <a:ext uri="{FF2B5EF4-FFF2-40B4-BE49-F238E27FC236}">
                <a16:creationId xmlns:a16="http://schemas.microsoft.com/office/drawing/2014/main" id="{099F1D8D-8809-1950-ECAC-4C627B659C70}"/>
              </a:ext>
            </a:extLst>
          </p:cNvPr>
          <p:cNvPicPr>
            <a:picLocks noChangeAspect="1"/>
          </p:cNvPicPr>
          <p:nvPr/>
        </p:nvPicPr>
        <p:blipFill>
          <a:blip r:embed="rId2"/>
          <a:stretch>
            <a:fillRect/>
          </a:stretch>
        </p:blipFill>
        <p:spPr>
          <a:xfrm>
            <a:off x="1828100" y="5768580"/>
            <a:ext cx="7188569" cy="990651"/>
          </a:xfrm>
          <a:prstGeom prst="rect">
            <a:avLst/>
          </a:prstGeom>
        </p:spPr>
      </p:pic>
    </p:spTree>
    <p:extLst>
      <p:ext uri="{BB962C8B-B14F-4D97-AF65-F5344CB8AC3E}">
        <p14:creationId xmlns:p14="http://schemas.microsoft.com/office/powerpoint/2010/main" val="691889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8A4DCE4-303D-1C86-6EE5-03CD54897DC1}"/>
              </a:ext>
            </a:extLst>
          </p:cNvPr>
          <p:cNvSpPr txBox="1"/>
          <p:nvPr/>
        </p:nvSpPr>
        <p:spPr>
          <a:xfrm>
            <a:off x="379620" y="194881"/>
            <a:ext cx="3877985"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これは何でしょう？</a:t>
            </a:r>
          </a:p>
        </p:txBody>
      </p:sp>
      <p:pic>
        <p:nvPicPr>
          <p:cNvPr id="6" name="図 5">
            <a:extLst>
              <a:ext uri="{FF2B5EF4-FFF2-40B4-BE49-F238E27FC236}">
                <a16:creationId xmlns:a16="http://schemas.microsoft.com/office/drawing/2014/main" id="{A2F28365-DAAA-820F-CDA9-9E815D0F4392}"/>
              </a:ext>
            </a:extLst>
          </p:cNvPr>
          <p:cNvPicPr>
            <a:picLocks noChangeAspect="1"/>
          </p:cNvPicPr>
          <p:nvPr/>
        </p:nvPicPr>
        <p:blipFill>
          <a:blip r:embed="rId2"/>
          <a:stretch>
            <a:fillRect/>
          </a:stretch>
        </p:blipFill>
        <p:spPr>
          <a:xfrm>
            <a:off x="379620" y="1377537"/>
            <a:ext cx="11234214" cy="5300353"/>
          </a:xfrm>
          <a:prstGeom prst="rect">
            <a:avLst/>
          </a:prstGeom>
        </p:spPr>
      </p:pic>
      <p:sp>
        <p:nvSpPr>
          <p:cNvPr id="7" name="テキスト ボックス 6">
            <a:extLst>
              <a:ext uri="{FF2B5EF4-FFF2-40B4-BE49-F238E27FC236}">
                <a16:creationId xmlns:a16="http://schemas.microsoft.com/office/drawing/2014/main" id="{4DC29779-B455-B72C-BB94-87D939CA1FA2}"/>
              </a:ext>
            </a:extLst>
          </p:cNvPr>
          <p:cNvSpPr txBox="1"/>
          <p:nvPr/>
        </p:nvSpPr>
        <p:spPr>
          <a:xfrm>
            <a:off x="379620" y="779656"/>
            <a:ext cx="9264075" cy="830997"/>
          </a:xfrm>
          <a:prstGeom prst="rect">
            <a:avLst/>
          </a:prstGeom>
          <a:noFill/>
        </p:spPr>
        <p:txBody>
          <a:bodyPr wrap="non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学習がおわったあと、何をやっているか</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これは学習ではない。学習回数を大きくすると精度が向上する</a:t>
            </a:r>
          </a:p>
        </p:txBody>
      </p:sp>
    </p:spTree>
    <p:extLst>
      <p:ext uri="{BB962C8B-B14F-4D97-AF65-F5344CB8AC3E}">
        <p14:creationId xmlns:p14="http://schemas.microsoft.com/office/powerpoint/2010/main" val="2410368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53EC30DD-F6C6-ABAA-EDAC-60A3641D7C19}"/>
              </a:ext>
            </a:extLst>
          </p:cNvPr>
          <p:cNvSpPr/>
          <p:nvPr/>
        </p:nvSpPr>
        <p:spPr>
          <a:xfrm>
            <a:off x="6096000" y="1596405"/>
            <a:ext cx="2659772" cy="1660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5" name="表 4">
            <a:extLst>
              <a:ext uri="{FF2B5EF4-FFF2-40B4-BE49-F238E27FC236}">
                <a16:creationId xmlns:a16="http://schemas.microsoft.com/office/drawing/2014/main" id="{06FF7FD8-7418-A9B9-C94E-34EC9033031A}"/>
              </a:ext>
            </a:extLst>
          </p:cNvPr>
          <p:cNvGraphicFramePr>
            <a:graphicFrameLocks noGrp="1"/>
          </p:cNvGraphicFramePr>
          <p:nvPr>
            <p:extLst>
              <p:ext uri="{D42A27DB-BD31-4B8C-83A1-F6EECF244321}">
                <p14:modId xmlns:p14="http://schemas.microsoft.com/office/powerpoint/2010/main" val="2807021707"/>
              </p:ext>
            </p:extLst>
          </p:nvPr>
        </p:nvGraphicFramePr>
        <p:xfrm>
          <a:off x="2236499" y="1752553"/>
          <a:ext cx="3273158" cy="1516947"/>
        </p:xfrm>
        <a:graphic>
          <a:graphicData uri="http://schemas.openxmlformats.org/drawingml/2006/table">
            <a:tbl>
              <a:tblPr firstRow="1" bandRow="1">
                <a:tableStyleId>{5940675A-B579-460E-94D1-54222C63F5DA}</a:tableStyleId>
              </a:tblPr>
              <a:tblGrid>
                <a:gridCol w="467594">
                  <a:extLst>
                    <a:ext uri="{9D8B030D-6E8A-4147-A177-3AD203B41FA5}">
                      <a16:colId xmlns:a16="http://schemas.microsoft.com/office/drawing/2014/main" val="2358362963"/>
                    </a:ext>
                  </a:extLst>
                </a:gridCol>
                <a:gridCol w="467594">
                  <a:extLst>
                    <a:ext uri="{9D8B030D-6E8A-4147-A177-3AD203B41FA5}">
                      <a16:colId xmlns:a16="http://schemas.microsoft.com/office/drawing/2014/main" val="3601153560"/>
                    </a:ext>
                  </a:extLst>
                </a:gridCol>
                <a:gridCol w="467594">
                  <a:extLst>
                    <a:ext uri="{9D8B030D-6E8A-4147-A177-3AD203B41FA5}">
                      <a16:colId xmlns:a16="http://schemas.microsoft.com/office/drawing/2014/main" val="1413766551"/>
                    </a:ext>
                  </a:extLst>
                </a:gridCol>
                <a:gridCol w="467594">
                  <a:extLst>
                    <a:ext uri="{9D8B030D-6E8A-4147-A177-3AD203B41FA5}">
                      <a16:colId xmlns:a16="http://schemas.microsoft.com/office/drawing/2014/main" val="1201650989"/>
                    </a:ext>
                  </a:extLst>
                </a:gridCol>
                <a:gridCol w="467594">
                  <a:extLst>
                    <a:ext uri="{9D8B030D-6E8A-4147-A177-3AD203B41FA5}">
                      <a16:colId xmlns:a16="http://schemas.microsoft.com/office/drawing/2014/main" val="4211347385"/>
                    </a:ext>
                  </a:extLst>
                </a:gridCol>
                <a:gridCol w="467594">
                  <a:extLst>
                    <a:ext uri="{9D8B030D-6E8A-4147-A177-3AD203B41FA5}">
                      <a16:colId xmlns:a16="http://schemas.microsoft.com/office/drawing/2014/main" val="1436684637"/>
                    </a:ext>
                  </a:extLst>
                </a:gridCol>
                <a:gridCol w="467594">
                  <a:extLst>
                    <a:ext uri="{9D8B030D-6E8A-4147-A177-3AD203B41FA5}">
                      <a16:colId xmlns:a16="http://schemas.microsoft.com/office/drawing/2014/main" val="373586154"/>
                    </a:ext>
                  </a:extLst>
                </a:gridCol>
              </a:tblGrid>
              <a:tr h="505649">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948907442"/>
                  </a:ext>
                </a:extLst>
              </a:tr>
              <a:tr h="505649">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791928764"/>
                  </a:ext>
                </a:extLst>
              </a:tr>
              <a:tr h="505649">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1928578243"/>
                  </a:ext>
                </a:extLst>
              </a:tr>
            </a:tbl>
          </a:graphicData>
        </a:graphic>
      </p:graphicFrame>
      <p:pic>
        <p:nvPicPr>
          <p:cNvPr id="7" name="図 6">
            <a:extLst>
              <a:ext uri="{FF2B5EF4-FFF2-40B4-BE49-F238E27FC236}">
                <a16:creationId xmlns:a16="http://schemas.microsoft.com/office/drawing/2014/main" id="{A881D41F-FFB2-E5AE-4FA3-C41A7BFA4441}"/>
              </a:ext>
            </a:extLst>
          </p:cNvPr>
          <p:cNvPicPr>
            <a:picLocks noChangeAspect="1"/>
          </p:cNvPicPr>
          <p:nvPr/>
        </p:nvPicPr>
        <p:blipFill>
          <a:blip r:embed="rId2"/>
          <a:stretch>
            <a:fillRect/>
          </a:stretch>
        </p:blipFill>
        <p:spPr>
          <a:xfrm>
            <a:off x="1777044" y="1736430"/>
            <a:ext cx="425218" cy="461665"/>
          </a:xfrm>
          <a:prstGeom prst="rect">
            <a:avLst/>
          </a:prstGeom>
        </p:spPr>
      </p:pic>
      <p:pic>
        <p:nvPicPr>
          <p:cNvPr id="9" name="図 8">
            <a:extLst>
              <a:ext uri="{FF2B5EF4-FFF2-40B4-BE49-F238E27FC236}">
                <a16:creationId xmlns:a16="http://schemas.microsoft.com/office/drawing/2014/main" id="{1D4C8607-BBCC-6073-CFA2-884F0C1A3DE5}"/>
              </a:ext>
            </a:extLst>
          </p:cNvPr>
          <p:cNvPicPr>
            <a:picLocks noChangeAspect="1"/>
          </p:cNvPicPr>
          <p:nvPr/>
        </p:nvPicPr>
        <p:blipFill>
          <a:blip r:embed="rId3"/>
          <a:stretch>
            <a:fillRect/>
          </a:stretch>
        </p:blipFill>
        <p:spPr>
          <a:xfrm>
            <a:off x="1655713" y="2705927"/>
            <a:ext cx="455965" cy="461665"/>
          </a:xfrm>
          <a:prstGeom prst="rect">
            <a:avLst/>
          </a:prstGeom>
        </p:spPr>
      </p:pic>
      <p:pic>
        <p:nvPicPr>
          <p:cNvPr id="11" name="図 10">
            <a:extLst>
              <a:ext uri="{FF2B5EF4-FFF2-40B4-BE49-F238E27FC236}">
                <a16:creationId xmlns:a16="http://schemas.microsoft.com/office/drawing/2014/main" id="{031747BD-3FC8-B5DF-FE00-8DE0D9312322}"/>
              </a:ext>
            </a:extLst>
          </p:cNvPr>
          <p:cNvPicPr>
            <a:picLocks noChangeAspect="1"/>
          </p:cNvPicPr>
          <p:nvPr/>
        </p:nvPicPr>
        <p:blipFill>
          <a:blip r:embed="rId4"/>
          <a:stretch>
            <a:fillRect/>
          </a:stretch>
        </p:blipFill>
        <p:spPr>
          <a:xfrm>
            <a:off x="1703724" y="2198095"/>
            <a:ext cx="442191" cy="527989"/>
          </a:xfrm>
          <a:prstGeom prst="rect">
            <a:avLst/>
          </a:prstGeom>
        </p:spPr>
      </p:pic>
      <p:graphicFrame>
        <p:nvGraphicFramePr>
          <p:cNvPr id="13" name="表 12">
            <a:extLst>
              <a:ext uri="{FF2B5EF4-FFF2-40B4-BE49-F238E27FC236}">
                <a16:creationId xmlns:a16="http://schemas.microsoft.com/office/drawing/2014/main" id="{D8BAC261-AD74-9F98-B1B8-9A9ED897DD9D}"/>
              </a:ext>
            </a:extLst>
          </p:cNvPr>
          <p:cNvGraphicFramePr>
            <a:graphicFrameLocks noGrp="1"/>
          </p:cNvGraphicFramePr>
          <p:nvPr>
            <p:extLst>
              <p:ext uri="{D42A27DB-BD31-4B8C-83A1-F6EECF244321}">
                <p14:modId xmlns:p14="http://schemas.microsoft.com/office/powerpoint/2010/main" val="2416263462"/>
              </p:ext>
            </p:extLst>
          </p:nvPr>
        </p:nvGraphicFramePr>
        <p:xfrm>
          <a:off x="9809182" y="1703615"/>
          <a:ext cx="559919" cy="1516947"/>
        </p:xfrm>
        <a:graphic>
          <a:graphicData uri="http://schemas.openxmlformats.org/drawingml/2006/table">
            <a:tbl>
              <a:tblPr firstRow="1" bandRow="1">
                <a:tableStyleId>{5940675A-B579-460E-94D1-54222C63F5DA}</a:tableStyleId>
              </a:tblPr>
              <a:tblGrid>
                <a:gridCol w="559919">
                  <a:extLst>
                    <a:ext uri="{9D8B030D-6E8A-4147-A177-3AD203B41FA5}">
                      <a16:colId xmlns:a16="http://schemas.microsoft.com/office/drawing/2014/main" val="3285066785"/>
                    </a:ext>
                  </a:extLst>
                </a:gridCol>
              </a:tblGrid>
              <a:tr h="505649">
                <a:tc>
                  <a:txBody>
                    <a:bodyPr/>
                    <a:lstStyle/>
                    <a:p>
                      <a:pPr algn="ctr"/>
                      <a:r>
                        <a:rPr kumimoji="1" lang="en-US" altLang="ja-JP" sz="2400" dirty="0"/>
                        <a:t>1</a:t>
                      </a:r>
                      <a:endParaRPr kumimoji="1" lang="ja-JP" altLang="en-US" sz="2400" dirty="0"/>
                    </a:p>
                  </a:txBody>
                  <a:tcPr/>
                </a:tc>
                <a:extLst>
                  <a:ext uri="{0D108BD9-81ED-4DB2-BD59-A6C34878D82A}">
                    <a16:rowId xmlns:a16="http://schemas.microsoft.com/office/drawing/2014/main" val="585417918"/>
                  </a:ext>
                </a:extLst>
              </a:tr>
              <a:tr h="505649">
                <a:tc>
                  <a:txBody>
                    <a:bodyPr/>
                    <a:lstStyle/>
                    <a:p>
                      <a:pPr algn="ctr"/>
                      <a:r>
                        <a:rPr kumimoji="1" lang="en-US" altLang="ja-JP" sz="2400" dirty="0"/>
                        <a:t>6</a:t>
                      </a:r>
                      <a:endParaRPr kumimoji="1" lang="ja-JP" altLang="en-US" sz="2400" dirty="0"/>
                    </a:p>
                  </a:txBody>
                  <a:tcPr/>
                </a:tc>
                <a:extLst>
                  <a:ext uri="{0D108BD9-81ED-4DB2-BD59-A6C34878D82A}">
                    <a16:rowId xmlns:a16="http://schemas.microsoft.com/office/drawing/2014/main" val="2747493821"/>
                  </a:ext>
                </a:extLst>
              </a:tr>
              <a:tr h="505649">
                <a:tc>
                  <a:txBody>
                    <a:bodyPr/>
                    <a:lstStyle/>
                    <a:p>
                      <a:pPr algn="ctr"/>
                      <a:r>
                        <a:rPr kumimoji="1" lang="en-US" altLang="ja-JP" sz="2400" dirty="0"/>
                        <a:t>2</a:t>
                      </a:r>
                      <a:endParaRPr kumimoji="1" lang="ja-JP" altLang="en-US" sz="2400" dirty="0"/>
                    </a:p>
                  </a:txBody>
                  <a:tcPr/>
                </a:tc>
                <a:extLst>
                  <a:ext uri="{0D108BD9-81ED-4DB2-BD59-A6C34878D82A}">
                    <a16:rowId xmlns:a16="http://schemas.microsoft.com/office/drawing/2014/main" val="531032650"/>
                  </a:ext>
                </a:extLst>
              </a:tr>
            </a:tbl>
          </a:graphicData>
        </a:graphic>
      </p:graphicFrame>
      <p:sp>
        <p:nvSpPr>
          <p:cNvPr id="17" name="テキスト ボックス 16">
            <a:extLst>
              <a:ext uri="{FF2B5EF4-FFF2-40B4-BE49-F238E27FC236}">
                <a16:creationId xmlns:a16="http://schemas.microsoft.com/office/drawing/2014/main" id="{0972CEB4-58A0-2784-E274-9BE4056BA505}"/>
              </a:ext>
            </a:extLst>
          </p:cNvPr>
          <p:cNvSpPr txBox="1"/>
          <p:nvPr/>
        </p:nvSpPr>
        <p:spPr>
          <a:xfrm>
            <a:off x="2145915" y="1356982"/>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特徴量</a:t>
            </a:r>
          </a:p>
        </p:txBody>
      </p:sp>
      <p:sp>
        <p:nvSpPr>
          <p:cNvPr id="19" name="テキスト ボックス 18">
            <a:extLst>
              <a:ext uri="{FF2B5EF4-FFF2-40B4-BE49-F238E27FC236}">
                <a16:creationId xmlns:a16="http://schemas.microsoft.com/office/drawing/2014/main" id="{710B6DEA-45EB-E626-D32A-27690622F712}"/>
              </a:ext>
            </a:extLst>
          </p:cNvPr>
          <p:cNvSpPr txBox="1"/>
          <p:nvPr/>
        </p:nvSpPr>
        <p:spPr>
          <a:xfrm>
            <a:off x="9383359" y="1257199"/>
            <a:ext cx="172354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教師データ</a:t>
            </a:r>
          </a:p>
        </p:txBody>
      </p:sp>
      <p:sp>
        <p:nvSpPr>
          <p:cNvPr id="21" name="テキスト ボックス 20">
            <a:extLst>
              <a:ext uri="{FF2B5EF4-FFF2-40B4-BE49-F238E27FC236}">
                <a16:creationId xmlns:a16="http://schemas.microsoft.com/office/drawing/2014/main" id="{7C79F24B-D6D3-94CA-A44C-6B060CE06903}"/>
              </a:ext>
            </a:extLst>
          </p:cNvPr>
          <p:cNvSpPr txBox="1"/>
          <p:nvPr/>
        </p:nvSpPr>
        <p:spPr>
          <a:xfrm>
            <a:off x="7058681" y="2186839"/>
            <a:ext cx="516488" cy="461665"/>
          </a:xfrm>
          <a:prstGeom prst="rect">
            <a:avLst/>
          </a:prstGeom>
          <a:noFill/>
        </p:spPr>
        <p:txBody>
          <a:bodyPr wrap="none" rtlCol="0">
            <a:spAutoFit/>
          </a:bodyPr>
          <a:lstStyle/>
          <a:p>
            <a:pPr algn="l"/>
            <a:r>
              <a:rPr kumimoji="1" lang="en-US" altLang="ja-JP" sz="2400" dirty="0">
                <a:solidFill>
                  <a:schemeClr val="bg1"/>
                </a:solidFill>
                <a:latin typeface="メイリオ" panose="020B0604030504040204" pitchFamily="50" charset="-128"/>
                <a:ea typeface="メイリオ" panose="020B0604030504040204" pitchFamily="50" charset="-128"/>
              </a:rPr>
              <a:t>AI</a:t>
            </a:r>
            <a:endParaRPr kumimoji="1" lang="ja-JP" altLang="en-US" sz="2400" dirty="0">
              <a:solidFill>
                <a:schemeClr val="bg1"/>
              </a:solidFill>
              <a:latin typeface="メイリオ" panose="020B0604030504040204" pitchFamily="50" charset="-128"/>
              <a:ea typeface="メイリオ" panose="020B0604030504040204" pitchFamily="50" charset="-128"/>
            </a:endParaRPr>
          </a:p>
        </p:txBody>
      </p:sp>
      <p:sp>
        <p:nvSpPr>
          <p:cNvPr id="23" name="矢印: 右 22">
            <a:extLst>
              <a:ext uri="{FF2B5EF4-FFF2-40B4-BE49-F238E27FC236}">
                <a16:creationId xmlns:a16="http://schemas.microsoft.com/office/drawing/2014/main" id="{5EFD040D-5E33-2261-5100-5524CD0B94D9}"/>
              </a:ext>
            </a:extLst>
          </p:cNvPr>
          <p:cNvSpPr/>
          <p:nvPr/>
        </p:nvSpPr>
        <p:spPr>
          <a:xfrm>
            <a:off x="5600241" y="1992071"/>
            <a:ext cx="435466" cy="8512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矢印: 右 24">
            <a:extLst>
              <a:ext uri="{FF2B5EF4-FFF2-40B4-BE49-F238E27FC236}">
                <a16:creationId xmlns:a16="http://schemas.microsoft.com/office/drawing/2014/main" id="{75EB53ED-5A5D-53C7-224D-D4C12234F4EF}"/>
              </a:ext>
            </a:extLst>
          </p:cNvPr>
          <p:cNvSpPr/>
          <p:nvPr/>
        </p:nvSpPr>
        <p:spPr>
          <a:xfrm flipH="1">
            <a:off x="8906649" y="2072398"/>
            <a:ext cx="435466" cy="8512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FE58CB92-0D16-E86C-56B1-4AB538C01BDD}"/>
              </a:ext>
            </a:extLst>
          </p:cNvPr>
          <p:cNvSpPr txBox="1"/>
          <p:nvPr/>
        </p:nvSpPr>
        <p:spPr>
          <a:xfrm>
            <a:off x="284873" y="795534"/>
            <a:ext cx="800219" cy="461665"/>
          </a:xfrm>
          <a:prstGeom prst="rect">
            <a:avLst/>
          </a:prstGeom>
          <a:noFill/>
        </p:spPr>
        <p:txBody>
          <a:bodyPr wrap="none" rtlCol="0">
            <a:spAutoFit/>
          </a:bodyPr>
          <a:lstStyle/>
          <a:p>
            <a:pPr algn="l"/>
            <a:r>
              <a:rPr kumimoji="1" lang="ja-JP" altLang="en-US" sz="2400" u="sng" dirty="0">
                <a:latin typeface="メイリオ" panose="020B0604030504040204" pitchFamily="50" charset="-128"/>
                <a:ea typeface="メイリオ" panose="020B0604030504040204" pitchFamily="50" charset="-128"/>
              </a:rPr>
              <a:t>学習</a:t>
            </a:r>
          </a:p>
        </p:txBody>
      </p:sp>
      <p:sp>
        <p:nvSpPr>
          <p:cNvPr id="27" name="テキスト ボックス 26">
            <a:extLst>
              <a:ext uri="{FF2B5EF4-FFF2-40B4-BE49-F238E27FC236}">
                <a16:creationId xmlns:a16="http://schemas.microsoft.com/office/drawing/2014/main" id="{9B3CFE1B-A46A-7BAF-62A9-D324AD4CB962}"/>
              </a:ext>
            </a:extLst>
          </p:cNvPr>
          <p:cNvSpPr txBox="1"/>
          <p:nvPr/>
        </p:nvSpPr>
        <p:spPr>
          <a:xfrm rot="16200000">
            <a:off x="40851" y="2143977"/>
            <a:ext cx="1935645" cy="369332"/>
          </a:xfrm>
          <a:prstGeom prst="rect">
            <a:avLst/>
          </a:prstGeom>
          <a:noFill/>
        </p:spPr>
        <p:txBody>
          <a:bodyPr wrap="square" rtlCol="0">
            <a:spAutoFit/>
          </a:bodyPr>
          <a:lstStyle/>
          <a:p>
            <a:pPr algn="l"/>
            <a:r>
              <a:rPr kumimoji="1" lang="en-US" altLang="ja-JP" dirty="0">
                <a:latin typeface="メイリオ" panose="020B0604030504040204" pitchFamily="50" charset="-128"/>
                <a:ea typeface="メイリオ" panose="020B0604030504040204" pitchFamily="50" charset="-128"/>
              </a:rPr>
              <a:t>MAX 10,000</a:t>
            </a:r>
            <a:r>
              <a:rPr kumimoji="1" lang="ja-JP" altLang="en-US" dirty="0">
                <a:latin typeface="メイリオ" panose="020B0604030504040204" pitchFamily="50" charset="-128"/>
                <a:ea typeface="メイリオ" panose="020B0604030504040204" pitchFamily="50" charset="-128"/>
              </a:rPr>
              <a:t>件</a:t>
            </a:r>
          </a:p>
        </p:txBody>
      </p:sp>
      <p:sp>
        <p:nvSpPr>
          <p:cNvPr id="28" name="矢印: 下 27">
            <a:extLst>
              <a:ext uri="{FF2B5EF4-FFF2-40B4-BE49-F238E27FC236}">
                <a16:creationId xmlns:a16="http://schemas.microsoft.com/office/drawing/2014/main" id="{FEAD7E68-253D-4C5D-4363-8685D828EC62}"/>
              </a:ext>
            </a:extLst>
          </p:cNvPr>
          <p:cNvSpPr/>
          <p:nvPr/>
        </p:nvSpPr>
        <p:spPr>
          <a:xfrm>
            <a:off x="1267389" y="1587814"/>
            <a:ext cx="250939" cy="1681686"/>
          </a:xfrm>
          <a:prstGeom prst="downArrow">
            <a:avLst>
              <a:gd name="adj1" fmla="val 50000"/>
              <a:gd name="adj2" fmla="val 1024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593E2262-5DF8-C4C5-F7CB-DF4D475DF154}"/>
              </a:ext>
            </a:extLst>
          </p:cNvPr>
          <p:cNvSpPr txBox="1"/>
          <p:nvPr/>
        </p:nvSpPr>
        <p:spPr>
          <a:xfrm>
            <a:off x="196613" y="3908383"/>
            <a:ext cx="1553630" cy="461665"/>
          </a:xfrm>
          <a:prstGeom prst="rect">
            <a:avLst/>
          </a:prstGeom>
          <a:noFill/>
        </p:spPr>
        <p:txBody>
          <a:bodyPr wrap="none" rtlCol="0">
            <a:spAutoFit/>
          </a:bodyPr>
          <a:lstStyle/>
          <a:p>
            <a:pPr algn="l"/>
            <a:r>
              <a:rPr kumimoji="1" lang="ja-JP" altLang="en-US" sz="2400" u="sng" dirty="0">
                <a:latin typeface="メイリオ" panose="020B0604030504040204" pitchFamily="50" charset="-128"/>
                <a:ea typeface="メイリオ" panose="020B0604030504040204" pitchFamily="50" charset="-128"/>
              </a:rPr>
              <a:t>分類</a:t>
            </a:r>
            <a:r>
              <a:rPr kumimoji="1" lang="en-US" altLang="ja-JP" sz="2400" u="sng" dirty="0">
                <a:latin typeface="メイリオ" panose="020B0604030504040204" pitchFamily="50" charset="-128"/>
                <a:ea typeface="メイリオ" panose="020B0604030504040204" pitchFamily="50" charset="-128"/>
              </a:rPr>
              <a:t>/</a:t>
            </a:r>
            <a:r>
              <a:rPr kumimoji="1" lang="ja-JP" altLang="en-US" sz="2400" u="sng" dirty="0">
                <a:latin typeface="メイリオ" panose="020B0604030504040204" pitchFamily="50" charset="-128"/>
                <a:ea typeface="メイリオ" panose="020B0604030504040204" pitchFamily="50" charset="-128"/>
              </a:rPr>
              <a:t>予測</a:t>
            </a:r>
          </a:p>
        </p:txBody>
      </p:sp>
      <p:sp>
        <p:nvSpPr>
          <p:cNvPr id="31" name="正方形/長方形 30">
            <a:extLst>
              <a:ext uri="{FF2B5EF4-FFF2-40B4-BE49-F238E27FC236}">
                <a16:creationId xmlns:a16="http://schemas.microsoft.com/office/drawing/2014/main" id="{A97FD8DC-235D-F68E-47D3-3F782F194DCC}"/>
              </a:ext>
            </a:extLst>
          </p:cNvPr>
          <p:cNvSpPr/>
          <p:nvPr/>
        </p:nvSpPr>
        <p:spPr>
          <a:xfrm>
            <a:off x="6103183" y="5036090"/>
            <a:ext cx="2659772" cy="1660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33" name="表 32">
            <a:extLst>
              <a:ext uri="{FF2B5EF4-FFF2-40B4-BE49-F238E27FC236}">
                <a16:creationId xmlns:a16="http://schemas.microsoft.com/office/drawing/2014/main" id="{46CF538A-6124-0DE3-0B38-D48A7CBD1AA6}"/>
              </a:ext>
            </a:extLst>
          </p:cNvPr>
          <p:cNvGraphicFramePr>
            <a:graphicFrameLocks noGrp="1"/>
          </p:cNvGraphicFramePr>
          <p:nvPr>
            <p:extLst>
              <p:ext uri="{D42A27DB-BD31-4B8C-83A1-F6EECF244321}">
                <p14:modId xmlns:p14="http://schemas.microsoft.com/office/powerpoint/2010/main" val="1074470801"/>
              </p:ext>
            </p:extLst>
          </p:nvPr>
        </p:nvGraphicFramePr>
        <p:xfrm>
          <a:off x="2202438" y="5321373"/>
          <a:ext cx="3273158" cy="1011298"/>
        </p:xfrm>
        <a:graphic>
          <a:graphicData uri="http://schemas.openxmlformats.org/drawingml/2006/table">
            <a:tbl>
              <a:tblPr firstRow="1" bandRow="1">
                <a:tableStyleId>{5940675A-B579-460E-94D1-54222C63F5DA}</a:tableStyleId>
              </a:tblPr>
              <a:tblGrid>
                <a:gridCol w="467594">
                  <a:extLst>
                    <a:ext uri="{9D8B030D-6E8A-4147-A177-3AD203B41FA5}">
                      <a16:colId xmlns:a16="http://schemas.microsoft.com/office/drawing/2014/main" val="2358362963"/>
                    </a:ext>
                  </a:extLst>
                </a:gridCol>
                <a:gridCol w="467594">
                  <a:extLst>
                    <a:ext uri="{9D8B030D-6E8A-4147-A177-3AD203B41FA5}">
                      <a16:colId xmlns:a16="http://schemas.microsoft.com/office/drawing/2014/main" val="3601153560"/>
                    </a:ext>
                  </a:extLst>
                </a:gridCol>
                <a:gridCol w="467594">
                  <a:extLst>
                    <a:ext uri="{9D8B030D-6E8A-4147-A177-3AD203B41FA5}">
                      <a16:colId xmlns:a16="http://schemas.microsoft.com/office/drawing/2014/main" val="1413766551"/>
                    </a:ext>
                  </a:extLst>
                </a:gridCol>
                <a:gridCol w="467594">
                  <a:extLst>
                    <a:ext uri="{9D8B030D-6E8A-4147-A177-3AD203B41FA5}">
                      <a16:colId xmlns:a16="http://schemas.microsoft.com/office/drawing/2014/main" val="1201650989"/>
                    </a:ext>
                  </a:extLst>
                </a:gridCol>
                <a:gridCol w="467594">
                  <a:extLst>
                    <a:ext uri="{9D8B030D-6E8A-4147-A177-3AD203B41FA5}">
                      <a16:colId xmlns:a16="http://schemas.microsoft.com/office/drawing/2014/main" val="4211347385"/>
                    </a:ext>
                  </a:extLst>
                </a:gridCol>
                <a:gridCol w="467594">
                  <a:extLst>
                    <a:ext uri="{9D8B030D-6E8A-4147-A177-3AD203B41FA5}">
                      <a16:colId xmlns:a16="http://schemas.microsoft.com/office/drawing/2014/main" val="1436684637"/>
                    </a:ext>
                  </a:extLst>
                </a:gridCol>
                <a:gridCol w="467594">
                  <a:extLst>
                    <a:ext uri="{9D8B030D-6E8A-4147-A177-3AD203B41FA5}">
                      <a16:colId xmlns:a16="http://schemas.microsoft.com/office/drawing/2014/main" val="373586154"/>
                    </a:ext>
                  </a:extLst>
                </a:gridCol>
              </a:tblGrid>
              <a:tr h="505649">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948907442"/>
                  </a:ext>
                </a:extLst>
              </a:tr>
              <a:tr h="505649">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1791928764"/>
                  </a:ext>
                </a:extLst>
              </a:tr>
            </a:tbl>
          </a:graphicData>
        </a:graphic>
      </p:graphicFrame>
      <p:graphicFrame>
        <p:nvGraphicFramePr>
          <p:cNvPr id="41" name="表 40">
            <a:extLst>
              <a:ext uri="{FF2B5EF4-FFF2-40B4-BE49-F238E27FC236}">
                <a16:creationId xmlns:a16="http://schemas.microsoft.com/office/drawing/2014/main" id="{4EC3EF43-6FC8-D7D7-B703-542A9E60D0C0}"/>
              </a:ext>
            </a:extLst>
          </p:cNvPr>
          <p:cNvGraphicFramePr>
            <a:graphicFrameLocks noGrp="1"/>
          </p:cNvGraphicFramePr>
          <p:nvPr>
            <p:extLst>
              <p:ext uri="{D42A27DB-BD31-4B8C-83A1-F6EECF244321}">
                <p14:modId xmlns:p14="http://schemas.microsoft.com/office/powerpoint/2010/main" val="375130126"/>
              </p:ext>
            </p:extLst>
          </p:nvPr>
        </p:nvGraphicFramePr>
        <p:xfrm>
          <a:off x="9815233" y="5365291"/>
          <a:ext cx="559919" cy="1011298"/>
        </p:xfrm>
        <a:graphic>
          <a:graphicData uri="http://schemas.openxmlformats.org/drawingml/2006/table">
            <a:tbl>
              <a:tblPr firstRow="1" bandRow="1">
                <a:tableStyleId>{5940675A-B579-460E-94D1-54222C63F5DA}</a:tableStyleId>
              </a:tblPr>
              <a:tblGrid>
                <a:gridCol w="559919">
                  <a:extLst>
                    <a:ext uri="{9D8B030D-6E8A-4147-A177-3AD203B41FA5}">
                      <a16:colId xmlns:a16="http://schemas.microsoft.com/office/drawing/2014/main" val="3285066785"/>
                    </a:ext>
                  </a:extLst>
                </a:gridCol>
              </a:tblGrid>
              <a:tr h="505649">
                <a:tc>
                  <a:txBody>
                    <a:bodyPr/>
                    <a:lstStyle/>
                    <a:p>
                      <a:pPr algn="ctr"/>
                      <a:r>
                        <a:rPr kumimoji="1" lang="en-US" altLang="ja-JP" sz="2400" dirty="0"/>
                        <a:t>2</a:t>
                      </a:r>
                      <a:endParaRPr kumimoji="1" lang="ja-JP" altLang="en-US" sz="2400" dirty="0"/>
                    </a:p>
                  </a:txBody>
                  <a:tcPr/>
                </a:tc>
                <a:extLst>
                  <a:ext uri="{0D108BD9-81ED-4DB2-BD59-A6C34878D82A}">
                    <a16:rowId xmlns:a16="http://schemas.microsoft.com/office/drawing/2014/main" val="585417918"/>
                  </a:ext>
                </a:extLst>
              </a:tr>
              <a:tr h="505649">
                <a:tc>
                  <a:txBody>
                    <a:bodyPr/>
                    <a:lstStyle/>
                    <a:p>
                      <a:pPr algn="ctr"/>
                      <a:r>
                        <a:rPr kumimoji="1" lang="en-US" altLang="ja-JP" sz="2400" dirty="0"/>
                        <a:t>2</a:t>
                      </a:r>
                      <a:endParaRPr kumimoji="1" lang="ja-JP" altLang="en-US" sz="2400" dirty="0"/>
                    </a:p>
                  </a:txBody>
                  <a:tcPr/>
                </a:tc>
                <a:extLst>
                  <a:ext uri="{0D108BD9-81ED-4DB2-BD59-A6C34878D82A}">
                    <a16:rowId xmlns:a16="http://schemas.microsoft.com/office/drawing/2014/main" val="2747493821"/>
                  </a:ext>
                </a:extLst>
              </a:tr>
            </a:tbl>
          </a:graphicData>
        </a:graphic>
      </p:graphicFrame>
      <p:sp>
        <p:nvSpPr>
          <p:cNvPr id="43" name="テキスト ボックス 42">
            <a:extLst>
              <a:ext uri="{FF2B5EF4-FFF2-40B4-BE49-F238E27FC236}">
                <a16:creationId xmlns:a16="http://schemas.microsoft.com/office/drawing/2014/main" id="{4E66DD07-8303-7FFE-B242-6A1E36AC2509}"/>
              </a:ext>
            </a:extLst>
          </p:cNvPr>
          <p:cNvSpPr txBox="1"/>
          <p:nvPr/>
        </p:nvSpPr>
        <p:spPr>
          <a:xfrm>
            <a:off x="2111854" y="4925802"/>
            <a:ext cx="387798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特徴量（</a:t>
            </a:r>
            <a:r>
              <a:rPr kumimoji="1" lang="ja-JP" altLang="en-US" sz="2400" b="1" dirty="0">
                <a:latin typeface="メイリオ" panose="020B0604030504040204" pitchFamily="50" charset="-128"/>
                <a:ea typeface="メイリオ" panose="020B0604030504040204" pitchFamily="50" charset="-128"/>
              </a:rPr>
              <a:t>教師データなし</a:t>
            </a:r>
            <a:r>
              <a:rPr kumimoji="1" lang="ja-JP" altLang="en-US" sz="2400" dirty="0">
                <a:latin typeface="メイリオ" panose="020B0604030504040204" pitchFamily="50" charset="-128"/>
                <a:ea typeface="メイリオ" panose="020B0604030504040204" pitchFamily="50" charset="-128"/>
              </a:rPr>
              <a:t>）</a:t>
            </a:r>
          </a:p>
        </p:txBody>
      </p:sp>
      <p:sp>
        <p:nvSpPr>
          <p:cNvPr id="45" name="テキスト ボックス 44">
            <a:extLst>
              <a:ext uri="{FF2B5EF4-FFF2-40B4-BE49-F238E27FC236}">
                <a16:creationId xmlns:a16="http://schemas.microsoft.com/office/drawing/2014/main" id="{372B8363-06FC-AF9B-3A35-7D7F8046ADB5}"/>
              </a:ext>
            </a:extLst>
          </p:cNvPr>
          <p:cNvSpPr txBox="1"/>
          <p:nvPr/>
        </p:nvSpPr>
        <p:spPr>
          <a:xfrm>
            <a:off x="9389410" y="4918875"/>
            <a:ext cx="1723549" cy="461665"/>
          </a:xfrm>
          <a:prstGeom prst="rect">
            <a:avLst/>
          </a:prstGeom>
          <a:noFill/>
        </p:spPr>
        <p:txBody>
          <a:bodyPr wrap="none" rtlCol="0">
            <a:spAutoFit/>
          </a:bodyPr>
          <a:lstStyle/>
          <a:p>
            <a:pPr algn="l"/>
            <a:r>
              <a:rPr kumimoji="1" lang="ja-JP" altLang="en-US" sz="2400" b="1" dirty="0">
                <a:latin typeface="メイリオ" panose="020B0604030504040204" pitchFamily="50" charset="-128"/>
                <a:ea typeface="メイリオ" panose="020B0604030504040204" pitchFamily="50" charset="-128"/>
              </a:rPr>
              <a:t>予測データ</a:t>
            </a:r>
          </a:p>
        </p:txBody>
      </p:sp>
      <p:sp>
        <p:nvSpPr>
          <p:cNvPr id="47" name="テキスト ボックス 46">
            <a:extLst>
              <a:ext uri="{FF2B5EF4-FFF2-40B4-BE49-F238E27FC236}">
                <a16:creationId xmlns:a16="http://schemas.microsoft.com/office/drawing/2014/main" id="{9B593CCF-08D3-B356-2AF9-C35775B5A177}"/>
              </a:ext>
            </a:extLst>
          </p:cNvPr>
          <p:cNvSpPr txBox="1"/>
          <p:nvPr/>
        </p:nvSpPr>
        <p:spPr>
          <a:xfrm>
            <a:off x="6790213" y="5647306"/>
            <a:ext cx="1439818" cy="461665"/>
          </a:xfrm>
          <a:prstGeom prst="rect">
            <a:avLst/>
          </a:prstGeom>
          <a:noFill/>
        </p:spPr>
        <p:txBody>
          <a:bodyPr wrap="none" rtlCol="0">
            <a:spAutoFit/>
          </a:bodyPr>
          <a:lstStyle/>
          <a:p>
            <a:pPr algn="l"/>
            <a:r>
              <a:rPr kumimoji="1" lang="ja-JP" altLang="en-US" sz="2400" dirty="0">
                <a:solidFill>
                  <a:schemeClr val="bg1"/>
                </a:solidFill>
                <a:latin typeface="メイリオ" panose="020B0604030504040204" pitchFamily="50" charset="-128"/>
                <a:ea typeface="メイリオ" panose="020B0604030504040204" pitchFamily="50" charset="-128"/>
              </a:rPr>
              <a:t>学習済</a:t>
            </a:r>
            <a:r>
              <a:rPr kumimoji="1" lang="en-US" altLang="ja-JP" sz="2400" dirty="0">
                <a:solidFill>
                  <a:schemeClr val="bg1"/>
                </a:solidFill>
                <a:latin typeface="メイリオ" panose="020B0604030504040204" pitchFamily="50" charset="-128"/>
                <a:ea typeface="メイリオ" panose="020B0604030504040204" pitchFamily="50" charset="-128"/>
              </a:rPr>
              <a:t>AI</a:t>
            </a:r>
            <a:endParaRPr kumimoji="1" lang="ja-JP" altLang="en-US" sz="2400" dirty="0">
              <a:solidFill>
                <a:schemeClr val="bg1"/>
              </a:solidFill>
              <a:latin typeface="メイリオ" panose="020B0604030504040204" pitchFamily="50" charset="-128"/>
              <a:ea typeface="メイリオ" panose="020B0604030504040204" pitchFamily="50" charset="-128"/>
            </a:endParaRPr>
          </a:p>
        </p:txBody>
      </p:sp>
      <p:sp>
        <p:nvSpPr>
          <p:cNvPr id="49" name="矢印: 右 48">
            <a:extLst>
              <a:ext uri="{FF2B5EF4-FFF2-40B4-BE49-F238E27FC236}">
                <a16:creationId xmlns:a16="http://schemas.microsoft.com/office/drawing/2014/main" id="{F429EE32-DA01-9577-0849-3E4939F4F777}"/>
              </a:ext>
            </a:extLst>
          </p:cNvPr>
          <p:cNvSpPr/>
          <p:nvPr/>
        </p:nvSpPr>
        <p:spPr>
          <a:xfrm>
            <a:off x="5607424" y="5431756"/>
            <a:ext cx="435466" cy="8512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矢印: 右 50">
            <a:extLst>
              <a:ext uri="{FF2B5EF4-FFF2-40B4-BE49-F238E27FC236}">
                <a16:creationId xmlns:a16="http://schemas.microsoft.com/office/drawing/2014/main" id="{BE9ADD05-D3FD-144E-BA4A-A50248905DEF}"/>
              </a:ext>
            </a:extLst>
          </p:cNvPr>
          <p:cNvSpPr/>
          <p:nvPr/>
        </p:nvSpPr>
        <p:spPr>
          <a:xfrm>
            <a:off x="8949123" y="5401420"/>
            <a:ext cx="435466" cy="851203"/>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6" name="図 55">
            <a:extLst>
              <a:ext uri="{FF2B5EF4-FFF2-40B4-BE49-F238E27FC236}">
                <a16:creationId xmlns:a16="http://schemas.microsoft.com/office/drawing/2014/main" id="{F9830038-ABF5-E36C-3615-A63683E4BE82}"/>
              </a:ext>
            </a:extLst>
          </p:cNvPr>
          <p:cNvPicPr>
            <a:picLocks noChangeAspect="1"/>
          </p:cNvPicPr>
          <p:nvPr/>
        </p:nvPicPr>
        <p:blipFill>
          <a:blip r:embed="rId5"/>
          <a:stretch>
            <a:fillRect/>
          </a:stretch>
        </p:blipFill>
        <p:spPr>
          <a:xfrm>
            <a:off x="1679914" y="5380540"/>
            <a:ext cx="406421" cy="342918"/>
          </a:xfrm>
          <a:prstGeom prst="rect">
            <a:avLst/>
          </a:prstGeom>
        </p:spPr>
      </p:pic>
      <p:pic>
        <p:nvPicPr>
          <p:cNvPr id="58" name="図 57">
            <a:extLst>
              <a:ext uri="{FF2B5EF4-FFF2-40B4-BE49-F238E27FC236}">
                <a16:creationId xmlns:a16="http://schemas.microsoft.com/office/drawing/2014/main" id="{2C759E29-7783-1DCC-F179-8CA193B79D1E}"/>
              </a:ext>
            </a:extLst>
          </p:cNvPr>
          <p:cNvPicPr>
            <a:picLocks noChangeAspect="1"/>
          </p:cNvPicPr>
          <p:nvPr/>
        </p:nvPicPr>
        <p:blipFill>
          <a:blip r:embed="rId6"/>
          <a:stretch>
            <a:fillRect/>
          </a:stretch>
        </p:blipFill>
        <p:spPr>
          <a:xfrm>
            <a:off x="1655713" y="5857663"/>
            <a:ext cx="406421" cy="387370"/>
          </a:xfrm>
          <a:prstGeom prst="rect">
            <a:avLst/>
          </a:prstGeom>
        </p:spPr>
      </p:pic>
      <p:sp>
        <p:nvSpPr>
          <p:cNvPr id="59" name="フローチャート: 組合せ 58">
            <a:extLst>
              <a:ext uri="{FF2B5EF4-FFF2-40B4-BE49-F238E27FC236}">
                <a16:creationId xmlns:a16="http://schemas.microsoft.com/office/drawing/2014/main" id="{A633EAFE-8381-969D-E584-27EA65174E99}"/>
              </a:ext>
            </a:extLst>
          </p:cNvPr>
          <p:cNvSpPr/>
          <p:nvPr/>
        </p:nvSpPr>
        <p:spPr>
          <a:xfrm>
            <a:off x="4266990" y="3532462"/>
            <a:ext cx="2791691" cy="355510"/>
          </a:xfrm>
          <a:prstGeom prst="flowChartMerg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テキスト ボックス 59">
            <a:extLst>
              <a:ext uri="{FF2B5EF4-FFF2-40B4-BE49-F238E27FC236}">
                <a16:creationId xmlns:a16="http://schemas.microsoft.com/office/drawing/2014/main" id="{20E9C1B2-98D5-287B-01FC-07549EE1F695}"/>
              </a:ext>
            </a:extLst>
          </p:cNvPr>
          <p:cNvSpPr txBox="1"/>
          <p:nvPr/>
        </p:nvSpPr>
        <p:spPr>
          <a:xfrm>
            <a:off x="196613" y="4411583"/>
            <a:ext cx="12211997"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学習済</a:t>
            </a:r>
            <a:r>
              <a:rPr kumimoji="1" lang="en-US" altLang="ja-JP" sz="2400" dirty="0">
                <a:latin typeface="メイリオ" panose="020B0604030504040204" pitchFamily="50" charset="-128"/>
                <a:ea typeface="メイリオ" panose="020B0604030504040204" pitchFamily="50" charset="-128"/>
              </a:rPr>
              <a:t>AI</a:t>
            </a:r>
            <a:r>
              <a:rPr kumimoji="1" lang="ja-JP" altLang="en-US" sz="2400" dirty="0">
                <a:latin typeface="メイリオ" panose="020B0604030504040204" pitchFamily="50" charset="-128"/>
                <a:ea typeface="メイリオ" panose="020B0604030504040204" pitchFamily="50" charset="-128"/>
              </a:rPr>
              <a:t>は特徴量だけ（教師ラベルなし）入力するとラベルを予測できるようになる</a:t>
            </a:r>
          </a:p>
        </p:txBody>
      </p:sp>
      <p:sp>
        <p:nvSpPr>
          <p:cNvPr id="61" name="テキスト ボックス 60">
            <a:extLst>
              <a:ext uri="{FF2B5EF4-FFF2-40B4-BE49-F238E27FC236}">
                <a16:creationId xmlns:a16="http://schemas.microsoft.com/office/drawing/2014/main" id="{1406A4EC-9A97-144F-395B-87FDD18D69D3}"/>
              </a:ext>
            </a:extLst>
          </p:cNvPr>
          <p:cNvSpPr txBox="1"/>
          <p:nvPr/>
        </p:nvSpPr>
        <p:spPr>
          <a:xfrm>
            <a:off x="196613" y="112991"/>
            <a:ext cx="2236510"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学習と予測</a:t>
            </a:r>
          </a:p>
        </p:txBody>
      </p:sp>
    </p:spTree>
    <p:extLst>
      <p:ext uri="{BB962C8B-B14F-4D97-AF65-F5344CB8AC3E}">
        <p14:creationId xmlns:p14="http://schemas.microsoft.com/office/powerpoint/2010/main" val="2758377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図表 2">
            <a:extLst>
              <a:ext uri="{FF2B5EF4-FFF2-40B4-BE49-F238E27FC236}">
                <a16:creationId xmlns:a16="http://schemas.microsoft.com/office/drawing/2014/main" id="{674DD695-DDEA-B797-08D8-B4C330662FCB}"/>
              </a:ext>
            </a:extLst>
          </p:cNvPr>
          <p:cNvGraphicFramePr/>
          <p:nvPr>
            <p:extLst>
              <p:ext uri="{D42A27DB-BD31-4B8C-83A1-F6EECF244321}">
                <p14:modId xmlns:p14="http://schemas.microsoft.com/office/powerpoint/2010/main" val="2589477151"/>
              </p:ext>
            </p:extLst>
          </p:nvPr>
        </p:nvGraphicFramePr>
        <p:xfrm>
          <a:off x="2929738" y="3570706"/>
          <a:ext cx="5100368" cy="10801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表 4">
            <a:extLst>
              <a:ext uri="{FF2B5EF4-FFF2-40B4-BE49-F238E27FC236}">
                <a16:creationId xmlns:a16="http://schemas.microsoft.com/office/drawing/2014/main" id="{E4DF07DA-0283-9677-CF7E-EC17CDDD280C}"/>
              </a:ext>
            </a:extLst>
          </p:cNvPr>
          <p:cNvGraphicFramePr>
            <a:graphicFrameLocks noGrp="1"/>
          </p:cNvGraphicFramePr>
          <p:nvPr>
            <p:extLst>
              <p:ext uri="{D42A27DB-BD31-4B8C-83A1-F6EECF244321}">
                <p14:modId xmlns:p14="http://schemas.microsoft.com/office/powerpoint/2010/main" val="2697156324"/>
              </p:ext>
            </p:extLst>
          </p:nvPr>
        </p:nvGraphicFramePr>
        <p:xfrm>
          <a:off x="2786876" y="1675044"/>
          <a:ext cx="3273158" cy="1516947"/>
        </p:xfrm>
        <a:graphic>
          <a:graphicData uri="http://schemas.openxmlformats.org/drawingml/2006/table">
            <a:tbl>
              <a:tblPr firstRow="1" bandRow="1">
                <a:tableStyleId>{5940675A-B579-460E-94D1-54222C63F5DA}</a:tableStyleId>
              </a:tblPr>
              <a:tblGrid>
                <a:gridCol w="467594">
                  <a:extLst>
                    <a:ext uri="{9D8B030D-6E8A-4147-A177-3AD203B41FA5}">
                      <a16:colId xmlns:a16="http://schemas.microsoft.com/office/drawing/2014/main" val="2358362963"/>
                    </a:ext>
                  </a:extLst>
                </a:gridCol>
                <a:gridCol w="467594">
                  <a:extLst>
                    <a:ext uri="{9D8B030D-6E8A-4147-A177-3AD203B41FA5}">
                      <a16:colId xmlns:a16="http://schemas.microsoft.com/office/drawing/2014/main" val="3601153560"/>
                    </a:ext>
                  </a:extLst>
                </a:gridCol>
                <a:gridCol w="467594">
                  <a:extLst>
                    <a:ext uri="{9D8B030D-6E8A-4147-A177-3AD203B41FA5}">
                      <a16:colId xmlns:a16="http://schemas.microsoft.com/office/drawing/2014/main" val="1413766551"/>
                    </a:ext>
                  </a:extLst>
                </a:gridCol>
                <a:gridCol w="467594">
                  <a:extLst>
                    <a:ext uri="{9D8B030D-6E8A-4147-A177-3AD203B41FA5}">
                      <a16:colId xmlns:a16="http://schemas.microsoft.com/office/drawing/2014/main" val="1201650989"/>
                    </a:ext>
                  </a:extLst>
                </a:gridCol>
                <a:gridCol w="467594">
                  <a:extLst>
                    <a:ext uri="{9D8B030D-6E8A-4147-A177-3AD203B41FA5}">
                      <a16:colId xmlns:a16="http://schemas.microsoft.com/office/drawing/2014/main" val="4211347385"/>
                    </a:ext>
                  </a:extLst>
                </a:gridCol>
                <a:gridCol w="467594">
                  <a:extLst>
                    <a:ext uri="{9D8B030D-6E8A-4147-A177-3AD203B41FA5}">
                      <a16:colId xmlns:a16="http://schemas.microsoft.com/office/drawing/2014/main" val="1436684637"/>
                    </a:ext>
                  </a:extLst>
                </a:gridCol>
                <a:gridCol w="467594">
                  <a:extLst>
                    <a:ext uri="{9D8B030D-6E8A-4147-A177-3AD203B41FA5}">
                      <a16:colId xmlns:a16="http://schemas.microsoft.com/office/drawing/2014/main" val="373586154"/>
                    </a:ext>
                  </a:extLst>
                </a:gridCol>
              </a:tblGrid>
              <a:tr h="505649">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948907442"/>
                  </a:ext>
                </a:extLst>
              </a:tr>
              <a:tr h="505649">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791928764"/>
                  </a:ext>
                </a:extLst>
              </a:tr>
              <a:tr h="505649">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1928578243"/>
                  </a:ext>
                </a:extLst>
              </a:tr>
            </a:tbl>
          </a:graphicData>
        </a:graphic>
      </p:graphicFrame>
      <p:pic>
        <p:nvPicPr>
          <p:cNvPr id="7" name="図 6">
            <a:extLst>
              <a:ext uri="{FF2B5EF4-FFF2-40B4-BE49-F238E27FC236}">
                <a16:creationId xmlns:a16="http://schemas.microsoft.com/office/drawing/2014/main" id="{E4881A72-8358-1D81-4DD7-7CB5D3D79CB4}"/>
              </a:ext>
            </a:extLst>
          </p:cNvPr>
          <p:cNvPicPr>
            <a:picLocks noChangeAspect="1"/>
          </p:cNvPicPr>
          <p:nvPr/>
        </p:nvPicPr>
        <p:blipFill>
          <a:blip r:embed="rId7"/>
          <a:stretch>
            <a:fillRect/>
          </a:stretch>
        </p:blipFill>
        <p:spPr>
          <a:xfrm>
            <a:off x="2327421" y="1658921"/>
            <a:ext cx="425218" cy="461665"/>
          </a:xfrm>
          <a:prstGeom prst="rect">
            <a:avLst/>
          </a:prstGeom>
        </p:spPr>
      </p:pic>
      <p:pic>
        <p:nvPicPr>
          <p:cNvPr id="9" name="図 8">
            <a:extLst>
              <a:ext uri="{FF2B5EF4-FFF2-40B4-BE49-F238E27FC236}">
                <a16:creationId xmlns:a16="http://schemas.microsoft.com/office/drawing/2014/main" id="{EB3245B5-3B4C-CE90-A295-B0ED6271A561}"/>
              </a:ext>
            </a:extLst>
          </p:cNvPr>
          <p:cNvPicPr>
            <a:picLocks noChangeAspect="1"/>
          </p:cNvPicPr>
          <p:nvPr/>
        </p:nvPicPr>
        <p:blipFill>
          <a:blip r:embed="rId8"/>
          <a:stretch>
            <a:fillRect/>
          </a:stretch>
        </p:blipFill>
        <p:spPr>
          <a:xfrm>
            <a:off x="2206090" y="2628418"/>
            <a:ext cx="455965" cy="461665"/>
          </a:xfrm>
          <a:prstGeom prst="rect">
            <a:avLst/>
          </a:prstGeom>
        </p:spPr>
      </p:pic>
      <p:pic>
        <p:nvPicPr>
          <p:cNvPr id="11" name="図 10">
            <a:extLst>
              <a:ext uri="{FF2B5EF4-FFF2-40B4-BE49-F238E27FC236}">
                <a16:creationId xmlns:a16="http://schemas.microsoft.com/office/drawing/2014/main" id="{A3D6DD7F-6C8B-4F31-ED5F-1E597B221FCA}"/>
              </a:ext>
            </a:extLst>
          </p:cNvPr>
          <p:cNvPicPr>
            <a:picLocks noChangeAspect="1"/>
          </p:cNvPicPr>
          <p:nvPr/>
        </p:nvPicPr>
        <p:blipFill>
          <a:blip r:embed="rId9"/>
          <a:stretch>
            <a:fillRect/>
          </a:stretch>
        </p:blipFill>
        <p:spPr>
          <a:xfrm>
            <a:off x="2254101" y="2120586"/>
            <a:ext cx="442191" cy="527989"/>
          </a:xfrm>
          <a:prstGeom prst="rect">
            <a:avLst/>
          </a:prstGeom>
        </p:spPr>
      </p:pic>
      <p:sp>
        <p:nvSpPr>
          <p:cNvPr id="13" name="テキスト ボックス 12">
            <a:extLst>
              <a:ext uri="{FF2B5EF4-FFF2-40B4-BE49-F238E27FC236}">
                <a16:creationId xmlns:a16="http://schemas.microsoft.com/office/drawing/2014/main" id="{B019C5A6-66E3-FB2C-08E6-7D95FF9D858D}"/>
              </a:ext>
            </a:extLst>
          </p:cNvPr>
          <p:cNvSpPr txBox="1"/>
          <p:nvPr/>
        </p:nvSpPr>
        <p:spPr>
          <a:xfrm>
            <a:off x="2696292" y="1279473"/>
            <a:ext cx="1107996"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特徴量</a:t>
            </a:r>
          </a:p>
        </p:txBody>
      </p:sp>
      <p:graphicFrame>
        <p:nvGraphicFramePr>
          <p:cNvPr id="19" name="表 18">
            <a:extLst>
              <a:ext uri="{FF2B5EF4-FFF2-40B4-BE49-F238E27FC236}">
                <a16:creationId xmlns:a16="http://schemas.microsoft.com/office/drawing/2014/main" id="{8AA5F6EE-1A14-9D54-3E6F-197A9FB57043}"/>
              </a:ext>
            </a:extLst>
          </p:cNvPr>
          <p:cNvGraphicFramePr>
            <a:graphicFrameLocks noGrp="1"/>
          </p:cNvGraphicFramePr>
          <p:nvPr>
            <p:extLst>
              <p:ext uri="{D42A27DB-BD31-4B8C-83A1-F6EECF244321}">
                <p14:modId xmlns:p14="http://schemas.microsoft.com/office/powerpoint/2010/main" val="594978352"/>
              </p:ext>
            </p:extLst>
          </p:nvPr>
        </p:nvGraphicFramePr>
        <p:xfrm>
          <a:off x="6187677" y="1690293"/>
          <a:ext cx="559919" cy="1516947"/>
        </p:xfrm>
        <a:graphic>
          <a:graphicData uri="http://schemas.openxmlformats.org/drawingml/2006/table">
            <a:tbl>
              <a:tblPr firstRow="1" bandRow="1">
                <a:tableStyleId>{5940675A-B579-460E-94D1-54222C63F5DA}</a:tableStyleId>
              </a:tblPr>
              <a:tblGrid>
                <a:gridCol w="559919">
                  <a:extLst>
                    <a:ext uri="{9D8B030D-6E8A-4147-A177-3AD203B41FA5}">
                      <a16:colId xmlns:a16="http://schemas.microsoft.com/office/drawing/2014/main" val="3285066785"/>
                    </a:ext>
                  </a:extLst>
                </a:gridCol>
              </a:tblGrid>
              <a:tr h="505649">
                <a:tc>
                  <a:txBody>
                    <a:bodyPr/>
                    <a:lstStyle/>
                    <a:p>
                      <a:pPr algn="ctr"/>
                      <a:r>
                        <a:rPr kumimoji="1" lang="en-US" altLang="ja-JP" sz="2400" dirty="0"/>
                        <a:t>1</a:t>
                      </a:r>
                      <a:endParaRPr kumimoji="1" lang="ja-JP" altLang="en-US" sz="2400" dirty="0"/>
                    </a:p>
                  </a:txBody>
                  <a:tcPr/>
                </a:tc>
                <a:extLst>
                  <a:ext uri="{0D108BD9-81ED-4DB2-BD59-A6C34878D82A}">
                    <a16:rowId xmlns:a16="http://schemas.microsoft.com/office/drawing/2014/main" val="585417918"/>
                  </a:ext>
                </a:extLst>
              </a:tr>
              <a:tr h="505649">
                <a:tc>
                  <a:txBody>
                    <a:bodyPr/>
                    <a:lstStyle/>
                    <a:p>
                      <a:pPr algn="ctr"/>
                      <a:r>
                        <a:rPr kumimoji="1" lang="en-US" altLang="ja-JP" sz="2400" dirty="0"/>
                        <a:t>6</a:t>
                      </a:r>
                      <a:endParaRPr kumimoji="1" lang="ja-JP" altLang="en-US" sz="2400" dirty="0"/>
                    </a:p>
                  </a:txBody>
                  <a:tcPr/>
                </a:tc>
                <a:extLst>
                  <a:ext uri="{0D108BD9-81ED-4DB2-BD59-A6C34878D82A}">
                    <a16:rowId xmlns:a16="http://schemas.microsoft.com/office/drawing/2014/main" val="2747493821"/>
                  </a:ext>
                </a:extLst>
              </a:tr>
              <a:tr h="505649">
                <a:tc>
                  <a:txBody>
                    <a:bodyPr/>
                    <a:lstStyle/>
                    <a:p>
                      <a:pPr algn="ctr"/>
                      <a:r>
                        <a:rPr kumimoji="1" lang="en-US" altLang="ja-JP" sz="2400" dirty="0"/>
                        <a:t>2</a:t>
                      </a:r>
                      <a:endParaRPr kumimoji="1" lang="ja-JP" altLang="en-US" sz="2400" dirty="0"/>
                    </a:p>
                  </a:txBody>
                  <a:tcPr/>
                </a:tc>
                <a:extLst>
                  <a:ext uri="{0D108BD9-81ED-4DB2-BD59-A6C34878D82A}">
                    <a16:rowId xmlns:a16="http://schemas.microsoft.com/office/drawing/2014/main" val="531032650"/>
                  </a:ext>
                </a:extLst>
              </a:tr>
            </a:tbl>
          </a:graphicData>
        </a:graphic>
      </p:graphicFrame>
      <p:sp>
        <p:nvSpPr>
          <p:cNvPr id="21" name="テキスト ボックス 20">
            <a:extLst>
              <a:ext uri="{FF2B5EF4-FFF2-40B4-BE49-F238E27FC236}">
                <a16:creationId xmlns:a16="http://schemas.microsoft.com/office/drawing/2014/main" id="{E0367E1A-9E22-6BAE-DB66-BCF2F4D2F691}"/>
              </a:ext>
            </a:extLst>
          </p:cNvPr>
          <p:cNvSpPr txBox="1"/>
          <p:nvPr/>
        </p:nvSpPr>
        <p:spPr>
          <a:xfrm>
            <a:off x="5916944" y="1228628"/>
            <a:ext cx="172354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教師データ</a:t>
            </a:r>
          </a:p>
        </p:txBody>
      </p:sp>
      <p:graphicFrame>
        <p:nvGraphicFramePr>
          <p:cNvPr id="25" name="表 24">
            <a:extLst>
              <a:ext uri="{FF2B5EF4-FFF2-40B4-BE49-F238E27FC236}">
                <a16:creationId xmlns:a16="http://schemas.microsoft.com/office/drawing/2014/main" id="{EAD9D93B-B833-77AB-4785-18004A3D6930}"/>
              </a:ext>
            </a:extLst>
          </p:cNvPr>
          <p:cNvGraphicFramePr>
            <a:graphicFrameLocks noGrp="1"/>
          </p:cNvGraphicFramePr>
          <p:nvPr>
            <p:extLst>
              <p:ext uri="{D42A27DB-BD31-4B8C-83A1-F6EECF244321}">
                <p14:modId xmlns:p14="http://schemas.microsoft.com/office/powerpoint/2010/main" val="1111955314"/>
              </p:ext>
            </p:extLst>
          </p:nvPr>
        </p:nvGraphicFramePr>
        <p:xfrm>
          <a:off x="5952345" y="5522348"/>
          <a:ext cx="3273158" cy="1011298"/>
        </p:xfrm>
        <a:graphic>
          <a:graphicData uri="http://schemas.openxmlformats.org/drawingml/2006/table">
            <a:tbl>
              <a:tblPr firstRow="1" bandRow="1">
                <a:tableStyleId>{5940675A-B579-460E-94D1-54222C63F5DA}</a:tableStyleId>
              </a:tblPr>
              <a:tblGrid>
                <a:gridCol w="467594">
                  <a:extLst>
                    <a:ext uri="{9D8B030D-6E8A-4147-A177-3AD203B41FA5}">
                      <a16:colId xmlns:a16="http://schemas.microsoft.com/office/drawing/2014/main" val="2358362963"/>
                    </a:ext>
                  </a:extLst>
                </a:gridCol>
                <a:gridCol w="467594">
                  <a:extLst>
                    <a:ext uri="{9D8B030D-6E8A-4147-A177-3AD203B41FA5}">
                      <a16:colId xmlns:a16="http://schemas.microsoft.com/office/drawing/2014/main" val="3601153560"/>
                    </a:ext>
                  </a:extLst>
                </a:gridCol>
                <a:gridCol w="467594">
                  <a:extLst>
                    <a:ext uri="{9D8B030D-6E8A-4147-A177-3AD203B41FA5}">
                      <a16:colId xmlns:a16="http://schemas.microsoft.com/office/drawing/2014/main" val="1413766551"/>
                    </a:ext>
                  </a:extLst>
                </a:gridCol>
                <a:gridCol w="467594">
                  <a:extLst>
                    <a:ext uri="{9D8B030D-6E8A-4147-A177-3AD203B41FA5}">
                      <a16:colId xmlns:a16="http://schemas.microsoft.com/office/drawing/2014/main" val="1201650989"/>
                    </a:ext>
                  </a:extLst>
                </a:gridCol>
                <a:gridCol w="467594">
                  <a:extLst>
                    <a:ext uri="{9D8B030D-6E8A-4147-A177-3AD203B41FA5}">
                      <a16:colId xmlns:a16="http://schemas.microsoft.com/office/drawing/2014/main" val="4211347385"/>
                    </a:ext>
                  </a:extLst>
                </a:gridCol>
                <a:gridCol w="467594">
                  <a:extLst>
                    <a:ext uri="{9D8B030D-6E8A-4147-A177-3AD203B41FA5}">
                      <a16:colId xmlns:a16="http://schemas.microsoft.com/office/drawing/2014/main" val="1436684637"/>
                    </a:ext>
                  </a:extLst>
                </a:gridCol>
                <a:gridCol w="467594">
                  <a:extLst>
                    <a:ext uri="{9D8B030D-6E8A-4147-A177-3AD203B41FA5}">
                      <a16:colId xmlns:a16="http://schemas.microsoft.com/office/drawing/2014/main" val="373586154"/>
                    </a:ext>
                  </a:extLst>
                </a:gridCol>
              </a:tblGrid>
              <a:tr h="505649">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948907442"/>
                  </a:ext>
                </a:extLst>
              </a:tr>
              <a:tr h="505649">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1791928764"/>
                  </a:ext>
                </a:extLst>
              </a:tr>
            </a:tbl>
          </a:graphicData>
        </a:graphic>
      </p:graphicFrame>
      <p:sp>
        <p:nvSpPr>
          <p:cNvPr id="27" name="テキスト ボックス 26">
            <a:extLst>
              <a:ext uri="{FF2B5EF4-FFF2-40B4-BE49-F238E27FC236}">
                <a16:creationId xmlns:a16="http://schemas.microsoft.com/office/drawing/2014/main" id="{29F62CA7-9038-75C8-E946-6D9C8EB0A725}"/>
              </a:ext>
            </a:extLst>
          </p:cNvPr>
          <p:cNvSpPr txBox="1"/>
          <p:nvPr/>
        </p:nvSpPr>
        <p:spPr>
          <a:xfrm>
            <a:off x="5861761" y="5126777"/>
            <a:ext cx="387798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特徴量（</a:t>
            </a:r>
            <a:r>
              <a:rPr kumimoji="1" lang="ja-JP" altLang="en-US" sz="2400" b="1" dirty="0">
                <a:latin typeface="メイリオ" panose="020B0604030504040204" pitchFamily="50" charset="-128"/>
                <a:ea typeface="メイリオ" panose="020B0604030504040204" pitchFamily="50" charset="-128"/>
              </a:rPr>
              <a:t>教師データなし</a:t>
            </a:r>
            <a:r>
              <a:rPr kumimoji="1" lang="ja-JP" altLang="en-US" sz="2400" dirty="0">
                <a:latin typeface="メイリオ" panose="020B0604030504040204" pitchFamily="50" charset="-128"/>
                <a:ea typeface="メイリオ" panose="020B0604030504040204" pitchFamily="50" charset="-128"/>
              </a:rPr>
              <a:t>）</a:t>
            </a:r>
          </a:p>
        </p:txBody>
      </p:sp>
      <p:pic>
        <p:nvPicPr>
          <p:cNvPr id="31" name="図 30">
            <a:extLst>
              <a:ext uri="{FF2B5EF4-FFF2-40B4-BE49-F238E27FC236}">
                <a16:creationId xmlns:a16="http://schemas.microsoft.com/office/drawing/2014/main" id="{43FB37C5-C3C8-2530-91DE-122A3D31F6D6}"/>
              </a:ext>
            </a:extLst>
          </p:cNvPr>
          <p:cNvPicPr>
            <a:picLocks noChangeAspect="1"/>
          </p:cNvPicPr>
          <p:nvPr/>
        </p:nvPicPr>
        <p:blipFill>
          <a:blip r:embed="rId10"/>
          <a:stretch>
            <a:fillRect/>
          </a:stretch>
        </p:blipFill>
        <p:spPr>
          <a:xfrm>
            <a:off x="5429821" y="5581515"/>
            <a:ext cx="406421" cy="342918"/>
          </a:xfrm>
          <a:prstGeom prst="rect">
            <a:avLst/>
          </a:prstGeom>
        </p:spPr>
      </p:pic>
      <p:pic>
        <p:nvPicPr>
          <p:cNvPr id="33" name="図 32">
            <a:extLst>
              <a:ext uri="{FF2B5EF4-FFF2-40B4-BE49-F238E27FC236}">
                <a16:creationId xmlns:a16="http://schemas.microsoft.com/office/drawing/2014/main" id="{C45FFEFB-71FB-992D-6468-0744598D2892}"/>
              </a:ext>
            </a:extLst>
          </p:cNvPr>
          <p:cNvPicPr>
            <a:picLocks noChangeAspect="1"/>
          </p:cNvPicPr>
          <p:nvPr/>
        </p:nvPicPr>
        <p:blipFill>
          <a:blip r:embed="rId11"/>
          <a:stretch>
            <a:fillRect/>
          </a:stretch>
        </p:blipFill>
        <p:spPr>
          <a:xfrm>
            <a:off x="5405620" y="6058638"/>
            <a:ext cx="406421" cy="387370"/>
          </a:xfrm>
          <a:prstGeom prst="rect">
            <a:avLst/>
          </a:prstGeom>
        </p:spPr>
      </p:pic>
      <p:sp>
        <p:nvSpPr>
          <p:cNvPr id="34" name="吹き出し: 四角形 33">
            <a:extLst>
              <a:ext uri="{FF2B5EF4-FFF2-40B4-BE49-F238E27FC236}">
                <a16:creationId xmlns:a16="http://schemas.microsoft.com/office/drawing/2014/main" id="{5F2AC300-EB3E-9D9D-6B99-D7DC140526FA}"/>
              </a:ext>
            </a:extLst>
          </p:cNvPr>
          <p:cNvSpPr/>
          <p:nvPr/>
        </p:nvSpPr>
        <p:spPr>
          <a:xfrm>
            <a:off x="2115941" y="1159897"/>
            <a:ext cx="5524552" cy="2182091"/>
          </a:xfrm>
          <a:prstGeom prst="wedgeRectCallout">
            <a:avLst>
              <a:gd name="adj1" fmla="val -20708"/>
              <a:gd name="adj2" fmla="val 6027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36" name="吹き出し: 四角形 35">
            <a:extLst>
              <a:ext uri="{FF2B5EF4-FFF2-40B4-BE49-F238E27FC236}">
                <a16:creationId xmlns:a16="http://schemas.microsoft.com/office/drawing/2014/main" id="{4E955B82-AE58-9337-4302-A52CF4859B9F}"/>
              </a:ext>
            </a:extLst>
          </p:cNvPr>
          <p:cNvSpPr/>
          <p:nvPr/>
        </p:nvSpPr>
        <p:spPr>
          <a:xfrm>
            <a:off x="5237018" y="4961094"/>
            <a:ext cx="4502728" cy="1730935"/>
          </a:xfrm>
          <a:prstGeom prst="wedgeRectCallout">
            <a:avLst>
              <a:gd name="adj1" fmla="val -23592"/>
              <a:gd name="adj2" fmla="val -6636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noFill/>
            </a:endParaRPr>
          </a:p>
        </p:txBody>
      </p:sp>
      <p:sp>
        <p:nvSpPr>
          <p:cNvPr id="37" name="テキスト ボックス 36">
            <a:extLst>
              <a:ext uri="{FF2B5EF4-FFF2-40B4-BE49-F238E27FC236}">
                <a16:creationId xmlns:a16="http://schemas.microsoft.com/office/drawing/2014/main" id="{07626348-D191-B9D2-CA7C-7F1FB2BB3DCA}"/>
              </a:ext>
            </a:extLst>
          </p:cNvPr>
          <p:cNvSpPr txBox="1"/>
          <p:nvPr/>
        </p:nvSpPr>
        <p:spPr>
          <a:xfrm>
            <a:off x="634350" y="0"/>
            <a:ext cx="8392041"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学習用データ（訓練データ）とテストデータ</a:t>
            </a:r>
          </a:p>
        </p:txBody>
      </p:sp>
      <p:sp>
        <p:nvSpPr>
          <p:cNvPr id="38" name="テキスト ボックス 37">
            <a:extLst>
              <a:ext uri="{FF2B5EF4-FFF2-40B4-BE49-F238E27FC236}">
                <a16:creationId xmlns:a16="http://schemas.microsoft.com/office/drawing/2014/main" id="{D93C84BB-94F2-4643-36E8-09B62E8174B9}"/>
              </a:ext>
            </a:extLst>
          </p:cNvPr>
          <p:cNvSpPr txBox="1"/>
          <p:nvPr/>
        </p:nvSpPr>
        <p:spPr>
          <a:xfrm>
            <a:off x="682197" y="461032"/>
            <a:ext cx="6686446" cy="707886"/>
          </a:xfrm>
          <a:prstGeom prst="rect">
            <a:avLst/>
          </a:prstGeom>
          <a:noFill/>
        </p:spPr>
        <p:txBody>
          <a:bodyPr wrap="none" rtlCol="0">
            <a:spAutoFit/>
          </a:bodyPr>
          <a:lstStyle/>
          <a:p>
            <a:pPr marL="342900" indent="-34290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訓練データとテストデータは同一であってはならない</a:t>
            </a:r>
            <a:endParaRPr kumimoji="1" lang="en-US" altLang="ja-JP" sz="20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000" dirty="0">
                <a:latin typeface="メイリオ" panose="020B0604030504040204" pitchFamily="50" charset="-128"/>
                <a:ea typeface="メイリオ" panose="020B0604030504040204" pitchFamily="50" charset="-128"/>
              </a:rPr>
              <a:t>訓練データは学習済だから予測できて当たり前</a:t>
            </a:r>
          </a:p>
        </p:txBody>
      </p:sp>
      <p:sp>
        <p:nvSpPr>
          <p:cNvPr id="39" name="テキスト ボックス 38">
            <a:extLst>
              <a:ext uri="{FF2B5EF4-FFF2-40B4-BE49-F238E27FC236}">
                <a16:creationId xmlns:a16="http://schemas.microsoft.com/office/drawing/2014/main" id="{21A89608-1BB1-0F00-D9B4-0CD4C9414521}"/>
              </a:ext>
            </a:extLst>
          </p:cNvPr>
          <p:cNvSpPr txBox="1"/>
          <p:nvPr/>
        </p:nvSpPr>
        <p:spPr>
          <a:xfrm>
            <a:off x="340677" y="1964503"/>
            <a:ext cx="1723549"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訓練データ</a:t>
            </a:r>
          </a:p>
        </p:txBody>
      </p:sp>
      <p:sp>
        <p:nvSpPr>
          <p:cNvPr id="40" name="テキスト ボックス 39">
            <a:extLst>
              <a:ext uri="{FF2B5EF4-FFF2-40B4-BE49-F238E27FC236}">
                <a16:creationId xmlns:a16="http://schemas.microsoft.com/office/drawing/2014/main" id="{1A19D790-E71C-D87F-EEC6-EB5EF8A0D8C3}"/>
              </a:ext>
            </a:extLst>
          </p:cNvPr>
          <p:cNvSpPr txBox="1"/>
          <p:nvPr/>
        </p:nvSpPr>
        <p:spPr>
          <a:xfrm>
            <a:off x="3086124" y="5526550"/>
            <a:ext cx="2031325"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テストデータ</a:t>
            </a:r>
          </a:p>
        </p:txBody>
      </p:sp>
      <p:graphicFrame>
        <p:nvGraphicFramePr>
          <p:cNvPr id="43" name="表 42">
            <a:extLst>
              <a:ext uri="{FF2B5EF4-FFF2-40B4-BE49-F238E27FC236}">
                <a16:creationId xmlns:a16="http://schemas.microsoft.com/office/drawing/2014/main" id="{B28D188A-04EF-4798-232E-64EAA603D831}"/>
              </a:ext>
            </a:extLst>
          </p:cNvPr>
          <p:cNvGraphicFramePr>
            <a:graphicFrameLocks noGrp="1"/>
          </p:cNvGraphicFramePr>
          <p:nvPr>
            <p:extLst>
              <p:ext uri="{D42A27DB-BD31-4B8C-83A1-F6EECF244321}">
                <p14:modId xmlns:p14="http://schemas.microsoft.com/office/powerpoint/2010/main" val="3980526616"/>
              </p:ext>
            </p:extLst>
          </p:nvPr>
        </p:nvGraphicFramePr>
        <p:xfrm>
          <a:off x="8746431" y="3891463"/>
          <a:ext cx="559919" cy="1011298"/>
        </p:xfrm>
        <a:graphic>
          <a:graphicData uri="http://schemas.openxmlformats.org/drawingml/2006/table">
            <a:tbl>
              <a:tblPr firstRow="1" bandRow="1">
                <a:tableStyleId>{5940675A-B579-460E-94D1-54222C63F5DA}</a:tableStyleId>
              </a:tblPr>
              <a:tblGrid>
                <a:gridCol w="559919">
                  <a:extLst>
                    <a:ext uri="{9D8B030D-6E8A-4147-A177-3AD203B41FA5}">
                      <a16:colId xmlns:a16="http://schemas.microsoft.com/office/drawing/2014/main" val="3285066785"/>
                    </a:ext>
                  </a:extLst>
                </a:gridCol>
              </a:tblGrid>
              <a:tr h="505649">
                <a:tc>
                  <a:txBody>
                    <a:bodyPr/>
                    <a:lstStyle/>
                    <a:p>
                      <a:pPr algn="ctr"/>
                      <a:r>
                        <a:rPr kumimoji="1" lang="en-US" altLang="ja-JP" sz="2400" dirty="0"/>
                        <a:t>2</a:t>
                      </a:r>
                      <a:endParaRPr kumimoji="1" lang="ja-JP" altLang="en-US" sz="2400" dirty="0"/>
                    </a:p>
                  </a:txBody>
                  <a:tcPr/>
                </a:tc>
                <a:extLst>
                  <a:ext uri="{0D108BD9-81ED-4DB2-BD59-A6C34878D82A}">
                    <a16:rowId xmlns:a16="http://schemas.microsoft.com/office/drawing/2014/main" val="585417918"/>
                  </a:ext>
                </a:extLst>
              </a:tr>
              <a:tr h="505649">
                <a:tc>
                  <a:txBody>
                    <a:bodyPr/>
                    <a:lstStyle/>
                    <a:p>
                      <a:pPr algn="ctr"/>
                      <a:r>
                        <a:rPr kumimoji="1" lang="en-US" altLang="ja-JP" sz="2400" dirty="0"/>
                        <a:t>2</a:t>
                      </a:r>
                      <a:endParaRPr kumimoji="1" lang="ja-JP" altLang="en-US" sz="2400" dirty="0"/>
                    </a:p>
                  </a:txBody>
                  <a:tcPr/>
                </a:tc>
                <a:extLst>
                  <a:ext uri="{0D108BD9-81ED-4DB2-BD59-A6C34878D82A}">
                    <a16:rowId xmlns:a16="http://schemas.microsoft.com/office/drawing/2014/main" val="2747493821"/>
                  </a:ext>
                </a:extLst>
              </a:tr>
            </a:tbl>
          </a:graphicData>
        </a:graphic>
      </p:graphicFrame>
      <p:sp>
        <p:nvSpPr>
          <p:cNvPr id="45" name="テキスト ボックス 44">
            <a:extLst>
              <a:ext uri="{FF2B5EF4-FFF2-40B4-BE49-F238E27FC236}">
                <a16:creationId xmlns:a16="http://schemas.microsoft.com/office/drawing/2014/main" id="{82DB62C9-3879-5F7E-0D2B-7D4FD1DD0812}"/>
              </a:ext>
            </a:extLst>
          </p:cNvPr>
          <p:cNvSpPr txBox="1"/>
          <p:nvPr/>
        </p:nvSpPr>
        <p:spPr>
          <a:xfrm>
            <a:off x="8626280" y="3459034"/>
            <a:ext cx="800219" cy="461665"/>
          </a:xfrm>
          <a:prstGeom prst="rect">
            <a:avLst/>
          </a:prstGeom>
          <a:noFill/>
        </p:spPr>
        <p:txBody>
          <a:bodyPr wrap="none" rtlCol="0">
            <a:spAutoFit/>
          </a:bodyPr>
          <a:lstStyle/>
          <a:p>
            <a:pPr algn="l"/>
            <a:r>
              <a:rPr kumimoji="1" lang="ja-JP" altLang="en-US" sz="2400" b="1" dirty="0">
                <a:latin typeface="メイリオ" panose="020B0604030504040204" pitchFamily="50" charset="-128"/>
                <a:ea typeface="メイリオ" panose="020B0604030504040204" pitchFamily="50" charset="-128"/>
              </a:rPr>
              <a:t>予測</a:t>
            </a:r>
          </a:p>
        </p:txBody>
      </p:sp>
      <p:sp>
        <p:nvSpPr>
          <p:cNvPr id="47" name="矢印: 右 46">
            <a:extLst>
              <a:ext uri="{FF2B5EF4-FFF2-40B4-BE49-F238E27FC236}">
                <a16:creationId xmlns:a16="http://schemas.microsoft.com/office/drawing/2014/main" id="{F03A3148-1EAF-0096-69B4-0BFA52FA609B}"/>
              </a:ext>
            </a:extLst>
          </p:cNvPr>
          <p:cNvSpPr/>
          <p:nvPr/>
        </p:nvSpPr>
        <p:spPr>
          <a:xfrm>
            <a:off x="7952802" y="4047758"/>
            <a:ext cx="435466" cy="851203"/>
          </a:xfrm>
          <a:prstGeom prst="right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598334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064BCA45-D8B5-6C17-BC13-4A49E3A0546B}"/>
              </a:ext>
            </a:extLst>
          </p:cNvPr>
          <p:cNvSpPr txBox="1"/>
          <p:nvPr/>
        </p:nvSpPr>
        <p:spPr>
          <a:xfrm>
            <a:off x="4592782" y="2090172"/>
            <a:ext cx="6195722" cy="2677656"/>
          </a:xfrm>
          <a:prstGeom prst="rect">
            <a:avLst/>
          </a:prstGeom>
          <a:noFill/>
        </p:spPr>
        <p:txBody>
          <a:bodyPr wrap="square" rtlCol="0">
            <a:spAutoFit/>
          </a:bodyPr>
          <a:lstStyle/>
          <a:p>
            <a:pPr marL="457200" indent="-457200" algn="l">
              <a:buFont typeface="+mj-lt"/>
              <a:buAutoNum type="arabicPeriod"/>
            </a:pPr>
            <a:r>
              <a:rPr kumimoji="1" lang="ja-JP" altLang="en-US" sz="2400" dirty="0">
                <a:latin typeface="メイリオ" panose="020B0604030504040204" pitchFamily="50" charset="-128"/>
                <a:ea typeface="メイリオ" panose="020B0604030504040204" pitchFamily="50" charset="-128"/>
              </a:rPr>
              <a:t>これらの各手続きが</a:t>
            </a:r>
            <a:r>
              <a:rPr kumimoji="1" lang="en-US" altLang="ja-JP" sz="2400" dirty="0" err="1">
                <a:latin typeface="メイリオ" panose="020B0604030504040204" pitchFamily="50" charset="-128"/>
                <a:ea typeface="メイリオ" panose="020B0604030504040204" pitchFamily="50" charset="-128"/>
              </a:rPr>
              <a:t>Neural.ipynb</a:t>
            </a:r>
            <a:r>
              <a:rPr kumimoji="1" lang="ja-JP" altLang="en-US" sz="2400" dirty="0">
                <a:latin typeface="メイリオ" panose="020B0604030504040204" pitchFamily="50" charset="-128"/>
                <a:ea typeface="メイリオ" panose="020B0604030504040204" pitchFamily="50" charset="-128"/>
              </a:rPr>
              <a:t>のどのブロックに対応するか見当をつけてください（内容はわからなくてもおそらく雰囲気でわかるはず）</a:t>
            </a: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endParaRPr kumimoji="1" lang="en-US" altLang="ja-JP" sz="2400" dirty="0">
              <a:latin typeface="メイリオ" panose="020B0604030504040204" pitchFamily="50" charset="-128"/>
              <a:ea typeface="メイリオ" panose="020B0604030504040204" pitchFamily="50" charset="-128"/>
            </a:endParaRPr>
          </a:p>
          <a:p>
            <a:pPr marL="457200" indent="-457200" algn="l">
              <a:buFont typeface="+mj-lt"/>
              <a:buAutoNum type="arabicPeriod"/>
            </a:pPr>
            <a:r>
              <a:rPr kumimoji="1" lang="en-US" altLang="ja-JP" sz="2400" dirty="0">
                <a:latin typeface="メイリオ" panose="020B0604030504040204" pitchFamily="50" charset="-128"/>
                <a:ea typeface="メイリオ" panose="020B0604030504040204" pitchFamily="50" charset="-128"/>
              </a:rPr>
              <a:t>Predict value</a:t>
            </a:r>
            <a:r>
              <a:rPr kumimoji="1" lang="ja-JP" altLang="en-US" sz="2400" dirty="0">
                <a:latin typeface="メイリオ" panose="020B0604030504040204" pitchFamily="50" charset="-128"/>
                <a:ea typeface="メイリオ" panose="020B0604030504040204" pitchFamily="50" charset="-128"/>
              </a:rPr>
              <a:t>は機械学習が予測した値、では</a:t>
            </a:r>
            <a:r>
              <a:rPr kumimoji="1" lang="en-US" altLang="ja-JP" sz="2400" dirty="0">
                <a:latin typeface="メイリオ" panose="020B0604030504040204" pitchFamily="50" charset="-128"/>
                <a:ea typeface="メイリオ" panose="020B0604030504040204" pitchFamily="50" charset="-128"/>
              </a:rPr>
              <a:t>correct label</a:t>
            </a:r>
            <a:r>
              <a:rPr kumimoji="1" lang="ja-JP" altLang="en-US" sz="2400" dirty="0">
                <a:latin typeface="メイリオ" panose="020B0604030504040204" pitchFamily="50" charset="-128"/>
                <a:ea typeface="メイリオ" panose="020B0604030504040204" pitchFamily="50" charset="-128"/>
              </a:rPr>
              <a:t>は何者か？</a:t>
            </a:r>
          </a:p>
        </p:txBody>
      </p:sp>
      <p:sp>
        <p:nvSpPr>
          <p:cNvPr id="5" name="テキスト ボックス 4">
            <a:extLst>
              <a:ext uri="{FF2B5EF4-FFF2-40B4-BE49-F238E27FC236}">
                <a16:creationId xmlns:a16="http://schemas.microsoft.com/office/drawing/2014/main" id="{EFB90CF3-4427-827B-86BB-B7C9CDF2703D}"/>
              </a:ext>
            </a:extLst>
          </p:cNvPr>
          <p:cNvSpPr txBox="1"/>
          <p:nvPr/>
        </p:nvSpPr>
        <p:spPr>
          <a:xfrm>
            <a:off x="411342" y="477982"/>
            <a:ext cx="8802410"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教師あり機械学習のコード構造はいずれも同じ</a:t>
            </a:r>
          </a:p>
        </p:txBody>
      </p:sp>
      <p:graphicFrame>
        <p:nvGraphicFramePr>
          <p:cNvPr id="7" name="図表 6">
            <a:extLst>
              <a:ext uri="{FF2B5EF4-FFF2-40B4-BE49-F238E27FC236}">
                <a16:creationId xmlns:a16="http://schemas.microsoft.com/office/drawing/2014/main" id="{C0B64BD5-6E89-40DC-D1DB-68F7DA78CDEF}"/>
              </a:ext>
            </a:extLst>
          </p:cNvPr>
          <p:cNvGraphicFramePr/>
          <p:nvPr>
            <p:extLst>
              <p:ext uri="{D42A27DB-BD31-4B8C-83A1-F6EECF244321}">
                <p14:modId xmlns:p14="http://schemas.microsoft.com/office/powerpoint/2010/main" val="3993532602"/>
              </p:ext>
            </p:extLst>
          </p:nvPr>
        </p:nvGraphicFramePr>
        <p:xfrm>
          <a:off x="212762" y="1500556"/>
          <a:ext cx="4511638" cy="4879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テキスト ボックス 7">
            <a:extLst>
              <a:ext uri="{FF2B5EF4-FFF2-40B4-BE49-F238E27FC236}">
                <a16:creationId xmlns:a16="http://schemas.microsoft.com/office/drawing/2014/main" id="{B935C659-B6BA-D9DF-A8D2-3A96578FED8F}"/>
              </a:ext>
            </a:extLst>
          </p:cNvPr>
          <p:cNvSpPr txBox="1"/>
          <p:nvPr/>
        </p:nvSpPr>
        <p:spPr>
          <a:xfrm>
            <a:off x="411342" y="974916"/>
            <a:ext cx="10341293"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このパターンがあるとわかっていれば、かなりコードを読めるようになる</a:t>
            </a:r>
          </a:p>
        </p:txBody>
      </p:sp>
    </p:spTree>
    <p:extLst>
      <p:ext uri="{BB962C8B-B14F-4D97-AF65-F5344CB8AC3E}">
        <p14:creationId xmlns:p14="http://schemas.microsoft.com/office/powerpoint/2010/main" val="1094835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D11FEB1D-CA4D-4085-9D96-365A02B5BAD2}"/>
              </a:ext>
            </a:extLst>
          </p:cNvPr>
          <p:cNvSpPr txBox="1"/>
          <p:nvPr/>
        </p:nvSpPr>
        <p:spPr>
          <a:xfrm>
            <a:off x="569168" y="1847462"/>
            <a:ext cx="11038114" cy="4431983"/>
          </a:xfrm>
          <a:prstGeom prst="rect">
            <a:avLst/>
          </a:prstGeom>
          <a:noFill/>
        </p:spPr>
        <p:txBody>
          <a:bodyPr wrap="square" rtlCol="0">
            <a:spAutoFit/>
          </a:bodyPr>
          <a:lstStyle/>
          <a:p>
            <a:pPr algn="l"/>
            <a:r>
              <a:rPr kumimoji="1" lang="en-US" altLang="ja-JP" sz="2400" dirty="0">
                <a:latin typeface="メイリオ" panose="020B0604030504040204" pitchFamily="50" charset="-128"/>
                <a:ea typeface="メイリオ" panose="020B0604030504040204" pitchFamily="50" charset="-128"/>
              </a:rPr>
              <a:t>1. </a:t>
            </a:r>
            <a:r>
              <a:rPr kumimoji="1" lang="ja-JP" altLang="en-US" sz="2400">
                <a:latin typeface="メイリオ" panose="020B0604030504040204" pitchFamily="50" charset="-128"/>
                <a:ea typeface="メイリオ" panose="020B0604030504040204" pitchFamily="50" charset="-128"/>
              </a:rPr>
              <a:t>はがきに</a:t>
            </a:r>
            <a:r>
              <a:rPr kumimoji="1" lang="ja-JP" altLang="en-US" sz="2400" dirty="0">
                <a:latin typeface="メイリオ" panose="020B0604030504040204" pitchFamily="50" charset="-128"/>
                <a:ea typeface="メイリオ" panose="020B0604030504040204" pitchFamily="50" charset="-128"/>
              </a:rPr>
              <a:t>書かれた手書きの数字からの郵便番号読み取り</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dirty="0">
                <a:latin typeface="メイリオ" panose="020B0604030504040204" pitchFamily="50" charset="-128"/>
                <a:ea typeface="メイリオ" panose="020B0604030504040204" pitchFamily="50" charset="-128"/>
              </a:rPr>
              <a:t>入力はスキャンされた手書き文字で、望まれる出力は実際の郵便番号である。機械学習モデル構築のためのデータセットを作るにはたくさんの封筒を集め、郵便番号を自分で読み取って望まれる出力として与える必要がある。</a:t>
            </a:r>
            <a:endParaRPr kumimoji="1" lang="en-US" altLang="ja-JP" dirty="0">
              <a:latin typeface="メイリオ" panose="020B0604030504040204" pitchFamily="50" charset="-128"/>
              <a:ea typeface="メイリオ" panose="020B0604030504040204" pitchFamily="50" charset="-128"/>
            </a:endParaRPr>
          </a:p>
          <a:p>
            <a:pPr algn="l"/>
            <a:endParaRPr kumimoji="1" lang="en-US" altLang="ja-JP" sz="2400" dirty="0">
              <a:latin typeface="メイリオ" panose="020B0604030504040204" pitchFamily="50" charset="-128"/>
              <a:ea typeface="メイリオ" panose="020B0604030504040204" pitchFamily="50" charset="-128"/>
            </a:endParaRPr>
          </a:p>
          <a:p>
            <a:pPr algn="l"/>
            <a:r>
              <a:rPr kumimoji="1" lang="en-US" altLang="ja-JP" sz="2400" dirty="0">
                <a:latin typeface="メイリオ" panose="020B0604030504040204" pitchFamily="50" charset="-128"/>
                <a:ea typeface="メイリオ" panose="020B0604030504040204" pitchFamily="50" charset="-128"/>
              </a:rPr>
              <a:t>2. </a:t>
            </a:r>
            <a:r>
              <a:rPr kumimoji="1" lang="ja-JP" altLang="en-US" sz="2400" dirty="0">
                <a:latin typeface="メイリオ" panose="020B0604030504040204" pitchFamily="50" charset="-128"/>
                <a:ea typeface="メイリオ" panose="020B0604030504040204" pitchFamily="50" charset="-128"/>
              </a:rPr>
              <a:t>医用画像からの腫瘍の良性・悪性の診断</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dirty="0">
                <a:latin typeface="メイリオ" panose="020B0604030504040204" pitchFamily="50" charset="-128"/>
                <a:ea typeface="メイリオ" panose="020B0604030504040204" pitchFamily="50" charset="-128"/>
              </a:rPr>
              <a:t>入力は画像であり、出力は腫瘍が良性かどうか、である。モデル構築のためのデータセットを作るには、医用画像のデータベースが必要になる。更に、専門家の意見を聞かなければならない。医者にすべての画像をみてもらい、腫瘍が良性か悪性かを判断してもらう必要がある。</a:t>
            </a:r>
            <a:endParaRPr kumimoji="1" lang="en-US" altLang="ja-JP" dirty="0">
              <a:latin typeface="メイリオ" panose="020B0604030504040204" pitchFamily="50" charset="-128"/>
              <a:ea typeface="メイリオ" panose="020B0604030504040204" pitchFamily="50" charset="-128"/>
            </a:endParaRPr>
          </a:p>
          <a:p>
            <a:pPr algn="l"/>
            <a:endParaRPr kumimoji="1" lang="en-US" altLang="ja-JP" sz="2400" dirty="0">
              <a:latin typeface="メイリオ" panose="020B0604030504040204" pitchFamily="50" charset="-128"/>
              <a:ea typeface="メイリオ" panose="020B0604030504040204" pitchFamily="50" charset="-128"/>
            </a:endParaRPr>
          </a:p>
          <a:p>
            <a:pPr algn="l"/>
            <a:r>
              <a:rPr kumimoji="1" lang="en-US" altLang="ja-JP" sz="2400" dirty="0">
                <a:latin typeface="メイリオ" panose="020B0604030504040204" pitchFamily="50" charset="-128"/>
                <a:ea typeface="メイリオ" panose="020B0604030504040204" pitchFamily="50" charset="-128"/>
              </a:rPr>
              <a:t>3. </a:t>
            </a:r>
            <a:r>
              <a:rPr kumimoji="1" lang="ja-JP" altLang="en-US" sz="2400" dirty="0">
                <a:latin typeface="メイリオ" panose="020B0604030504040204" pitchFamily="50" charset="-128"/>
                <a:ea typeface="メイリオ" panose="020B0604030504040204" pitchFamily="50" charset="-128"/>
              </a:rPr>
              <a:t>クレジットカードの不正</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dirty="0">
                <a:latin typeface="メイリオ" panose="020B0604030504040204" pitchFamily="50" charset="-128"/>
                <a:ea typeface="メイリオ" panose="020B0604030504040204" pitchFamily="50" charset="-128"/>
              </a:rPr>
              <a:t>入力はクレジットカードのトランザクションで、出力は不正である可能性が高いかどうか、である。クレジットカードの発行者であれば、データセットを作るには、すべてのトランザクションを保存しておき、不正であるとユーザーが報告したトランザクションを記録すればよい</a:t>
            </a:r>
          </a:p>
        </p:txBody>
      </p:sp>
      <p:sp>
        <p:nvSpPr>
          <p:cNvPr id="7" name="テキスト ボックス 6">
            <a:extLst>
              <a:ext uri="{FF2B5EF4-FFF2-40B4-BE49-F238E27FC236}">
                <a16:creationId xmlns:a16="http://schemas.microsoft.com/office/drawing/2014/main" id="{5BA7049A-64B5-7E46-96D1-FC4DF68A46B4}"/>
              </a:ext>
            </a:extLst>
          </p:cNvPr>
          <p:cNvSpPr txBox="1"/>
          <p:nvPr/>
        </p:nvSpPr>
        <p:spPr>
          <a:xfrm>
            <a:off x="307909" y="755779"/>
            <a:ext cx="11112760" cy="830997"/>
          </a:xfrm>
          <a:prstGeom prst="rect">
            <a:avLst/>
          </a:prstGeom>
          <a:noFill/>
        </p:spPr>
        <p:txBody>
          <a:bodyPr wrap="square" rtlCol="0">
            <a:spAutoFit/>
          </a:bodyPr>
          <a:lstStyle/>
          <a:p>
            <a:pPr algn="l"/>
            <a:r>
              <a:rPr kumimoji="1" lang="ja-JP" altLang="en-US" sz="2400" dirty="0">
                <a:latin typeface="メイリオ" panose="020B0604030504040204" pitchFamily="50" charset="-128"/>
                <a:ea typeface="メイリオ" panose="020B0604030504040204" pitchFamily="50" charset="-128"/>
              </a:rPr>
              <a:t>演習：以下の</a:t>
            </a:r>
            <a:r>
              <a:rPr kumimoji="1" lang="en-US" altLang="ja-JP" sz="2400" dirty="0">
                <a:latin typeface="メイリオ" panose="020B0604030504040204" pitchFamily="50" charset="-128"/>
                <a:ea typeface="メイリオ" panose="020B0604030504040204" pitchFamily="50" charset="-128"/>
              </a:rPr>
              <a:t>1-3</a:t>
            </a:r>
            <a:r>
              <a:rPr kumimoji="1" lang="ja-JP" altLang="en-US" sz="2400" dirty="0">
                <a:latin typeface="メイリオ" panose="020B0604030504040204" pitchFamily="50" charset="-128"/>
                <a:ea typeface="メイリオ" panose="020B0604030504040204" pitchFamily="50" charset="-128"/>
              </a:rPr>
              <a:t>の例は全て教師あり機械学習のためのデータセットを収集する　</a:t>
            </a:r>
            <a:endParaRPr kumimoji="1" lang="en-US" altLang="ja-JP" sz="2400" dirty="0">
              <a:latin typeface="メイリオ" panose="020B0604030504040204" pitchFamily="50" charset="-128"/>
              <a:ea typeface="メイリオ" panose="020B0604030504040204" pitchFamily="50" charset="-128"/>
            </a:endParaRPr>
          </a:p>
          <a:p>
            <a:pPr algn="l"/>
            <a:r>
              <a:rPr kumimoji="1" lang="ja-JP" altLang="en-US" sz="2400" dirty="0">
                <a:latin typeface="メイリオ" panose="020B0604030504040204" pitchFamily="50" charset="-128"/>
                <a:ea typeface="メイリオ" panose="020B0604030504040204" pitchFamily="50" charset="-128"/>
              </a:rPr>
              <a:t>　　　例である。それぞれの例において、教師ラベル、特徴量が何か答えよ。</a:t>
            </a:r>
          </a:p>
        </p:txBody>
      </p:sp>
      <p:sp>
        <p:nvSpPr>
          <p:cNvPr id="2" name="テキスト ボックス 1">
            <a:extLst>
              <a:ext uri="{FF2B5EF4-FFF2-40B4-BE49-F238E27FC236}">
                <a16:creationId xmlns:a16="http://schemas.microsoft.com/office/drawing/2014/main" id="{4883E9AA-083E-6D16-11AE-16FF6C3CCDAA}"/>
              </a:ext>
            </a:extLst>
          </p:cNvPr>
          <p:cNvSpPr txBox="1"/>
          <p:nvPr/>
        </p:nvSpPr>
        <p:spPr>
          <a:xfrm>
            <a:off x="307909" y="163771"/>
            <a:ext cx="7571303"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教師あり機械学習：特徴量と教師データ</a:t>
            </a:r>
          </a:p>
        </p:txBody>
      </p:sp>
    </p:spTree>
    <p:extLst>
      <p:ext uri="{BB962C8B-B14F-4D97-AF65-F5344CB8AC3E}">
        <p14:creationId xmlns:p14="http://schemas.microsoft.com/office/powerpoint/2010/main" val="1630161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26F4110C-B4B7-4863-ACDB-9B2F6C9EA4F1}"/>
              </a:ext>
            </a:extLst>
          </p:cNvPr>
          <p:cNvGraphicFramePr>
            <a:graphicFrameLocks noGrp="1"/>
          </p:cNvGraphicFramePr>
          <p:nvPr/>
        </p:nvGraphicFramePr>
        <p:xfrm>
          <a:off x="3143833" y="2527831"/>
          <a:ext cx="6095999" cy="2123440"/>
        </p:xfrm>
        <a:graphic>
          <a:graphicData uri="http://schemas.openxmlformats.org/drawingml/2006/table">
            <a:tbl>
              <a:tblPr firstRow="1" bandRow="1">
                <a:tableStyleId>{5940675A-B579-460E-94D1-54222C63F5DA}</a:tableStyleId>
              </a:tblPr>
              <a:tblGrid>
                <a:gridCol w="695325">
                  <a:extLst>
                    <a:ext uri="{9D8B030D-6E8A-4147-A177-3AD203B41FA5}">
                      <a16:colId xmlns:a16="http://schemas.microsoft.com/office/drawing/2014/main" val="1956025745"/>
                    </a:ext>
                  </a:extLst>
                </a:gridCol>
                <a:gridCol w="1152525">
                  <a:extLst>
                    <a:ext uri="{9D8B030D-6E8A-4147-A177-3AD203B41FA5}">
                      <a16:colId xmlns:a16="http://schemas.microsoft.com/office/drawing/2014/main" val="3203398356"/>
                    </a:ext>
                  </a:extLst>
                </a:gridCol>
                <a:gridCol w="1152525">
                  <a:extLst>
                    <a:ext uri="{9D8B030D-6E8A-4147-A177-3AD203B41FA5}">
                      <a16:colId xmlns:a16="http://schemas.microsoft.com/office/drawing/2014/main" val="1446089183"/>
                    </a:ext>
                  </a:extLst>
                </a:gridCol>
                <a:gridCol w="781050">
                  <a:extLst>
                    <a:ext uri="{9D8B030D-6E8A-4147-A177-3AD203B41FA5}">
                      <a16:colId xmlns:a16="http://schemas.microsoft.com/office/drawing/2014/main" val="709289782"/>
                    </a:ext>
                  </a:extLst>
                </a:gridCol>
                <a:gridCol w="572860">
                  <a:extLst>
                    <a:ext uri="{9D8B030D-6E8A-4147-A177-3AD203B41FA5}">
                      <a16:colId xmlns:a16="http://schemas.microsoft.com/office/drawing/2014/main" val="13916519"/>
                    </a:ext>
                  </a:extLst>
                </a:gridCol>
                <a:gridCol w="870857">
                  <a:extLst>
                    <a:ext uri="{9D8B030D-6E8A-4147-A177-3AD203B41FA5}">
                      <a16:colId xmlns:a16="http://schemas.microsoft.com/office/drawing/2014/main" val="885187103"/>
                    </a:ext>
                  </a:extLst>
                </a:gridCol>
                <a:gridCol w="870857">
                  <a:extLst>
                    <a:ext uri="{9D8B030D-6E8A-4147-A177-3AD203B41FA5}">
                      <a16:colId xmlns:a16="http://schemas.microsoft.com/office/drawing/2014/main" val="3963328055"/>
                    </a:ext>
                  </a:extLst>
                </a:gridCol>
              </a:tblGrid>
              <a:tr h="370840">
                <a:tc>
                  <a:txBody>
                    <a:bodyPr/>
                    <a:lstStyle/>
                    <a:p>
                      <a:r>
                        <a:rPr kumimoji="1" lang="ja-JP" altLang="en-US" dirty="0"/>
                        <a:t>金額</a:t>
                      </a:r>
                    </a:p>
                  </a:txBody>
                  <a:tcPr/>
                </a:tc>
                <a:tc>
                  <a:txBody>
                    <a:bodyPr/>
                    <a:lstStyle/>
                    <a:p>
                      <a:r>
                        <a:rPr kumimoji="1" lang="ja-JP" altLang="en-US" dirty="0"/>
                        <a:t>時間</a:t>
                      </a:r>
                    </a:p>
                  </a:txBody>
                  <a:tcPr/>
                </a:tc>
                <a:tc>
                  <a:txBody>
                    <a:bodyPr/>
                    <a:lstStyle/>
                    <a:p>
                      <a:r>
                        <a:rPr kumimoji="1" lang="ja-JP" altLang="en-US" dirty="0"/>
                        <a:t>クレジット残高</a:t>
                      </a:r>
                    </a:p>
                  </a:txBody>
                  <a:tcPr/>
                </a:tc>
                <a:tc>
                  <a:txBody>
                    <a:bodyPr/>
                    <a:lstStyle/>
                    <a:p>
                      <a:r>
                        <a:rPr kumimoji="1" lang="ja-JP" altLang="en-US" dirty="0"/>
                        <a:t>店舗</a:t>
                      </a:r>
                    </a:p>
                  </a:txBody>
                  <a:tcPr/>
                </a:tc>
                <a:tc>
                  <a:txBody>
                    <a:bodyPr/>
                    <a:lstStyle/>
                    <a:p>
                      <a:endParaRPr kumimoji="1" lang="ja-JP" altLang="en-US" dirty="0"/>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754640250"/>
                  </a:ext>
                </a:extLst>
              </a:tr>
              <a:tr h="370840">
                <a:tc>
                  <a:txBody>
                    <a:bodyPr/>
                    <a:lstStyle/>
                    <a:p>
                      <a:r>
                        <a:rPr kumimoji="1" lang="en-US" altLang="ja-JP" dirty="0"/>
                        <a:t>1000</a:t>
                      </a:r>
                      <a:endParaRPr kumimoji="1" lang="ja-JP" altLang="en-US" dirty="0"/>
                    </a:p>
                  </a:txBody>
                  <a:tcPr/>
                </a:tc>
                <a:tc>
                  <a:txBody>
                    <a:bodyPr/>
                    <a:lstStyle/>
                    <a:p>
                      <a:r>
                        <a:rPr kumimoji="1" lang="en-US" altLang="ja-JP" dirty="0"/>
                        <a:t>3:00am</a:t>
                      </a:r>
                      <a:endParaRPr kumimoji="1" lang="ja-JP" altLang="en-US" dirty="0"/>
                    </a:p>
                  </a:txBody>
                  <a:tcPr/>
                </a:tc>
                <a:tc>
                  <a:txBody>
                    <a:bodyPr/>
                    <a:lstStyle/>
                    <a:p>
                      <a:r>
                        <a:rPr kumimoji="1" lang="en-US" altLang="ja-JP" dirty="0"/>
                        <a:t>0</a:t>
                      </a:r>
                      <a:endParaRPr kumimoji="1" lang="ja-JP" altLang="en-US" dirty="0"/>
                    </a:p>
                  </a:txBody>
                  <a:tcPr/>
                </a:tc>
                <a:tc>
                  <a:txBody>
                    <a:bodyPr/>
                    <a:lstStyle/>
                    <a:p>
                      <a:r>
                        <a:rPr kumimoji="1" lang="en-US" altLang="ja-JP" dirty="0"/>
                        <a:t>game</a:t>
                      </a:r>
                      <a:endParaRPr kumimoji="1" lang="ja-JP" altLang="en-US" dirty="0"/>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431283576"/>
                  </a:ext>
                </a:extLst>
              </a:tr>
              <a:tr h="370840">
                <a:tc>
                  <a:txBody>
                    <a:bodyPr/>
                    <a:lstStyle/>
                    <a:p>
                      <a:r>
                        <a:rPr kumimoji="1" lang="en-US" altLang="ja-JP" dirty="0"/>
                        <a:t>100</a:t>
                      </a:r>
                      <a:endParaRPr kumimoji="1" lang="ja-JP" altLang="en-US" dirty="0"/>
                    </a:p>
                  </a:txBody>
                  <a:tcPr/>
                </a:tc>
                <a:tc>
                  <a:txBody>
                    <a:bodyPr/>
                    <a:lstStyle/>
                    <a:p>
                      <a:r>
                        <a:rPr kumimoji="1" lang="en-US" altLang="ja-JP" dirty="0"/>
                        <a:t>6:00pm</a:t>
                      </a:r>
                      <a:endParaRPr kumimoji="1" lang="ja-JP" altLang="en-US" dirty="0"/>
                    </a:p>
                  </a:txBody>
                  <a:tcPr/>
                </a:tc>
                <a:tc>
                  <a:txBody>
                    <a:bodyPr/>
                    <a:lstStyle/>
                    <a:p>
                      <a:r>
                        <a:rPr kumimoji="1" lang="en-US" altLang="ja-JP" dirty="0"/>
                        <a:t>30</a:t>
                      </a:r>
                      <a:endParaRPr kumimoji="1" lang="ja-JP" altLang="en-US" dirty="0"/>
                    </a:p>
                  </a:txBody>
                  <a:tcPr/>
                </a:tc>
                <a:tc>
                  <a:txBody>
                    <a:bodyPr/>
                    <a:lstStyle/>
                    <a:p>
                      <a:r>
                        <a:rPr kumimoji="1" lang="en-US" altLang="ja-JP" dirty="0"/>
                        <a:t>book</a:t>
                      </a:r>
                      <a:endParaRPr kumimoji="1" lang="ja-JP" altLang="en-US" dirty="0"/>
                    </a:p>
                  </a:txBody>
                  <a:tcPr/>
                </a:tc>
                <a:tc>
                  <a:txBody>
                    <a:bodyPr/>
                    <a:lstStyle/>
                    <a:p>
                      <a:endParaRPr kumimoji="1" lang="ja-JP" altLang="en-US"/>
                    </a:p>
                  </a:txBody>
                  <a:tcPr/>
                </a:tc>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3824421296"/>
                  </a:ext>
                </a:extLst>
              </a:tr>
              <a:tr h="37084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4085924178"/>
                  </a:ext>
                </a:extLst>
              </a:tr>
              <a:tr h="37084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1285687201"/>
                  </a:ext>
                </a:extLst>
              </a:tr>
            </a:tbl>
          </a:graphicData>
        </a:graphic>
      </p:graphicFrame>
      <p:graphicFrame>
        <p:nvGraphicFramePr>
          <p:cNvPr id="5" name="表 4">
            <a:extLst>
              <a:ext uri="{FF2B5EF4-FFF2-40B4-BE49-F238E27FC236}">
                <a16:creationId xmlns:a16="http://schemas.microsoft.com/office/drawing/2014/main" id="{CA0BC241-C1B9-4266-95B6-2D121D2FC797}"/>
              </a:ext>
            </a:extLst>
          </p:cNvPr>
          <p:cNvGraphicFramePr>
            <a:graphicFrameLocks noGrp="1"/>
          </p:cNvGraphicFramePr>
          <p:nvPr/>
        </p:nvGraphicFramePr>
        <p:xfrm>
          <a:off x="1924632" y="2774211"/>
          <a:ext cx="1104900" cy="1854200"/>
        </p:xfrm>
        <a:graphic>
          <a:graphicData uri="http://schemas.openxmlformats.org/drawingml/2006/table">
            <a:tbl>
              <a:tblPr firstRow="1" bandRow="1">
                <a:tableStyleId>{5940675A-B579-460E-94D1-54222C63F5DA}</a:tableStyleId>
              </a:tblPr>
              <a:tblGrid>
                <a:gridCol w="1104900">
                  <a:extLst>
                    <a:ext uri="{9D8B030D-6E8A-4147-A177-3AD203B41FA5}">
                      <a16:colId xmlns:a16="http://schemas.microsoft.com/office/drawing/2014/main" val="136106727"/>
                    </a:ext>
                  </a:extLst>
                </a:gridCol>
              </a:tblGrid>
              <a:tr h="370840">
                <a:tc>
                  <a:txBody>
                    <a:bodyPr/>
                    <a:lstStyle/>
                    <a:p>
                      <a:r>
                        <a:rPr kumimoji="1" lang="ja-JP" altLang="en-US" dirty="0"/>
                        <a:t>不正利用</a:t>
                      </a:r>
                    </a:p>
                  </a:txBody>
                  <a:tcPr/>
                </a:tc>
                <a:extLst>
                  <a:ext uri="{0D108BD9-81ED-4DB2-BD59-A6C34878D82A}">
                    <a16:rowId xmlns:a16="http://schemas.microsoft.com/office/drawing/2014/main" val="1312683392"/>
                  </a:ext>
                </a:extLst>
              </a:tr>
              <a:tr h="370840">
                <a:tc>
                  <a:txBody>
                    <a:bodyPr/>
                    <a:lstStyle/>
                    <a:p>
                      <a:r>
                        <a:rPr kumimoji="1" lang="en-US" altLang="ja-JP" dirty="0"/>
                        <a:t>Yes</a:t>
                      </a:r>
                      <a:endParaRPr kumimoji="1" lang="ja-JP" altLang="en-US" dirty="0"/>
                    </a:p>
                  </a:txBody>
                  <a:tcPr/>
                </a:tc>
                <a:extLst>
                  <a:ext uri="{0D108BD9-81ED-4DB2-BD59-A6C34878D82A}">
                    <a16:rowId xmlns:a16="http://schemas.microsoft.com/office/drawing/2014/main" val="3736312713"/>
                  </a:ext>
                </a:extLst>
              </a:tr>
              <a:tr h="370840">
                <a:tc>
                  <a:txBody>
                    <a:bodyPr/>
                    <a:lstStyle/>
                    <a:p>
                      <a:r>
                        <a:rPr kumimoji="1" lang="en-US" altLang="ja-JP" dirty="0"/>
                        <a:t>No</a:t>
                      </a:r>
                      <a:endParaRPr kumimoji="1" lang="ja-JP" altLang="en-US" dirty="0"/>
                    </a:p>
                  </a:txBody>
                  <a:tcPr/>
                </a:tc>
                <a:extLst>
                  <a:ext uri="{0D108BD9-81ED-4DB2-BD59-A6C34878D82A}">
                    <a16:rowId xmlns:a16="http://schemas.microsoft.com/office/drawing/2014/main" val="2575363969"/>
                  </a:ext>
                </a:extLst>
              </a:tr>
              <a:tr h="370840">
                <a:tc>
                  <a:txBody>
                    <a:bodyPr/>
                    <a:lstStyle/>
                    <a:p>
                      <a:endParaRPr kumimoji="1" lang="ja-JP" altLang="en-US" dirty="0"/>
                    </a:p>
                  </a:txBody>
                  <a:tcPr/>
                </a:tc>
                <a:extLst>
                  <a:ext uri="{0D108BD9-81ED-4DB2-BD59-A6C34878D82A}">
                    <a16:rowId xmlns:a16="http://schemas.microsoft.com/office/drawing/2014/main" val="1277393644"/>
                  </a:ext>
                </a:extLst>
              </a:tr>
              <a:tr h="370840">
                <a:tc>
                  <a:txBody>
                    <a:bodyPr/>
                    <a:lstStyle/>
                    <a:p>
                      <a:endParaRPr kumimoji="1" lang="ja-JP" altLang="en-US" dirty="0"/>
                    </a:p>
                  </a:txBody>
                  <a:tcPr/>
                </a:tc>
                <a:extLst>
                  <a:ext uri="{0D108BD9-81ED-4DB2-BD59-A6C34878D82A}">
                    <a16:rowId xmlns:a16="http://schemas.microsoft.com/office/drawing/2014/main" val="3575396391"/>
                  </a:ext>
                </a:extLst>
              </a:tr>
            </a:tbl>
          </a:graphicData>
        </a:graphic>
      </p:graphicFrame>
      <p:sp>
        <p:nvSpPr>
          <p:cNvPr id="6" name="テキスト ボックス 5">
            <a:extLst>
              <a:ext uri="{FF2B5EF4-FFF2-40B4-BE49-F238E27FC236}">
                <a16:creationId xmlns:a16="http://schemas.microsoft.com/office/drawing/2014/main" id="{03A325EC-99C0-4624-B3BE-80A3AE635F6A}"/>
              </a:ext>
            </a:extLst>
          </p:cNvPr>
          <p:cNvSpPr txBox="1"/>
          <p:nvPr/>
        </p:nvSpPr>
        <p:spPr>
          <a:xfrm>
            <a:off x="2023803" y="362799"/>
            <a:ext cx="8392041" cy="584775"/>
          </a:xfrm>
          <a:prstGeom prst="rect">
            <a:avLst/>
          </a:prstGeom>
          <a:noFill/>
        </p:spPr>
        <p:txBody>
          <a:bodyPr wrap="none" rtlCol="0">
            <a:spAutoFit/>
          </a:bodyPr>
          <a:lstStyle/>
          <a:p>
            <a:pPr algn="l"/>
            <a:r>
              <a:rPr kumimoji="1" lang="ja-JP" altLang="en-US" sz="3200" b="1" dirty="0">
                <a:latin typeface="メイリオ" panose="020B0604030504040204" pitchFamily="50" charset="-128"/>
                <a:ea typeface="メイリオ" panose="020B0604030504040204" pitchFamily="50" charset="-128"/>
              </a:rPr>
              <a:t>クレジットカード不正利用データセットの例</a:t>
            </a:r>
          </a:p>
        </p:txBody>
      </p:sp>
      <p:sp>
        <p:nvSpPr>
          <p:cNvPr id="7" name="右中かっこ 6">
            <a:extLst>
              <a:ext uri="{FF2B5EF4-FFF2-40B4-BE49-F238E27FC236}">
                <a16:creationId xmlns:a16="http://schemas.microsoft.com/office/drawing/2014/main" id="{5743FB9F-AD82-48F6-8AB5-8647A7B9C274}"/>
              </a:ext>
            </a:extLst>
          </p:cNvPr>
          <p:cNvSpPr/>
          <p:nvPr/>
        </p:nvSpPr>
        <p:spPr>
          <a:xfrm>
            <a:off x="9239832" y="3226331"/>
            <a:ext cx="342901" cy="14020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CF4068D3-3306-4925-ADD4-E1ED40B74DDF}"/>
              </a:ext>
            </a:extLst>
          </p:cNvPr>
          <p:cNvSpPr txBox="1"/>
          <p:nvPr/>
        </p:nvSpPr>
        <p:spPr>
          <a:xfrm>
            <a:off x="9515145" y="3589551"/>
            <a:ext cx="1210588" cy="707886"/>
          </a:xfrm>
          <a:prstGeom prst="rect">
            <a:avLst/>
          </a:prstGeom>
          <a:noFill/>
        </p:spPr>
        <p:txBody>
          <a:bodyPr wrap="none" rtlCol="0">
            <a:spAutoFit/>
          </a:bodyPr>
          <a:lstStyle/>
          <a:p>
            <a:pPr algn="l"/>
            <a:r>
              <a:rPr kumimoji="1" lang="ja-JP" altLang="en-US" sz="2000" dirty="0">
                <a:latin typeface="メイリオ" panose="020B0604030504040204" pitchFamily="50" charset="-128"/>
                <a:ea typeface="メイリオ" panose="020B0604030504040204" pitchFamily="50" charset="-128"/>
              </a:rPr>
              <a:t>データ</a:t>
            </a:r>
            <a:endParaRPr kumimoji="1" lang="en-US" altLang="ja-JP" sz="2000" dirty="0">
              <a:latin typeface="メイリオ" panose="020B0604030504040204" pitchFamily="50" charset="-128"/>
              <a:ea typeface="メイリオ" panose="020B0604030504040204" pitchFamily="50" charset="-128"/>
            </a:endParaRPr>
          </a:p>
          <a:p>
            <a:pPr algn="l"/>
            <a:r>
              <a:rPr kumimoji="1" lang="ja-JP" altLang="en-US" sz="2000" dirty="0">
                <a:latin typeface="メイリオ" panose="020B0604030504040204" pitchFamily="50" charset="-128"/>
                <a:ea typeface="メイリオ" panose="020B0604030504040204" pitchFamily="50" charset="-128"/>
              </a:rPr>
              <a:t>ポイント</a:t>
            </a:r>
          </a:p>
        </p:txBody>
      </p:sp>
      <p:sp>
        <p:nvSpPr>
          <p:cNvPr id="9" name="右中かっこ 8">
            <a:extLst>
              <a:ext uri="{FF2B5EF4-FFF2-40B4-BE49-F238E27FC236}">
                <a16:creationId xmlns:a16="http://schemas.microsoft.com/office/drawing/2014/main" id="{2C829C7A-9BC6-4220-83A2-A56F0D12CC63}"/>
              </a:ext>
            </a:extLst>
          </p:cNvPr>
          <p:cNvSpPr/>
          <p:nvPr/>
        </p:nvSpPr>
        <p:spPr>
          <a:xfrm rot="16200000">
            <a:off x="6015318" y="-812918"/>
            <a:ext cx="353030" cy="6095997"/>
          </a:xfrm>
          <a:prstGeom prst="rightBrace">
            <a:avLst>
              <a:gd name="adj1" fmla="val 2440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ACADAC3B-535B-486B-877F-1D5E70327789}"/>
              </a:ext>
            </a:extLst>
          </p:cNvPr>
          <p:cNvSpPr txBox="1"/>
          <p:nvPr/>
        </p:nvSpPr>
        <p:spPr>
          <a:xfrm>
            <a:off x="4628183" y="1622917"/>
            <a:ext cx="3570208" cy="461665"/>
          </a:xfrm>
          <a:prstGeom prst="rect">
            <a:avLst/>
          </a:prstGeom>
          <a:noFill/>
        </p:spPr>
        <p:txBody>
          <a:bodyPr wrap="none" rtlCol="0">
            <a:spAutoFit/>
          </a:bodyPr>
          <a:lstStyle/>
          <a:p>
            <a:pPr algn="l"/>
            <a:r>
              <a:rPr kumimoji="1" lang="ja-JP" altLang="en-US" sz="2400" dirty="0">
                <a:latin typeface="メイリオ" panose="020B0604030504040204" pitchFamily="50" charset="-128"/>
                <a:ea typeface="メイリオ" panose="020B0604030504040204" pitchFamily="50" charset="-128"/>
              </a:rPr>
              <a:t>特徴量（列数は次元数）</a:t>
            </a:r>
          </a:p>
        </p:txBody>
      </p:sp>
      <p:sp>
        <p:nvSpPr>
          <p:cNvPr id="11" name="左中かっこ 10">
            <a:extLst>
              <a:ext uri="{FF2B5EF4-FFF2-40B4-BE49-F238E27FC236}">
                <a16:creationId xmlns:a16="http://schemas.microsoft.com/office/drawing/2014/main" id="{6A10FAD3-78D4-4E50-B4C3-332C047ABB3F}"/>
              </a:ext>
            </a:extLst>
          </p:cNvPr>
          <p:cNvSpPr/>
          <p:nvPr/>
        </p:nvSpPr>
        <p:spPr>
          <a:xfrm rot="5400000">
            <a:off x="2315157" y="2021071"/>
            <a:ext cx="323850" cy="11049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51C0202E-3DDF-4A5B-A2FC-38AAC8F591A0}"/>
              </a:ext>
            </a:extLst>
          </p:cNvPr>
          <p:cNvSpPr txBox="1"/>
          <p:nvPr/>
        </p:nvSpPr>
        <p:spPr>
          <a:xfrm>
            <a:off x="1676764" y="2035025"/>
            <a:ext cx="1467068" cy="400110"/>
          </a:xfrm>
          <a:prstGeom prst="rect">
            <a:avLst/>
          </a:prstGeom>
          <a:noFill/>
        </p:spPr>
        <p:txBody>
          <a:bodyPr wrap="none" rtlCol="0">
            <a:spAutoFit/>
          </a:bodyPr>
          <a:lstStyle/>
          <a:p>
            <a:pPr algn="l"/>
            <a:r>
              <a:rPr kumimoji="1" lang="ja-JP" altLang="en-US" sz="2000" dirty="0">
                <a:latin typeface="メイリオ" panose="020B0604030504040204" pitchFamily="50" charset="-128"/>
                <a:ea typeface="メイリオ" panose="020B0604030504040204" pitchFamily="50" charset="-128"/>
              </a:rPr>
              <a:t>教師ラベル</a:t>
            </a:r>
          </a:p>
        </p:txBody>
      </p:sp>
      <p:sp>
        <p:nvSpPr>
          <p:cNvPr id="13" name="矢印: 下 12">
            <a:extLst>
              <a:ext uri="{FF2B5EF4-FFF2-40B4-BE49-F238E27FC236}">
                <a16:creationId xmlns:a16="http://schemas.microsoft.com/office/drawing/2014/main" id="{2D886D90-87C5-4446-90C4-09E6D8D5749D}"/>
              </a:ext>
            </a:extLst>
          </p:cNvPr>
          <p:cNvSpPr/>
          <p:nvPr/>
        </p:nvSpPr>
        <p:spPr>
          <a:xfrm>
            <a:off x="5448300" y="4767506"/>
            <a:ext cx="1295400" cy="4762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7130B016-996B-4F6D-A3AC-CAA3CDC3140F}"/>
              </a:ext>
            </a:extLst>
          </p:cNvPr>
          <p:cNvSpPr txBox="1"/>
          <p:nvPr/>
        </p:nvSpPr>
        <p:spPr>
          <a:xfrm>
            <a:off x="2414935" y="5443145"/>
            <a:ext cx="7609776" cy="830997"/>
          </a:xfrm>
          <a:prstGeom prst="rect">
            <a:avLst/>
          </a:prstGeom>
          <a:noFill/>
        </p:spPr>
        <p:txBody>
          <a:bodyPr wrap="none" rtlCol="0">
            <a:spAutoFit/>
          </a:bodyPr>
          <a:lstStyle/>
          <a:p>
            <a:pPr marL="342900" indent="-342900">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データセットは常に行列</a:t>
            </a:r>
            <a:endParaRPr kumimoji="1" lang="en-US" altLang="ja-JP" sz="2400" dirty="0">
              <a:latin typeface="メイリオ" panose="020B0604030504040204" pitchFamily="50" charset="-128"/>
              <a:ea typeface="メイリオ" panose="020B0604030504040204" pitchFamily="50" charset="-128"/>
            </a:endParaRPr>
          </a:p>
          <a:p>
            <a:pPr marL="342900" indent="-342900">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教師ラベル、特徴量とも離散、連続値どちらもあり</a:t>
            </a:r>
          </a:p>
        </p:txBody>
      </p:sp>
    </p:spTree>
    <p:extLst>
      <p:ext uri="{BB962C8B-B14F-4D97-AF65-F5344CB8AC3E}">
        <p14:creationId xmlns:p14="http://schemas.microsoft.com/office/powerpoint/2010/main" val="1180663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251C5DC-5526-BC07-3066-DA70F1CD3F4E}"/>
              </a:ext>
            </a:extLst>
          </p:cNvPr>
          <p:cNvSpPr txBox="1"/>
          <p:nvPr/>
        </p:nvSpPr>
        <p:spPr>
          <a:xfrm>
            <a:off x="567891" y="548640"/>
            <a:ext cx="2236510" cy="584775"/>
          </a:xfrm>
          <a:prstGeom prst="rect">
            <a:avLst/>
          </a:prstGeom>
          <a:noFill/>
        </p:spPr>
        <p:txBody>
          <a:bodyPr wrap="none" rtlCol="0">
            <a:spAutoFit/>
          </a:bodyPr>
          <a:lstStyle/>
          <a:p>
            <a:pPr algn="l"/>
            <a:r>
              <a:rPr kumimoji="1" lang="ja-JP" altLang="en-US" sz="3200" dirty="0">
                <a:latin typeface="メイリオ" panose="020B0604030504040204" pitchFamily="50" charset="-128"/>
                <a:ea typeface="メイリオ" panose="020B0604030504040204" pitchFamily="50" charset="-128"/>
              </a:rPr>
              <a:t>重要な用語</a:t>
            </a:r>
          </a:p>
        </p:txBody>
      </p:sp>
      <p:sp>
        <p:nvSpPr>
          <p:cNvPr id="3" name="テキスト ボックス 2">
            <a:extLst>
              <a:ext uri="{FF2B5EF4-FFF2-40B4-BE49-F238E27FC236}">
                <a16:creationId xmlns:a16="http://schemas.microsoft.com/office/drawing/2014/main" id="{4C5B704D-16EF-EB90-FAFD-F0EA148F0971}"/>
              </a:ext>
            </a:extLst>
          </p:cNvPr>
          <p:cNvSpPr txBox="1"/>
          <p:nvPr/>
        </p:nvSpPr>
        <p:spPr>
          <a:xfrm>
            <a:off x="741145" y="1732548"/>
            <a:ext cx="4224233" cy="1938992"/>
          </a:xfrm>
          <a:prstGeom prst="rect">
            <a:avLst/>
          </a:prstGeom>
          <a:noFill/>
        </p:spPr>
        <p:txBody>
          <a:bodyPr wrap="none" rtlCol="0">
            <a:spAutoFit/>
          </a:bodyPr>
          <a:lstStyle/>
          <a:p>
            <a:pPr marL="342900" indent="-342900" algn="l">
              <a:buFont typeface="Wingdings" panose="05000000000000000000" pitchFamily="2" charset="2"/>
              <a:buChar char="l"/>
            </a:pPr>
            <a:r>
              <a:rPr lang="ja-JP" altLang="en-US" sz="2400" dirty="0">
                <a:latin typeface="メイリオ" panose="020B0604030504040204" pitchFamily="50" charset="-128"/>
                <a:ea typeface="メイリオ" panose="020B0604030504040204" pitchFamily="50" charset="-128"/>
              </a:rPr>
              <a:t>データセット</a:t>
            </a:r>
            <a:endParaRPr lang="en-US" altLang="ja-JP" sz="24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lang="ja-JP" altLang="en-US" sz="2400" dirty="0">
                <a:latin typeface="メイリオ" panose="020B0604030504040204" pitchFamily="50" charset="-128"/>
                <a:ea typeface="メイリオ" panose="020B0604030504040204" pitchFamily="50" charset="-128"/>
              </a:rPr>
              <a:t>教師ラベル</a:t>
            </a:r>
            <a:endParaRPr lang="en-US" altLang="ja-JP" sz="24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特徴量・特徴次元</a:t>
            </a:r>
            <a:endParaRPr kumimoji="1" lang="en-US" altLang="ja-JP" sz="24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訓練データ、テストデータ</a:t>
            </a:r>
            <a:endParaRPr kumimoji="1" lang="en-US" altLang="ja-JP" sz="2400" dirty="0">
              <a:latin typeface="メイリオ" panose="020B0604030504040204" pitchFamily="50" charset="-128"/>
              <a:ea typeface="メイリオ" panose="020B0604030504040204" pitchFamily="50" charset="-128"/>
            </a:endParaRPr>
          </a:p>
          <a:p>
            <a:pPr marL="342900" indent="-342900" algn="l">
              <a:buFont typeface="Wingdings" panose="05000000000000000000" pitchFamily="2" charset="2"/>
              <a:buChar char="l"/>
            </a:pPr>
            <a:r>
              <a:rPr kumimoji="1" lang="ja-JP" altLang="en-US" sz="2400" dirty="0">
                <a:latin typeface="メイリオ" panose="020B0604030504040204" pitchFamily="50" charset="-128"/>
                <a:ea typeface="メイリオ" panose="020B0604030504040204" pitchFamily="50" charset="-128"/>
              </a:rPr>
              <a:t>学習と予測</a:t>
            </a:r>
          </a:p>
        </p:txBody>
      </p:sp>
    </p:spTree>
    <p:extLst>
      <p:ext uri="{BB962C8B-B14F-4D97-AF65-F5344CB8AC3E}">
        <p14:creationId xmlns:p14="http://schemas.microsoft.com/office/powerpoint/2010/main" val="2061521928"/>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kumimoji="1" sz="2400" dirty="0" smtClean="0">
            <a:latin typeface="メイリオ" panose="020B0604030504040204" pitchFamily="50" charset="-128"/>
            <a:ea typeface="メイリオ" panose="020B0604030504040204"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46332</TotalTime>
  <Words>1097</Words>
  <Application>Microsoft Office PowerPoint</Application>
  <PresentationFormat>ワイド画面</PresentationFormat>
  <Paragraphs>190</Paragraphs>
  <Slides>17</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17</vt:i4>
      </vt:variant>
    </vt:vector>
  </HeadingPairs>
  <TitlesOfParts>
    <vt:vector size="24" baseType="lpstr">
      <vt:lpstr>メイリオ</vt:lpstr>
      <vt:lpstr>游ゴシック</vt:lpstr>
      <vt:lpstr>Arial</vt:lpstr>
      <vt:lpstr>Calibri</vt:lpstr>
      <vt:lpstr>Calibri Light</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hiroshi uehara</dc:creator>
  <cp:lastModifiedBy>Hiroshi Uehara</cp:lastModifiedBy>
  <cp:revision>708</cp:revision>
  <dcterms:created xsi:type="dcterms:W3CDTF">2017-07-18T05:09:25Z</dcterms:created>
  <dcterms:modified xsi:type="dcterms:W3CDTF">2026-10-06T10:35:33Z</dcterms:modified>
</cp:coreProperties>
</file>